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82296"/>
          </a:xfrm>
          <a:prstGeom prst="rect">
            <a:avLst/>
          </a:prstGeom>
          <a:solidFill>
            <a:srgbClr val="7C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Seminar Skills</a:t>
            </a:r>
          </a:p>
          <a:p>
            <a:pPr algn="l">
              <a:spcAft>
                <a:spcPts val="1000"/>
              </a:spcAft>
            </a:pPr>
            <a:r>
              <a:rPr sz="3400" b="0">
                <a:solidFill>
                  <a:srgbClr val="FFFFFF"/>
                </a:solidFill>
                <a:latin typeface="Calibri"/>
              </a:rPr>
              <a:t>Strategies for Entering into a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BAACC"/>
                </a:solidFill>
                <a:latin typeface="Calibri"/>
              </a:rPr>
              <a:t>Loughborough University - Pre-sessional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02020"/>
                </a:solidFill>
                <a:latin typeface="Calibri"/>
              </a:rPr>
              <a:t>Be ready to join a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291840" cy="23774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02379"/>
                </a:solidFill>
                <a:latin typeface="Calibri"/>
              </a:rPr>
              <a:t>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1828800"/>
            <a:ext cx="3291840" cy="23774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14884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02379"/>
                </a:solidFill>
                <a:latin typeface="Calibri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3291840" cy="23774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02379"/>
                </a:solidFill>
                <a:latin typeface="Calibri"/>
              </a:rPr>
              <a:t>Critical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202020"/>
                </a:solidFill>
                <a:latin typeface="Calibri"/>
              </a:rPr>
              <a:t>Then add one more thing: </a:t>
            </a:r>
            <a:r>
              <a:rPr sz="3000" b="1">
                <a:solidFill>
                  <a:srgbClr val="502379"/>
                </a:solidFill>
                <a:latin typeface="Calibri"/>
              </a:rPr>
              <a:t>use language politely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202020"/>
                </a:solidFill>
                <a:latin typeface="Calibri"/>
              </a:rPr>
              <a:t>Know what to say, and how to say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02020"/>
                </a:solidFill>
                <a:latin typeface="Calibri"/>
              </a:rPr>
              <a:t>Three situations where you want to speak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3566160" cy="429768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502379"/>
                </a:solidFill>
                <a:latin typeface="Calibri"/>
              </a:rPr>
              <a:t>1. Join in politely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Can I just come in here?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Sorry, can I just come in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37360"/>
            <a:ext cx="3566160" cy="429768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96596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502379"/>
                </a:solidFill>
                <a:latin typeface="Calibri"/>
              </a:rPr>
              <a:t>2. Go back to an earlier point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Coming back to what Jim said earlier...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To go back to the earlier point about...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737360"/>
            <a:ext cx="3566160" cy="429768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96596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502379"/>
                </a:solidFill>
                <a:latin typeface="Calibri"/>
              </a:rPr>
              <a:t>3. Speak at the same time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Go ahead.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02020"/>
                </a:solidFill>
                <a:latin typeface="Calibri"/>
              </a:rPr>
              <a:t>Sorry, carry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02020"/>
                </a:solidFill>
                <a:latin typeface="Calibri"/>
              </a:rPr>
              <a:t>Help a quiet student join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02020"/>
                </a:solidFill>
                <a:latin typeface="Calibri"/>
              </a:rPr>
              <a:t>Two polite ways to invite them to speak: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4640"/>
            <a:ext cx="10607040" cy="137160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9966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202020"/>
                </a:solidFill>
                <a:latin typeface="Calibri"/>
              </a:rPr>
              <a:t>I think Sam has been trying to make a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607040" cy="137160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72000"/>
            <a:ext cx="9966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202020"/>
                </a:solidFill>
                <a:latin typeface="Calibri"/>
              </a:rPr>
              <a:t>Did you want to make a point?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02020"/>
                </a:solidFill>
                <a:latin typeface="Calibri"/>
              </a:rPr>
              <a:t>Norms differ across cultures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202020"/>
                </a:solidFill>
                <a:latin typeface="Calibri"/>
              </a:rPr>
              <a:t>In your own culture, you might not even notice these moments.</a:t>
            </a:r>
          </a:p>
          <a:p>
            <a:pPr algn="l">
              <a:spcAft>
                <a:spcPts val="1200"/>
              </a:spcAft>
            </a:pPr>
            <a:r>
              <a:rPr sz="600" b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202020"/>
                </a:solidFill>
                <a:latin typeface="Calibri"/>
              </a:rPr>
              <a:t>So pay attention, avoid being unintentionally rude,</a:t>
            </a:r>
          </a:p>
          <a:p>
            <a:pPr algn="l">
              <a:spcAft>
                <a:spcPts val="1200"/>
              </a:spcAft>
            </a:pPr>
            <a:r>
              <a:rPr sz="2600" b="1">
                <a:solidFill>
                  <a:srgbClr val="502379"/>
                </a:solidFill>
                <a:latin typeface="Calibri"/>
              </a:rPr>
              <a:t>and make everyone in the discussion feel respected.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