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012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286000"/>
            <a:ext cx="12191695" cy="54864"/>
          </a:xfrm>
          <a:prstGeom prst="rect">
            <a:avLst/>
          </a:prstGeom>
          <a:solidFill>
            <a:srgbClr val="7C3A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3327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4400" b="1" i="0">
                <a:solidFill>
                  <a:srgbClr val="FFFFFF"/>
                </a:solidFill>
                <a:latin typeface="Calibri"/>
              </a:rPr>
              <a:t>Effective Teamwork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468880"/>
            <a:ext cx="103327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0" i="0">
                <a:solidFill>
                  <a:srgbClr val="D8C8E8"/>
                </a:solidFill>
                <a:latin typeface="Calibri"/>
              </a:rPr>
              <a:t>Discover your team role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931920"/>
            <a:ext cx="103327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800" b="0" i="0">
                <a:solidFill>
                  <a:srgbClr val="B9A6D0"/>
                </a:solidFill>
                <a:latin typeface="Calibri"/>
              </a:rPr>
              <a:t>A quick personality survey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5023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3385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502379"/>
                </a:solidFill>
                <a:latin typeface="Calibri"/>
              </a:rPr>
              <a:t>A Quick Survey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60120"/>
            <a:ext cx="11338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0" i="0">
                <a:solidFill>
                  <a:srgbClr val="666666"/>
                </a:solidFill>
                <a:latin typeface="Calibri"/>
              </a:rPr>
              <a:t>Effective Teamwork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45920"/>
            <a:ext cx="109728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600" b="1" i="0">
                <a:solidFill>
                  <a:srgbClr val="30124E"/>
                </a:solidFill>
                <a:latin typeface="Calibri"/>
              </a:rPr>
              <a:t>Do you know what role you are best at in a team?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017520"/>
            <a:ext cx="1097280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1200"/>
              </a:spcAft>
            </a:pPr>
            <a:r>
              <a:rPr sz="2000" b="0" i="0">
                <a:solidFill>
                  <a:srgbClr val="222222"/>
                </a:solidFill>
                <a:latin typeface="Calibri"/>
              </a:rPr>
              <a:t>Let's find out with a short test.</a:t>
            </a:r>
          </a:p>
          <a:p>
            <a:pPr algn="l">
              <a:lnSpc>
                <a:spcPct val="100000"/>
              </a:lnSpc>
              <a:spcAft>
                <a:spcPts val="1200"/>
              </a:spcAft>
            </a:pPr>
            <a:r>
              <a:rPr sz="2000" b="0" i="0">
                <a:solidFill>
                  <a:srgbClr val="222222"/>
                </a:solidFill>
                <a:latin typeface="Calibri"/>
              </a:rPr>
              <a:t>Answer four simple questions.</a:t>
            </a:r>
          </a:p>
          <a:p>
            <a:pPr algn="l">
              <a:lnSpc>
                <a:spcPct val="100000"/>
              </a:lnSpc>
              <a:spcAft>
                <a:spcPts val="1200"/>
              </a:spcAft>
            </a:pPr>
            <a:r>
              <a:rPr sz="2000" b="0" i="0">
                <a:solidFill>
                  <a:srgbClr val="222222"/>
                </a:solidFill>
                <a:latin typeface="Calibri"/>
              </a:rPr>
              <a:t>Remember your four letters as you go.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21208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 i="1">
                <a:solidFill>
                  <a:srgbClr val="666666"/>
                </a:solidFill>
                <a:latin typeface="Calibri"/>
              </a:rPr>
              <a:t>Do not share anything yet - just remember your letters.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5023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3385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502379"/>
                </a:solidFill>
                <a:latin typeface="Calibri"/>
              </a:rPr>
              <a:t>Question 1 of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60120"/>
            <a:ext cx="11338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0" i="0">
                <a:solidFill>
                  <a:srgbClr val="666666"/>
                </a:solidFill>
                <a:latin typeface="Calibri"/>
              </a:rPr>
              <a:t>Where do you focus your attention?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54480"/>
            <a:ext cx="10972800" cy="2286000"/>
          </a:xfrm>
          <a:prstGeom prst="rect">
            <a:avLst/>
          </a:prstGeom>
          <a:solidFill>
            <a:srgbClr val="F5F0FA"/>
          </a:solidFill>
          <a:ln w="15240">
            <a:solidFill>
              <a:srgbClr val="7C3A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737360"/>
            <a:ext cx="1051560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1" i="0">
                <a:solidFill>
                  <a:srgbClr val="502379"/>
                </a:solidFill>
                <a:latin typeface="Calibri"/>
              </a:rPr>
              <a:t>E - Extroverts (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0" i="0">
                <a:solidFill>
                  <a:srgbClr val="222222"/>
                </a:solidFill>
                <a:latin typeface="Calibri"/>
              </a:rPr>
              <a:t>Extroverts are energised by being with others. Often think out loud and share their personal feelings easily.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4023360"/>
            <a:ext cx="10972800" cy="2286000"/>
          </a:xfrm>
          <a:prstGeom prst="rect">
            <a:avLst/>
          </a:prstGeom>
          <a:solidFill>
            <a:srgbClr val="F5F0FA"/>
          </a:solidFill>
          <a:ln w="15240">
            <a:solidFill>
              <a:srgbClr val="7C3A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4206240"/>
            <a:ext cx="1051560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1" i="0">
                <a:solidFill>
                  <a:srgbClr val="502379"/>
                </a:solidFill>
                <a:latin typeface="Calibri"/>
              </a:rPr>
              <a:t>I - Introverts (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0" i="0">
                <a:solidFill>
                  <a:srgbClr val="222222"/>
                </a:solidFill>
                <a:latin typeface="Calibri"/>
              </a:rPr>
              <a:t>Introverts are energised by spending time alone. They are inclined to think things through without speaking and are more private about their feelings.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5023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3385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502379"/>
                </a:solidFill>
                <a:latin typeface="Calibri"/>
              </a:rPr>
              <a:t>Question 2 of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60120"/>
            <a:ext cx="11338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0" i="0">
                <a:solidFill>
                  <a:srgbClr val="666666"/>
                </a:solidFill>
                <a:latin typeface="Calibri"/>
              </a:rPr>
              <a:t>How do you take in information?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54480"/>
            <a:ext cx="10972800" cy="2286000"/>
          </a:xfrm>
          <a:prstGeom prst="rect">
            <a:avLst/>
          </a:prstGeom>
          <a:solidFill>
            <a:srgbClr val="F5F0FA"/>
          </a:solidFill>
          <a:ln w="15240">
            <a:solidFill>
              <a:srgbClr val="7C3A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737360"/>
            <a:ext cx="1051560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1" i="0">
                <a:solidFill>
                  <a:srgbClr val="502379"/>
                </a:solidFill>
                <a:latin typeface="Calibri"/>
              </a:rPr>
              <a:t>S - Sensing (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0" i="0">
                <a:solidFill>
                  <a:srgbClr val="222222"/>
                </a:solidFill>
                <a:latin typeface="Calibri"/>
              </a:rPr>
              <a:t>Sensing types trust what is certain and concrete. They like new ideas only if they are practical. They value realism and common sense and like to use established skills.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4023360"/>
            <a:ext cx="10972800" cy="2286000"/>
          </a:xfrm>
          <a:prstGeom prst="rect">
            <a:avLst/>
          </a:prstGeom>
          <a:solidFill>
            <a:srgbClr val="F5F0FA"/>
          </a:solidFill>
          <a:ln w="15240">
            <a:solidFill>
              <a:srgbClr val="7C3A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4206240"/>
            <a:ext cx="1051560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1" i="0">
                <a:solidFill>
                  <a:srgbClr val="502379"/>
                </a:solidFill>
                <a:latin typeface="Calibri"/>
              </a:rPr>
              <a:t>N - Intuition (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0" i="0">
                <a:solidFill>
                  <a:srgbClr val="222222"/>
                </a:solidFill>
                <a:latin typeface="Calibri"/>
              </a:rPr>
              <a:t>Intuition types trust their instincts, inspiration and inference. They like new ideas for their own sake. They value imagination and innovation and like to learn new skills.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5023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3385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502379"/>
                </a:solidFill>
                <a:latin typeface="Calibri"/>
              </a:rPr>
              <a:t>Question 3 of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60120"/>
            <a:ext cx="11338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0" i="0">
                <a:solidFill>
                  <a:srgbClr val="666666"/>
                </a:solidFill>
                <a:latin typeface="Calibri"/>
              </a:rPr>
              <a:t>How do you make decisions?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54480"/>
            <a:ext cx="10972800" cy="2286000"/>
          </a:xfrm>
          <a:prstGeom prst="rect">
            <a:avLst/>
          </a:prstGeom>
          <a:solidFill>
            <a:srgbClr val="F5F0FA"/>
          </a:solidFill>
          <a:ln w="15240">
            <a:solidFill>
              <a:srgbClr val="7C3A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737360"/>
            <a:ext cx="1051560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1" i="0">
                <a:solidFill>
                  <a:srgbClr val="502379"/>
                </a:solidFill>
                <a:latin typeface="Calibri"/>
              </a:rPr>
              <a:t>T - Thinking (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0" i="0">
                <a:solidFill>
                  <a:srgbClr val="222222"/>
                </a:solidFill>
                <a:latin typeface="Calibri"/>
              </a:rPr>
              <a:t>Thinking types step back from problems and analyse them. They believe truth is more important than tact. They have strong motivation to achieve.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4023360"/>
            <a:ext cx="10972800" cy="2286000"/>
          </a:xfrm>
          <a:prstGeom prst="rect">
            <a:avLst/>
          </a:prstGeom>
          <a:solidFill>
            <a:srgbClr val="F5F0FA"/>
          </a:solidFill>
          <a:ln w="15240">
            <a:solidFill>
              <a:srgbClr val="7C3A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4206240"/>
            <a:ext cx="1051560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1" i="0">
                <a:solidFill>
                  <a:srgbClr val="502379"/>
                </a:solidFill>
                <a:latin typeface="Calibri"/>
              </a:rPr>
              <a:t>F - Feeling (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0" i="0">
                <a:solidFill>
                  <a:srgbClr val="222222"/>
                </a:solidFill>
                <a:latin typeface="Calibri"/>
              </a:rPr>
              <a:t>Feeling types think hard about the effects of decisions on individuals. They look for compromises and believe feelings are more important in decision making.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5023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3385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502379"/>
                </a:solidFill>
                <a:latin typeface="Calibri"/>
              </a:rPr>
              <a:t>Question 4 of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60120"/>
            <a:ext cx="11338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0" i="0">
                <a:solidFill>
                  <a:srgbClr val="666666"/>
                </a:solidFill>
                <a:latin typeface="Calibri"/>
              </a:rPr>
              <a:t>How do you deal with the world?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54480"/>
            <a:ext cx="10972800" cy="2286000"/>
          </a:xfrm>
          <a:prstGeom prst="rect">
            <a:avLst/>
          </a:prstGeom>
          <a:solidFill>
            <a:srgbClr val="F5F0FA"/>
          </a:solidFill>
          <a:ln w="15240">
            <a:solidFill>
              <a:srgbClr val="7C3A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737360"/>
            <a:ext cx="1051560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1" i="0">
                <a:solidFill>
                  <a:srgbClr val="502379"/>
                </a:solidFill>
                <a:latin typeface="Calibri"/>
              </a:rPr>
              <a:t>J - Judgement (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0" i="0">
                <a:solidFill>
                  <a:srgbClr val="222222"/>
                </a:solidFill>
                <a:latin typeface="Calibri"/>
              </a:rPr>
              <a:t>Judgement types are happiest after decisions are made. They set goals and work towards these, and prefer knowing exactly what is involved.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4023360"/>
            <a:ext cx="10972800" cy="2286000"/>
          </a:xfrm>
          <a:prstGeom prst="rect">
            <a:avLst/>
          </a:prstGeom>
          <a:solidFill>
            <a:srgbClr val="F5F0FA"/>
          </a:solidFill>
          <a:ln w="15240">
            <a:solidFill>
              <a:srgbClr val="7C3A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4206240"/>
            <a:ext cx="1051560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1" i="0">
                <a:solidFill>
                  <a:srgbClr val="502379"/>
                </a:solidFill>
                <a:latin typeface="Calibri"/>
              </a:rPr>
              <a:t>P - Perception (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0" i="0">
                <a:solidFill>
                  <a:srgbClr val="222222"/>
                </a:solidFill>
                <a:latin typeface="Calibri"/>
              </a:rPr>
              <a:t>Perception types prefer to leave options open. They enjoy adapting to new situations and cope well with ambiguity.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5023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3385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502379"/>
                </a:solidFill>
                <a:latin typeface="Calibri"/>
              </a:rPr>
              <a:t>Remember your four letters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60120"/>
            <a:ext cx="11338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0" i="0">
                <a:solidFill>
                  <a:srgbClr val="666666"/>
                </a:solidFill>
                <a:latin typeface="Calibri"/>
              </a:rPr>
              <a:t>Time to share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222222"/>
                </a:solidFill>
                <a:latin typeface="Calibri"/>
              </a:rPr>
              <a:t>You now have four letters, for example: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926080"/>
            <a:ext cx="1188720" cy="1188720"/>
          </a:xfrm>
          <a:prstGeom prst="rect">
            <a:avLst/>
          </a:prstGeom>
          <a:solidFill>
            <a:srgbClr val="5023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3063240"/>
            <a:ext cx="11887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4000" b="1" i="0">
                <a:solidFill>
                  <a:srgbClr val="FFFFFF"/>
                </a:solidFill>
                <a:latin typeface="Calibri"/>
              </a:rPr>
              <a:t>E</a:t>
            </a:r>
          </a:p>
        </p:txBody>
      </p:sp>
      <p:sp>
        <p:nvSpPr>
          <p:cNvPr id="8" name="Rectangle 7"/>
          <p:cNvSpPr/>
          <p:nvPr/>
        </p:nvSpPr>
        <p:spPr>
          <a:xfrm>
            <a:off x="2103120" y="2926080"/>
            <a:ext cx="1188720" cy="1188720"/>
          </a:xfrm>
          <a:prstGeom prst="rect">
            <a:avLst/>
          </a:prstGeom>
          <a:solidFill>
            <a:srgbClr val="5023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103120" y="3063240"/>
            <a:ext cx="11887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4000" b="1" i="0">
                <a:solidFill>
                  <a:srgbClr val="FFFFFF"/>
                </a:solidFill>
                <a:latin typeface="Calibri"/>
              </a:rPr>
              <a:t>N</a:t>
            </a:r>
          </a:p>
        </p:txBody>
      </p:sp>
      <p:sp>
        <p:nvSpPr>
          <p:cNvPr id="10" name="Rectangle 9"/>
          <p:cNvSpPr/>
          <p:nvPr/>
        </p:nvSpPr>
        <p:spPr>
          <a:xfrm>
            <a:off x="3566160" y="2926080"/>
            <a:ext cx="1188720" cy="1188720"/>
          </a:xfrm>
          <a:prstGeom prst="rect">
            <a:avLst/>
          </a:prstGeom>
          <a:solidFill>
            <a:srgbClr val="5023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6160" y="3063240"/>
            <a:ext cx="11887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4000" b="1" i="0">
                <a:solidFill>
                  <a:srgbClr val="FFFFFF"/>
                </a:solidFill>
                <a:latin typeface="Calibri"/>
              </a:rPr>
              <a:t>F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0" y="2926080"/>
            <a:ext cx="1188720" cy="1188720"/>
          </a:xfrm>
          <a:prstGeom prst="rect">
            <a:avLst/>
          </a:prstGeom>
          <a:solidFill>
            <a:srgbClr val="5023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0" y="3063240"/>
            <a:ext cx="11887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4000" b="1" i="0">
                <a:solidFill>
                  <a:srgbClr val="FFFFFF"/>
                </a:solidFill>
                <a:latin typeface="Calibri"/>
              </a:rPr>
              <a:t>J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572000"/>
            <a:ext cx="109728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1200"/>
              </a:spcAft>
            </a:pPr>
            <a:r>
              <a:rPr sz="2000" b="1" i="0">
                <a:solidFill>
                  <a:srgbClr val="502379"/>
                </a:solidFill>
                <a:latin typeface="Calibri"/>
              </a:rPr>
              <a:t>One by one, share your four letters.</a:t>
            </a:r>
          </a:p>
          <a:p>
            <a:pPr algn="l">
              <a:lnSpc>
                <a:spcPct val="100000"/>
              </a:lnSpc>
              <a:spcAft>
                <a:spcPts val="1200"/>
              </a:spcAft>
            </a:pPr>
            <a:r>
              <a:rPr sz="1800" b="0" i="0">
                <a:solidFill>
                  <a:srgbClr val="222222"/>
                </a:solidFill>
                <a:latin typeface="Calibri"/>
              </a:rPr>
              <a:t>We will look up each result together.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