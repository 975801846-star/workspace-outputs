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FFFFFF"/>
                </a:solidFill>
              </a:rPr>
              <a:t>INTRODUCTION TOREADING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41832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Hongxian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What is an abstract?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463040"/>
            <a:ext cx="3291840" cy="1097280"/>
          </a:xfrm>
          <a:prstGeom prst="roundRect">
            <a:avLst/>
          </a:prstGeom>
          <a:solidFill>
            <a:srgbClr val="F5F0FA"/>
          </a:solidFill>
          <a:ln w="12700">
            <a:solidFill>
              <a:srgbClr val="5023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00000"/>
                </a:solidFill>
              </a:rPr>
              <a:t>Research</a:t>
            </a:r>
            <a:br/>
            <a:r>
              <a:rPr sz="1600" b="1">
                <a:solidFill>
                  <a:srgbClr val="000000"/>
                </a:solidFill>
              </a:rPr>
              <a:t>Paper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663440" y="2003040"/>
            <a:ext cx="155448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217920" y="1463040"/>
            <a:ext cx="3291840" cy="109728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Abstract</a:t>
            </a:r>
            <a:br/>
            <a:r>
              <a:rPr sz="1600" b="1">
                <a:solidFill>
                  <a:srgbClr val="FFFFFF"/>
                </a:solidFill>
              </a:rPr>
              <a:t>= Miniature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</a:rPr>
              <a:t>●  100–200 words, stands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</a:rPr>
              <a:t>●  No uncommon abbreviations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</a:rPr>
              <a:t>●  Key results always included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532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0000"/>
                </a:solidFill>
              </a:rPr>
              <a:t>Abstract = research paper in miniature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Why read abstracts?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2286000" cy="91440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Read</a:t>
            </a:r>
            <a:br/>
            <a:r>
              <a:rPr sz="1400" b="1">
                <a:solidFill>
                  <a:srgbClr val="FFFFFF"/>
                </a:solidFill>
              </a:rPr>
              <a:t>Abstract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00400" y="2286000"/>
            <a:ext cx="137160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0" y="1828800"/>
            <a:ext cx="1828800" cy="914400"/>
          </a:xfrm>
          <a:prstGeom prst="roundRect">
            <a:avLst/>
          </a:prstGeom>
          <a:solidFill>
            <a:srgbClr val="502379"/>
          </a:solidFill>
          <a:ln w="12700">
            <a:solidFill>
              <a:srgbClr val="5023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Relevant</a:t>
            </a:r>
            <a:br/>
            <a:r>
              <a:rPr sz="1400" b="1">
                <a:solidFill>
                  <a:srgbClr val="FFFFFF"/>
                </a:solidFill>
              </a:rPr>
              <a:t>?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400800" y="1828800"/>
            <a:ext cx="1371600" cy="9144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772400" y="1371600"/>
            <a:ext cx="2286000" cy="914400"/>
          </a:xfrm>
          <a:prstGeom prst="roundRect">
            <a:avLst/>
          </a:prstGeom>
          <a:solidFill>
            <a:srgbClr val="F5F0FA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</a:rPr>
              <a:t>Read Full</a:t>
            </a:r>
            <a:br/>
            <a:r>
              <a:rPr sz="1200" b="1">
                <a:solidFill>
                  <a:srgbClr val="000000"/>
                </a:solidFill>
              </a:rPr>
              <a:t>Paper 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0" y="2743200"/>
            <a:ext cx="2286000" cy="91440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3200400"/>
            <a:ext cx="2286000" cy="914400"/>
          </a:xfrm>
          <a:prstGeom prst="roundRect">
            <a:avLst/>
          </a:prstGeom>
          <a:solidFill>
            <a:srgbClr val="F5F0FA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</a:rPr>
              <a:t>Skip →</a:t>
            </a:r>
            <a:br/>
            <a:r>
              <a:rPr sz="1200" b="1">
                <a:solidFill>
                  <a:srgbClr val="000000"/>
                </a:solidFill>
              </a:rPr>
              <a:t>Next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8600" y="1188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C3A9E"/>
                </a:solidFill>
              </a:rPr>
              <a:t>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420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532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0000"/>
                </a:solidFill>
              </a:rPr>
              <a:t>Effective reading starts with the abstract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7 elements of an abstract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12620" y="1554480"/>
            <a:ext cx="109728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09900" y="1920240"/>
            <a:ext cx="11430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124200" y="1554480"/>
            <a:ext cx="1097280" cy="731520"/>
          </a:xfrm>
          <a:prstGeom prst="roundRect">
            <a:avLst/>
          </a:prstGeom>
          <a:solidFill>
            <a:srgbClr val="502379"/>
          </a:solidFill>
          <a:ln w="12700">
            <a:solidFill>
              <a:srgbClr val="5023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Significance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21480" y="1920240"/>
            <a:ext cx="11430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35780" y="1554480"/>
            <a:ext cx="109728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Aims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33060" y="1920240"/>
            <a:ext cx="11430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47360" y="1554480"/>
            <a:ext cx="1097280" cy="731520"/>
          </a:xfrm>
          <a:prstGeom prst="roundRect">
            <a:avLst/>
          </a:prstGeom>
          <a:solidFill>
            <a:srgbClr val="502379"/>
          </a:solidFill>
          <a:ln w="12700">
            <a:solidFill>
              <a:srgbClr val="5023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Method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44640" y="1920240"/>
            <a:ext cx="11430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758940" y="1554480"/>
            <a:ext cx="109728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Findings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56220" y="1920240"/>
            <a:ext cx="11430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70520" y="1554480"/>
            <a:ext cx="1097280" cy="731520"/>
          </a:xfrm>
          <a:prstGeom prst="roundRect">
            <a:avLst/>
          </a:prstGeom>
          <a:solidFill>
            <a:srgbClr val="502379"/>
          </a:solidFill>
          <a:ln w="12700">
            <a:solidFill>
              <a:srgbClr val="5023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Discussion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7800" y="1920240"/>
            <a:ext cx="11430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82100" y="1554480"/>
            <a:ext cx="109728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Implications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7432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</a:rPr>
              <a:t>· Not all abstracts include all 7 elements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2004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</a:rPr>
              <a:t>Read Abstract → Decide Relevance → Navigate to section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0000"/>
                </a:solidFill>
              </a:rPr>
              <a:t>Know the structure → find what you need fast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Common language in abstracts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32560" y="1554480"/>
            <a:ext cx="2194560" cy="91440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2400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"paper"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DDDDFF"/>
                </a:solidFill>
              </a:rPr>
              <a:t>499×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0" y="1554480"/>
            <a:ext cx="2194560" cy="914400"/>
          </a:xfrm>
          <a:prstGeom prst="roundRect">
            <a:avLst/>
          </a:prstGeom>
          <a:solidFill>
            <a:srgbClr val="502379"/>
          </a:solidFill>
          <a:ln w="12700">
            <a:solidFill>
              <a:srgbClr val="5023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144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"study"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144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DDDDFF"/>
                </a:solidFill>
              </a:rPr>
              <a:t>170×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440" y="1554480"/>
            <a:ext cx="2194560" cy="91440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88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"research"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88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DDDDFF"/>
                </a:solidFill>
              </a:rPr>
              <a:t>154×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64880" y="1554480"/>
            <a:ext cx="2194560" cy="914400"/>
          </a:xfrm>
          <a:prstGeom prst="roundRect">
            <a:avLst/>
          </a:prstGeom>
          <a:solidFill>
            <a:srgbClr val="502379"/>
          </a:solidFill>
          <a:ln w="12700">
            <a:solidFill>
              <a:srgbClr val="5023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632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"work"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632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DDDDFF"/>
                </a:solidFill>
              </a:rPr>
              <a:t>111×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9260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</a:rPr>
              <a:t>● investigate · examine · analyse · indicate · suggest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29184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</a:rPr>
              <a:t>● High lexical density → compact &amp; information-rich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404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</a:rPr>
              <a:t>→ Orasan (2009): 473 abstracts analysed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0000"/>
                </a:solidFill>
              </a:rPr>
              <a:t>Recognize patterns → faster comprehension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Sentence functions in abstracts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182880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371600"/>
            <a:ext cx="182880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Aim / Purpose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371600"/>
            <a:ext cx="182880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182880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1371600"/>
            <a:ext cx="1828800" cy="731520"/>
          </a:xfrm>
          <a:prstGeom prst="roundRect">
            <a:avLst/>
          </a:prstGeom>
          <a:solidFill>
            <a:srgbClr val="7C3A9E"/>
          </a:solidFill>
          <a:ln w="12700">
            <a:solidFill>
              <a:srgbClr val="7C3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Implication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00400" y="1737360"/>
            <a:ext cx="36576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94960" y="1737360"/>
            <a:ext cx="36576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89520" y="1737360"/>
            <a:ext cx="36576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784080" y="1737360"/>
            <a:ext cx="36576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7160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Background of</a:t>
            </a:r>
            <a:br/>
            <a:r>
              <a:rPr sz="1200" b="1">
                <a:solidFill>
                  <a:srgbClr val="666666"/>
                </a:solidFill>
              </a:rPr>
              <a:t>the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What they</a:t>
            </a:r>
            <a:br/>
            <a:r>
              <a:rPr sz="1200" b="1">
                <a:solidFill>
                  <a:srgbClr val="666666"/>
                </a:solidFill>
              </a:rPr>
              <a:t>wanted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How they</a:t>
            </a:r>
            <a:br/>
            <a:r>
              <a:rPr sz="1200" b="1">
                <a:solidFill>
                  <a:srgbClr val="666666"/>
                </a:solidFill>
              </a:rPr>
              <a:t>did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What they</a:t>
            </a:r>
            <a:br/>
            <a:r>
              <a:rPr sz="1200" b="1">
                <a:solidFill>
                  <a:srgbClr val="666666"/>
                </a:solidFill>
              </a:rPr>
              <a:t>found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Why it</a:t>
            </a:r>
            <a:br/>
            <a:r>
              <a:rPr sz="1200" b="1">
                <a:solidFill>
                  <a:srgbClr val="666666"/>
                </a:solidFill>
              </a:rPr>
              <a:t>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661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</a:rPr>
              <a:t>Each sentence = one function → decode systematically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0624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</a:rPr>
              <a:t>e.g. "This research examined... [Aim]  Between Oct–Nov... [Method]  The findings indicated... [Findings]  Collectively... [Implication]"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532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0000"/>
                </a:solidFill>
              </a:rPr>
              <a:t>Decode the abstract sentence by sentence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Prepare for Reading Assessment</a:t>
            </a:r>
          </a:p>
        </p:txBody>
      </p:sp>
      <p:sp>
        <p:nvSpPr>
          <p:cNvPr id="4" name="Oval 3"/>
          <p:cNvSpPr/>
          <p:nvPr/>
        </p:nvSpPr>
        <p:spPr>
          <a:xfrm>
            <a:off x="1912620" y="1554480"/>
            <a:ext cx="685800" cy="685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12620" y="1554480"/>
            <a:ext cx="685800" cy="685800"/>
          </a:xfrm>
          <a:prstGeom prst="ellipse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3960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Know</a:t>
            </a:r>
            <a:br/>
            <a:r>
              <a:rPr sz="1400" b="1">
                <a:solidFill>
                  <a:srgbClr val="000000"/>
                </a:solidFill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3960" y="31089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7 elements</a:t>
            </a:r>
            <a:br/>
            <a:r>
              <a:rPr sz="1200" b="1">
                <a:solidFill>
                  <a:srgbClr val="666666"/>
                </a:solidFill>
              </a:rPr>
              <a:t>+ functions</a:t>
            </a:r>
          </a:p>
        </p:txBody>
      </p:sp>
      <p:sp>
        <p:nvSpPr>
          <p:cNvPr id="8" name="Oval 7"/>
          <p:cNvSpPr/>
          <p:nvPr/>
        </p:nvSpPr>
        <p:spPr>
          <a:xfrm>
            <a:off x="4472940" y="1554480"/>
            <a:ext cx="685800" cy="685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72940" y="1554480"/>
            <a:ext cx="685800" cy="685800"/>
          </a:xfrm>
          <a:prstGeom prst="ellipse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4280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Practice</a:t>
            </a:r>
            <a:br/>
            <a:r>
              <a:rPr sz="1400" b="1">
                <a:solidFill>
                  <a:srgbClr val="000000"/>
                </a:solidFill>
              </a:rPr>
              <a:t>Identify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4280" y="31089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Sentence-level</a:t>
            </a:r>
            <a:br/>
            <a:r>
              <a:rPr sz="1200" b="1">
                <a:solidFill>
                  <a:srgbClr val="666666"/>
                </a:solidFill>
              </a:rPr>
              <a:t>function labels</a:t>
            </a:r>
          </a:p>
        </p:txBody>
      </p:sp>
      <p:sp>
        <p:nvSpPr>
          <p:cNvPr id="12" name="Oval 11"/>
          <p:cNvSpPr/>
          <p:nvPr/>
        </p:nvSpPr>
        <p:spPr>
          <a:xfrm>
            <a:off x="7033260" y="1554480"/>
            <a:ext cx="685800" cy="685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33260" y="1554480"/>
            <a:ext cx="685800" cy="685800"/>
          </a:xfrm>
          <a:prstGeom prst="ellipse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Build</a:t>
            </a:r>
            <a:br/>
            <a:r>
              <a:rPr sz="1400" b="1">
                <a:solidFill>
                  <a:srgbClr val="000000"/>
                </a:solidFill>
              </a:rPr>
              <a:t>Vocabulary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31089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Reporting verbs</a:t>
            </a:r>
            <a:br/>
            <a:r>
              <a:rPr sz="1200" b="1">
                <a:solidFill>
                  <a:srgbClr val="666666"/>
                </a:solidFill>
              </a:rPr>
              <a:t>+ connectors</a:t>
            </a:r>
          </a:p>
        </p:txBody>
      </p:sp>
      <p:sp>
        <p:nvSpPr>
          <p:cNvPr id="16" name="Oval 15"/>
          <p:cNvSpPr/>
          <p:nvPr/>
        </p:nvSpPr>
        <p:spPr>
          <a:xfrm>
            <a:off x="9593580" y="1554480"/>
            <a:ext cx="685800" cy="6858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93580" y="1554480"/>
            <a:ext cx="685800" cy="685800"/>
          </a:xfrm>
          <a:prstGeom prst="ellipse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4920" y="24688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</a:rPr>
              <a:t>Complete</a:t>
            </a:r>
            <a:br/>
            <a:r>
              <a:rPr sz="1400" b="1">
                <a:solidFill>
                  <a:srgbClr val="000000"/>
                </a:solidFill>
              </a:rPr>
              <a:t>Materials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4920" y="31089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</a:rPr>
              <a:t>Videos 1 &amp; 2</a:t>
            </a:r>
            <a:br/>
            <a:r>
              <a:rPr sz="1200" b="1">
                <a:solidFill>
                  <a:srgbClr val="666666"/>
                </a:solidFill>
              </a:rPr>
              <a:t>+ activities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532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0000"/>
                </a:solidFill>
              </a:rPr>
              <a:t>Complete all materials → be assessment-ready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