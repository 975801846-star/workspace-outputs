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INTRODUCTION TOREADING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Hongxian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</a:rPr>
              <a:t>What is an Abstract?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49680" y="1645920"/>
            <a:ext cx="2926080" cy="256032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11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000000"/>
                </a:solidFill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000000"/>
                </a:solidFill>
              </a:rPr>
              <a:t>Concise</a:t>
            </a:r>
            <a:br/>
            <a:r>
              <a:rPr b="1">
                <a:solidFill>
                  <a:srgbClr val="000000"/>
                </a:solidFill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1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666666"/>
                </a:solidFill>
              </a:rPr>
              <a:t>Of whole paper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960" y="1645920"/>
            <a:ext cx="2926080" cy="256032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000000"/>
                </a:solidFill>
              </a:rPr>
              <a:t>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000000"/>
                </a:solidFill>
              </a:rPr>
              <a:t>100–200</a:t>
            </a:r>
            <a:br/>
            <a:r>
              <a:rPr b="1">
                <a:solidFill>
                  <a:srgbClr val="000000"/>
                </a:solidFill>
              </a:rPr>
              <a:t>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666666"/>
                </a:solidFill>
              </a:rPr>
              <a:t>Stands alone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40" y="1645920"/>
            <a:ext cx="2926080" cy="256032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68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000000"/>
                </a:solidFill>
              </a:rP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68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000000"/>
                </a:solidFill>
              </a:rPr>
              <a:t>Key Results</a:t>
            </a:r>
            <a:br/>
            <a:r>
              <a:rPr b="1">
                <a:solidFill>
                  <a:srgbClr val="000000"/>
                </a:solidFill>
              </a:rPr>
              <a:t>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68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666666"/>
                </a:solidFill>
              </a:rPr>
              <a:t>No abbreviations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6666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</a:rPr>
              <a:t>7 Elements of an 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1160" y="2377440"/>
            <a:ext cx="1188720" cy="64008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49880" y="269748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41320" y="2377440"/>
            <a:ext cx="1188720" cy="640080"/>
          </a:xfrm>
          <a:prstGeom prst="round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Significance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0040" y="269748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21480" y="2377440"/>
            <a:ext cx="1188720" cy="64008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10200" y="269748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01640" y="2377440"/>
            <a:ext cx="1188720" cy="640080"/>
          </a:xfrm>
          <a:prstGeom prst="round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Method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90360" y="269748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81800" y="2377440"/>
            <a:ext cx="1188720" cy="64008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0520" y="269748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61960" y="2377440"/>
            <a:ext cx="1188720" cy="640080"/>
          </a:xfrm>
          <a:prstGeom prst="round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Discussion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50680" y="269748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42120" y="2377440"/>
            <a:ext cx="1188720" cy="64008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Implications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666666"/>
                </a:solidFill>
              </a:rPr>
              <a:t>Not all abstracts include all 7 elements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6666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</a:rPr>
              <a:t>Common Language in Abstracts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220" y="1463040"/>
            <a:ext cx="2377440" cy="219456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966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660" y="255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DDDDFF"/>
                </a:solidFill>
              </a:rPr>
              <a:t>499×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4260" y="1463040"/>
            <a:ext cx="2377440" cy="2194560"/>
          </a:xfrm>
          <a:prstGeom prst="round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570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FFFFFF"/>
                </a:solidFill>
              </a:rPr>
              <a:t>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5700" y="255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DDDDFF"/>
                </a:solidFill>
              </a:rPr>
              <a:t>170×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300" y="1463040"/>
            <a:ext cx="2377440" cy="219456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174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740" y="255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DDDDFF"/>
                </a:solidFill>
              </a:rPr>
              <a:t>154×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16340" y="1463040"/>
            <a:ext cx="2377440" cy="2194560"/>
          </a:xfrm>
          <a:prstGeom prst="round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778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7780" y="255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DDDDFF"/>
                </a:solidFill>
              </a:rPr>
              <a:t>111×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666666"/>
                </a:solidFill>
              </a:rPr>
              <a:t>investigate · examine · analyse · indicate · suggest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66666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</a:rPr>
              <a:t>Sentence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1120" y="1828800"/>
            <a:ext cx="1828800" cy="73152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256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666666"/>
                </a:solidFill>
              </a:rPr>
              <a:t>Background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69920" y="219456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61360" y="1828800"/>
            <a:ext cx="1828800" cy="73152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666666"/>
                </a:solidFill>
              </a:rPr>
              <a:t>What they</a:t>
            </a:r>
            <a:br/>
            <a:r>
              <a:rPr b="1">
                <a:solidFill>
                  <a:srgbClr val="666666"/>
                </a:solidFill>
              </a:rPr>
              <a:t>did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90160" y="219456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81600" y="1828800"/>
            <a:ext cx="1828800" cy="731520"/>
          </a:xfrm>
          <a:prstGeom prst="round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304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666666"/>
                </a:solidFill>
              </a:rPr>
              <a:t>How they</a:t>
            </a:r>
            <a:br/>
            <a:r>
              <a:rPr b="1">
                <a:solidFill>
                  <a:srgbClr val="666666"/>
                </a:solidFill>
              </a:rPr>
              <a:t>did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10400" y="219456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01840" y="1828800"/>
            <a:ext cx="1828800" cy="731520"/>
          </a:xfrm>
          <a:prstGeom prst="roundRect">
            <a:avLst/>
          </a:prstGeom>
          <a:solidFill>
            <a:srgbClr val="2E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328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666666"/>
                </a:solidFill>
              </a:rPr>
              <a:t>What they</a:t>
            </a:r>
            <a:br/>
            <a:r>
              <a:rPr b="1">
                <a:solidFill>
                  <a:srgbClr val="666666"/>
                </a:solidFill>
              </a:rPr>
              <a:t>found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30640" y="2194560"/>
            <a:ext cx="91440" cy="0"/>
          </a:xfrm>
          <a:prstGeom prst="line">
            <a:avLst/>
          </a:prstGeom>
          <a:ln w="27432">
            <a:solidFill>
              <a:srgbClr val="7C3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22080" y="1828800"/>
            <a:ext cx="1828800" cy="731520"/>
          </a:xfrm>
          <a:prstGeom prst="round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352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666666"/>
                </a:solidFill>
              </a:rPr>
              <a:t>Why it</a:t>
            </a:r>
            <a:br/>
            <a:r>
              <a:rPr b="1">
                <a:solidFill>
                  <a:srgbClr val="666666"/>
                </a:solidFill>
              </a:rPr>
              <a:t>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1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0000"/>
                </a:solidFill>
              </a:rPr>
              <a:t>Each sentence = one function  →  decode systematically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66666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</a:rPr>
              <a:t>Be Assessment-Ready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" cy="914400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6320" y="14630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0000"/>
                </a:solidFill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000000"/>
                </a:solidFill>
              </a:rPr>
              <a:t>Know abstract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01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666666"/>
                </a:solidFill>
              </a:rPr>
              <a:t>7 elements +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137160" cy="9144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320" y="2560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0000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000000"/>
                </a:solidFill>
              </a:rPr>
              <a:t>Practice identifying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992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666666"/>
                </a:solidFill>
              </a:rPr>
              <a:t>Sentence-level function 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60"/>
            <a:ext cx="137160" cy="9144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6320" y="3657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0000"/>
                </a:solidFill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000000"/>
                </a:solidFill>
              </a:rPr>
              <a:t>Build 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96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666666"/>
                </a:solidFill>
              </a:rPr>
              <a:t>Reporting verbs + connectors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663440"/>
            <a:ext cx="137160" cy="914400"/>
          </a:xfrm>
          <a:prstGeom prst="rect">
            <a:avLst/>
          </a:prstGeom>
          <a:solidFill>
            <a:srgbClr val="2E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6320" y="47548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0000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000000"/>
                </a:solidFill>
              </a:rPr>
              <a:t>Complete all materials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1937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666666"/>
                </a:solidFill>
              </a:rPr>
              <a:t>Videos 1 &amp; 2 +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666666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