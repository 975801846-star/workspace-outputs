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5B3A8C"/>
                </a:solidFill>
                <a:latin typeface="Segoe UI"/>
              </a:defRPr>
            </a:pPr>
            <a:r>
              <a:t>Transfer of Technical &amp; Tactical Skills</a:t>
            </a:r>
            <a:br/>
            <a:r>
              <a:t>from Futsal to Soccer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0">
                <a:solidFill>
                  <a:srgbClr val="7E57C2"/>
                </a:solidFill>
                <a:latin typeface="Segoe UI"/>
              </a:defRPr>
            </a:pPr>
            <a:r>
              <a:t>A Systematic Review &amp; Meta-Analysis of the 'Donor Sport'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91840"/>
            <a:ext cx="1828800" cy="27432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999999"/>
                </a:solidFill>
                <a:latin typeface="Segoe UI"/>
              </a:defRPr>
            </a:pPr>
            <a:r>
              <a:t>Peña-Ardila, E.F. (2026) · Perceptual and Motor Skills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1524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30936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999999"/>
                </a:solidFill>
                <a:latin typeface="Segoe UI"/>
              </a:defRPr>
            </a:pPr>
            <a:r>
              <a:t>Analyst: HONGXIAN AN  |  Presenting an Article  |  Week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Why Is This Topic Interesting?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Futsal = 60M+ participants worldwide (FIFA)</a:t>
            </a:r>
          </a:p>
          <a:p>
            <a:pPr>
              <a:spcAft>
                <a:spcPts val="8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Pelé · Ronaldinho · Neymar → all credit futsal background</a:t>
            </a:r>
          </a:p>
          <a:p>
            <a:pPr>
              <a:spcAft>
                <a:spcPts val="8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Donor sport concept: decades of coaching belief, minimal empirical testing</a:t>
            </a:r>
          </a:p>
          <a:p>
            <a:pPr>
              <a:spcAft>
                <a:spcPts val="8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First quantitative synthesis of futsal-to-soccer transfer</a:t>
            </a:r>
          </a:p>
          <a:p>
            <a:pPr>
              <a:spcAft>
                <a:spcPts val="800"/>
              </a:spcAft>
              <a:defRPr sz="2000">
                <a:solidFill>
                  <a:srgbClr val="2D2240"/>
                </a:solidFill>
                <a:latin typeface="Segoe UI"/>
              </a:defRPr>
            </a:pPr>
            <a:r>
              <a:t>Early diversification vs. early specialization — stakes for talent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PRISMA 2020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3 databases: Scopus · ScienceDirect · WoS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780 → 683 → 38 → 7 studies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PICO(S) criteria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Random-effects meta-analysis · Hedges' g · I²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19050" cy="45720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SMD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2E7D32"/>
                </a:solidFill>
                <a:latin typeface="Segoe UI"/>
              </a:defRPr>
            </a:pPr>
            <a:r>
              <a:t>1.43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468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95% 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7432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E65100"/>
                </a:solidFill>
                <a:latin typeface="Segoe UI"/>
              </a:defRPr>
            </a:pPr>
            <a:r>
              <a:t>−0.16 ~ 3.03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5661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I²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8404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7E57C2"/>
                </a:solidFill>
                <a:latin typeface="Segoe UI"/>
              </a:defRPr>
            </a:pPr>
            <a:r>
              <a:t>86.9%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754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Studies included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0292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2D2240"/>
                </a:solidFill>
                <a:latin typeface="Segoe UI"/>
              </a:defRPr>
            </a:pPr>
            <a:r>
              <a:t>N =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Three Main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2E7D32"/>
                </a:solidFill>
                <a:latin typeface="Segoe UI"/>
              </a:defRPr>
            </a:pPr>
            <a:r>
              <a:t>✅  PASSING: Strong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SMD = 1.43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6771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Low-bounce ball → ↓ control demand → ↑ attention for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1518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Effect transfers to soccer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97180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E65100"/>
                </a:solidFill>
                <a:latin typeface="Segoe UI"/>
              </a:defRPr>
            </a:pPr>
            <a:r>
              <a:t>⚠️  SPEED &amp; AGILITY: Context-Dependent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7033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I² = 94.5%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50791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Field-based: futsal &gt; soccer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39826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Lab-based: futsal ≤ soccer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754880"/>
            <a:ext cx="9601200" cy="63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C62828"/>
                </a:solidFill>
                <a:latin typeface="Segoe UI"/>
              </a:defRPr>
            </a:pPr>
            <a:r>
              <a:t>❌  DRIBBLING: Sport-Specific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486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Futsal: close distance + high velocity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83387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Soccer: defender's 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6181344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2D2240"/>
                </a:solidFill>
                <a:latin typeface="Segoe UI"/>
              </a:defRPr>
            </a:pPr>
            <a:r>
              <a:t>No automatic transfer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Additional Finding &amp;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565C0"/>
                </a:solidFill>
                <a:latin typeface="Segoe UI"/>
              </a:defRPr>
            </a:pPr>
            <a:r>
              <a:t>🧠  Cognitive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deliberate practice (6–12y, 13–15y)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→ Higher offensive decision-making quality (adult)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Machado et al. (2023, 2024)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Brazilian professional female players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9050" cy="45720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65100"/>
                </a:solidFill>
                <a:latin typeface="Segoe UI"/>
              </a:defRPr>
            </a:pPr>
            <a:r>
              <a:t>⚠️ 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92024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N = 7 only</a:t>
            </a:r>
          </a:p>
          <a:p>
            <a:pPr>
              <a:spcAft>
                <a:spcPts val="8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Cross-sectional (no longitudinal)</a:t>
            </a:r>
          </a:p>
          <a:p>
            <a:pPr>
              <a:spcAft>
                <a:spcPts val="8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Dose-response unknown</a:t>
            </a:r>
          </a:p>
          <a:p>
            <a:pPr>
              <a:spcAft>
                <a:spcPts val="8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Language: EN/ES/PT</a:t>
            </a:r>
          </a:p>
          <a:p>
            <a:pPr>
              <a:spcAft>
                <a:spcPts val="800"/>
              </a:spcAft>
              <a:defRPr sz="1600">
                <a:solidFill>
                  <a:srgbClr val="2D2240"/>
                </a:solidFill>
                <a:latin typeface="Segoe UI"/>
              </a:defRPr>
            </a:pPr>
            <a:r>
              <a:t>Inter-rater reliability: n/a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99999"/>
                </a:solidFill>
                <a:latin typeface="Segoe UI"/>
              </a:defRPr>
            </a:pPr>
            <a:r>
              <a:t>→ Authors openly acknowledge these gaps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My View as a Coach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2E7D32"/>
                </a:solidFill>
                <a:latin typeface="Segoe UI"/>
              </a:defRPr>
            </a:pPr>
            <a:r>
              <a:t>✅  Actionable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Low-bounce ball in youth training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Small-sided constraints → quick decisions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Early futsal exposure in talent pathway</a:t>
            </a:r>
          </a:p>
          <a:p>
            <a:pPr>
              <a:spcAft>
                <a:spcPts val="800"/>
              </a:spcAft>
              <a:defRPr sz="1700">
                <a:solidFill>
                  <a:srgbClr val="2D2240"/>
                </a:solidFill>
                <a:latin typeface="Segoe UI"/>
              </a:defRPr>
            </a:pPr>
            <a:r>
              <a:t>Field-based testing (RVS-T), not lab 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9050" cy="457200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C62828"/>
                </a:solidFill>
                <a:latin typeface="Segoe UI"/>
              </a:defRPr>
            </a:pPr>
            <a:r>
              <a:t>❓  Unanswered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92024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Age to introduce futsal?</a:t>
            </a:r>
          </a:p>
          <a:p>
            <a:pPr>
              <a:spcAft>
                <a:spcPts val="8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When to transition → 11-a-side?</a:t>
            </a:r>
          </a:p>
          <a:p>
            <a:pPr>
              <a:spcAft>
                <a:spcPts val="8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Indoor only? Grass friction?</a:t>
            </a:r>
          </a:p>
          <a:p>
            <a:pPr>
              <a:spcAft>
                <a:spcPts val="8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Adult futsal → football: weaknesses?</a:t>
            </a:r>
          </a:p>
          <a:p>
            <a:pPr>
              <a:spcAft>
                <a:spcPts val="800"/>
              </a:spcAft>
              <a:defRPr sz="1500">
                <a:solidFill>
                  <a:srgbClr val="2D2240"/>
                </a:solidFill>
                <a:latin typeface="Segoe UI"/>
              </a:defRPr>
            </a:pPr>
            <a:r>
              <a:t>Offside · long passing · goalkeeping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5B3A8C"/>
                </a:solidFill>
                <a:latin typeface="Segoe UI"/>
              </a:defRPr>
            </a:pPr>
            <a:r>
              <a:t>💡  Key gap: NEGATIVE TRANSFER — does futsal create bad habits for football?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5B3A8C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3175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698480" cy="13716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5B3A8C"/>
                </a:solidFill>
                <a:latin typeface="Segoe UI"/>
              </a:defRPr>
            </a:pPr>
            <a:r>
              <a:t>Main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Futsal = proven donor sport — but transfer is SKILL-SPECIFIC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Passing ✅ | Speed ⚠️ (context) | Dribbling ❌ (no auto transfer)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Only 7 studies — promising but limited evidence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017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700" b="1">
                <a:solidFill>
                  <a:srgbClr val="7E57C2"/>
                </a:solidFill>
                <a:latin typeface="Segoe UI"/>
              </a:defRPr>
            </a:pPr>
            <a:r>
              <a:t>→ My Literature Review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✅  Passing transfers</a:t>
            </a:r>
            <a:br/>
            <a:r>
              <a:t>     SMD = 1.43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⚠️  Speed depends on context</a:t>
            </a:r>
            <a:br/>
            <a:r>
              <a:t>     I² = 94.5%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❌  Dribbling: sport-specific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⚠️  No longitudinal</a:t>
            </a:r>
            <a:br/>
            <a:r>
              <a:t>     No negative transfer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6576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Theme 1</a:t>
            </a:r>
            <a:br/>
            <a:r>
              <a:t>Technical skill transfer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Theme 2</a:t>
            </a:r>
            <a:br/>
            <a:r>
              <a:t>Perceptual-cognitive adaptation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Theme 3</a:t>
            </a:r>
            <a:br/>
            <a:r>
              <a:t>Talent development pathways</a:t>
            </a:r>
          </a:p>
          <a:p>
            <a:pPr>
              <a:spcAft>
                <a:spcPts val="800"/>
              </a:spcAft>
              <a:defRPr sz="1800">
                <a:solidFill>
                  <a:srgbClr val="2D2240"/>
                </a:solidFill>
                <a:latin typeface="Segoe UI"/>
              </a:defRPr>
            </a:pPr>
            <a:r>
              <a:t>➕  What does NOT transfer?</a:t>
            </a:r>
            <a:br/>
            <a:r>
              <a:t>     The research gap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657600"/>
            <a:ext cx="19050" cy="2560320"/>
          </a:xfrm>
          <a:prstGeom prst="rect">
            <a:avLst/>
          </a:prstGeom>
          <a:solidFill>
            <a:srgbClr val="B39D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7E57C2"/>
                </a:solidFill>
                <a:latin typeface="Segoe UI"/>
              </a:defRPr>
            </a:pPr>
            <a:r>
              <a:t>Peña-Ardila tells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7E57C2"/>
                </a:solidFill>
                <a:latin typeface="Segoe UI"/>
              </a:defRPr>
            </a:pPr>
            <a:r>
              <a:t>My LR will explore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