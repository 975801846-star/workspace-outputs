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0124E"/>
        </a:solidFill>
        <a:effectLst/>
      </p:bgPr>
    </p:bg>
    <p:spTree>
      <p:nvGrpSpPr>
        <p:cNvPr id="1" name=""/>
        <p:cNvGrpSpPr/>
        <p:nvPr/>
      </p:nvGrpSpPr>
      <p:grpSpPr/>
      <p:sp>
        <p:nvSpPr>
          <p:cNvPr id="2" name="Rectangle 1"/>
          <p:cNvSpPr/>
          <p:nvPr/>
        </p:nvSpPr>
        <p:spPr>
          <a:xfrm>
            <a:off x="0" y="2926080"/>
            <a:ext cx="12191695" cy="54864"/>
          </a:xfrm>
          <a:prstGeom prst="rect">
            <a:avLst/>
          </a:prstGeom>
          <a:solidFill>
            <a:srgbClr val="7C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463040"/>
            <a:ext cx="10058400" cy="1097280"/>
          </a:xfrm>
          <a:prstGeom prst="rect">
            <a:avLst/>
          </a:prstGeom>
          <a:noFill/>
        </p:spPr>
        <p:txBody>
          <a:bodyPr wrap="square">
            <a:spAutoFit/>
          </a:bodyPr>
          <a:lstStyle/>
          <a:p>
            <a:pPr algn="l">
              <a:defRPr sz="3400" b="1" i="0">
                <a:solidFill>
                  <a:srgbClr val="FFFFFF"/>
                </a:solidFill>
                <a:latin typeface="Calibri"/>
              </a:defRPr>
            </a:pPr>
            <a:r>
              <a:t>PRE-SESSIONAL PROGRAMME</a:t>
            </a:r>
          </a:p>
        </p:txBody>
      </p:sp>
      <p:sp>
        <p:nvSpPr>
          <p:cNvPr id="4" name="TextBox 3"/>
          <p:cNvSpPr txBox="1"/>
          <p:nvPr/>
        </p:nvSpPr>
        <p:spPr>
          <a:xfrm>
            <a:off x="731520" y="3291840"/>
            <a:ext cx="10058400" cy="1097280"/>
          </a:xfrm>
          <a:prstGeom prst="rect">
            <a:avLst/>
          </a:prstGeom>
          <a:noFill/>
        </p:spPr>
        <p:txBody>
          <a:bodyPr wrap="square">
            <a:spAutoFit/>
          </a:bodyPr>
          <a:lstStyle/>
          <a:p>
            <a:pPr algn="l">
              <a:defRPr sz="4400" b="1" i="0">
                <a:solidFill>
                  <a:srgbClr val="FFFFFF"/>
                </a:solidFill>
                <a:latin typeface="Calibri"/>
              </a:defRPr>
            </a:pPr>
            <a:r>
              <a:t>Rewriting &amp; Proofreading</a:t>
            </a:r>
          </a:p>
        </p:txBody>
      </p:sp>
      <p:sp>
        <p:nvSpPr>
          <p:cNvPr id="5" name="Rectangle 4"/>
          <p:cNvSpPr/>
          <p:nvPr/>
        </p:nvSpPr>
        <p:spPr>
          <a:xfrm>
            <a:off x="731520" y="4572000"/>
            <a:ext cx="4114800" cy="36576"/>
          </a:xfrm>
          <a:prstGeom prst="rect">
            <a:avLst/>
          </a:prstGeom>
          <a:solidFill>
            <a:srgbClr val="7C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846320"/>
            <a:ext cx="10058400" cy="548640"/>
          </a:xfrm>
          <a:prstGeom prst="rect">
            <a:avLst/>
          </a:prstGeom>
          <a:noFill/>
        </p:spPr>
        <p:txBody>
          <a:bodyPr wrap="square">
            <a:spAutoFit/>
          </a:bodyPr>
          <a:lstStyle/>
          <a:p>
            <a:pPr algn="l">
              <a:defRPr sz="1800" b="0" i="0">
                <a:solidFill>
                  <a:srgbClr val="FFFFFF"/>
                </a:solidFill>
                <a:latin typeface="Calibri"/>
              </a:defRPr>
            </a:pPr>
            <a:r>
              <a:t>Session 4.2  |  Loughborough University</a:t>
            </a:r>
          </a:p>
        </p:txBody>
      </p:sp>
      <p:sp>
        <p:nvSpPr>
          <p:cNvPr id="7" name="TextBox 6"/>
          <p:cNvSpPr txBox="1"/>
          <p:nvPr/>
        </p:nvSpPr>
        <p:spPr>
          <a:xfrm>
            <a:off x="11551615" y="4846320"/>
            <a:ext cx="457200" cy="365760"/>
          </a:xfrm>
          <a:prstGeom prst="rect">
            <a:avLst/>
          </a:prstGeom>
          <a:noFill/>
        </p:spPr>
        <p:txBody>
          <a:bodyPr wrap="square">
            <a:spAutoFit/>
          </a:bodyPr>
          <a:lstStyle/>
          <a:p>
            <a:pPr algn="r">
              <a:defRPr sz="1100" b="0" i="0">
                <a:solidFill>
                  <a:srgbClr val="FFFFFF"/>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1277295" cy="365760"/>
          </a:xfrm>
          <a:prstGeom prst="rect">
            <a:avLst/>
          </a:prstGeom>
          <a:noFill/>
        </p:spPr>
        <p:txBody>
          <a:bodyPr wrap="square">
            <a:spAutoFit/>
          </a:bodyPr>
          <a:lstStyle/>
          <a:p>
            <a:pPr algn="l">
              <a:defRPr sz="1600" b="1" i="0">
                <a:solidFill>
                  <a:srgbClr val="502379"/>
                </a:solidFill>
                <a:latin typeface="Calibri"/>
              </a:defRPr>
            </a:pPr>
            <a:r>
              <a:t>Turnitin flags similarity — not "cheating". You decide how to fix it.</a:t>
            </a:r>
          </a:p>
        </p:txBody>
      </p:sp>
      <p:sp>
        <p:nvSpPr>
          <p:cNvPr id="5" name="TextBox 4"/>
          <p:cNvSpPr txBox="1"/>
          <p:nvPr/>
        </p:nvSpPr>
        <p:spPr>
          <a:xfrm>
            <a:off x="11551615" y="6400800"/>
            <a:ext cx="457200" cy="365760"/>
          </a:xfrm>
          <a:prstGeom prst="rect">
            <a:avLst/>
          </a:prstGeom>
          <a:noFill/>
        </p:spPr>
        <p:txBody>
          <a:bodyPr wrap="square">
            <a:spAutoFit/>
          </a:bodyPr>
          <a:lstStyle/>
          <a:p>
            <a:pPr algn="r">
              <a:defRPr sz="1100" b="0" i="0">
                <a:solidFill>
                  <a:srgbClr val="502379"/>
                </a:solidFill>
                <a:latin typeface="Calibri"/>
              </a:defRPr>
            </a:pPr>
            <a:r>
              <a:t>2</a:t>
            </a:r>
          </a:p>
        </p:txBody>
      </p:sp>
      <p:sp>
        <p:nvSpPr>
          <p:cNvPr id="6" name="TextBox 5"/>
          <p:cNvSpPr txBox="1"/>
          <p:nvPr/>
        </p:nvSpPr>
        <p:spPr>
          <a:xfrm>
            <a:off x="640080" y="274320"/>
            <a:ext cx="10058400" cy="640080"/>
          </a:xfrm>
          <a:prstGeom prst="rect">
            <a:avLst/>
          </a:prstGeom>
          <a:noFill/>
        </p:spPr>
        <p:txBody>
          <a:bodyPr wrap="square">
            <a:spAutoFit/>
          </a:bodyPr>
          <a:lstStyle/>
          <a:p>
            <a:pPr algn="l">
              <a:defRPr sz="2600" b="1" i="0">
                <a:solidFill>
                  <a:srgbClr val="502379"/>
                </a:solidFill>
                <a:latin typeface="Calibri"/>
              </a:defRPr>
            </a:pPr>
            <a:r>
              <a:t>What Turnitin Does</a:t>
            </a:r>
          </a:p>
        </p:txBody>
      </p:sp>
      <p:sp>
        <p:nvSpPr>
          <p:cNvPr id="7" name="TextBox 6"/>
          <p:cNvSpPr txBox="1"/>
          <p:nvPr/>
        </p:nvSpPr>
        <p:spPr>
          <a:xfrm>
            <a:off x="640080" y="1371600"/>
            <a:ext cx="5029200" cy="457200"/>
          </a:xfrm>
          <a:prstGeom prst="rect">
            <a:avLst/>
          </a:prstGeom>
          <a:noFill/>
        </p:spPr>
        <p:txBody>
          <a:bodyPr wrap="square">
            <a:spAutoFit/>
          </a:bodyPr>
          <a:lstStyle/>
          <a:p>
            <a:pPr algn="l">
              <a:defRPr sz="1800" b="1" i="0">
                <a:solidFill>
                  <a:srgbClr val="000000"/>
                </a:solidFill>
                <a:latin typeface="Calibri"/>
              </a:defRPr>
            </a:pPr>
            <a:r>
              <a:t>●  Scans text against published sources</a:t>
            </a:r>
          </a:p>
        </p:txBody>
      </p:sp>
      <p:sp>
        <p:nvSpPr>
          <p:cNvPr id="8" name="TextBox 7"/>
          <p:cNvSpPr txBox="1"/>
          <p:nvPr/>
        </p:nvSpPr>
        <p:spPr>
          <a:xfrm>
            <a:off x="640080" y="1920240"/>
            <a:ext cx="5029200" cy="457200"/>
          </a:xfrm>
          <a:prstGeom prst="rect">
            <a:avLst/>
          </a:prstGeom>
          <a:noFill/>
        </p:spPr>
        <p:txBody>
          <a:bodyPr wrap="square">
            <a:spAutoFit/>
          </a:bodyPr>
          <a:lstStyle/>
          <a:p>
            <a:pPr algn="l">
              <a:defRPr sz="1800" b="1" i="0">
                <a:solidFill>
                  <a:srgbClr val="CC0000"/>
                </a:solidFill>
                <a:latin typeface="Calibri"/>
              </a:defRPr>
            </a:pPr>
            <a:r>
              <a:t>●  Pink = matched text (not "plagiarism")</a:t>
            </a:r>
          </a:p>
        </p:txBody>
      </p:sp>
      <p:sp>
        <p:nvSpPr>
          <p:cNvPr id="9" name="TextBox 8"/>
          <p:cNvSpPr txBox="1"/>
          <p:nvPr/>
        </p:nvSpPr>
        <p:spPr>
          <a:xfrm>
            <a:off x="640080" y="2468880"/>
            <a:ext cx="5029200" cy="457200"/>
          </a:xfrm>
          <a:prstGeom prst="rect">
            <a:avLst/>
          </a:prstGeom>
          <a:noFill/>
        </p:spPr>
        <p:txBody>
          <a:bodyPr wrap="square">
            <a:spAutoFit/>
          </a:bodyPr>
          <a:lstStyle/>
          <a:p>
            <a:pPr algn="l">
              <a:defRPr sz="1800" b="1" i="0">
                <a:solidFill>
                  <a:srgbClr val="0070C0"/>
                </a:solidFill>
                <a:latin typeface="Calibri"/>
              </a:defRPr>
            </a:pPr>
            <a:r>
              <a:t>●  [1] tag = which source matched</a:t>
            </a:r>
          </a:p>
        </p:txBody>
      </p:sp>
      <p:sp>
        <p:nvSpPr>
          <p:cNvPr id="10" name="TextBox 9"/>
          <p:cNvSpPr txBox="1"/>
          <p:nvPr/>
        </p:nvSpPr>
        <p:spPr>
          <a:xfrm>
            <a:off x="640080" y="3017520"/>
            <a:ext cx="5029200" cy="457200"/>
          </a:xfrm>
          <a:prstGeom prst="rect">
            <a:avLst/>
          </a:prstGeom>
          <a:noFill/>
        </p:spPr>
        <p:txBody>
          <a:bodyPr wrap="square">
            <a:spAutoFit/>
          </a:bodyPr>
          <a:lstStyle/>
          <a:p>
            <a:pPr algn="l">
              <a:defRPr sz="1800" b="1" i="0">
                <a:solidFill>
                  <a:srgbClr val="CC0000"/>
                </a:solidFill>
                <a:latin typeface="Calibri"/>
              </a:defRPr>
            </a:pPr>
            <a:r>
              <a:t>●  Same structure + new words = still pink</a:t>
            </a:r>
          </a:p>
        </p:txBody>
      </p:sp>
      <p:sp>
        <p:nvSpPr>
          <p:cNvPr id="11" name="TextBox 10"/>
          <p:cNvSpPr txBox="1"/>
          <p:nvPr/>
        </p:nvSpPr>
        <p:spPr>
          <a:xfrm>
            <a:off x="640080" y="3566160"/>
            <a:ext cx="5029200" cy="457200"/>
          </a:xfrm>
          <a:prstGeom prst="rect">
            <a:avLst/>
          </a:prstGeom>
          <a:noFill/>
        </p:spPr>
        <p:txBody>
          <a:bodyPr wrap="square">
            <a:spAutoFit/>
          </a:bodyPr>
          <a:lstStyle/>
          <a:p>
            <a:pPr algn="l">
              <a:defRPr sz="1800" b="1" i="0">
                <a:solidFill>
                  <a:srgbClr val="008040"/>
                </a:solidFill>
                <a:latin typeface="Calibri"/>
              </a:defRPr>
            </a:pPr>
            <a:r>
              <a:t>●  Fix pink → rewrite. Not delete.</a:t>
            </a:r>
          </a:p>
        </p:txBody>
      </p:sp>
      <p:sp>
        <p:nvSpPr>
          <p:cNvPr id="12" name="TextBox 11"/>
          <p:cNvSpPr txBox="1"/>
          <p:nvPr/>
        </p:nvSpPr>
        <p:spPr>
          <a:xfrm>
            <a:off x="7132320" y="1645920"/>
            <a:ext cx="2011680" cy="1828800"/>
          </a:xfrm>
          <a:prstGeom prst="rect">
            <a:avLst/>
          </a:prstGeom>
          <a:noFill/>
        </p:spPr>
        <p:txBody>
          <a:bodyPr wrap="square">
            <a:spAutoFit/>
          </a:bodyPr>
          <a:lstStyle/>
          <a:p>
            <a:pPr algn="ctr">
              <a:defRPr sz="7200" b="0" i="0">
                <a:solidFill>
                  <a:srgbClr val="000000"/>
                </a:solidFill>
                <a:latin typeface="Calibri"/>
              </a:defRPr>
            </a:pPr>
            <a:r>
              <a:t>👵</a:t>
            </a:r>
          </a:p>
        </p:txBody>
      </p:sp>
      <p:sp>
        <p:nvSpPr>
          <p:cNvPr id="13" name="TextBox 12"/>
          <p:cNvSpPr txBox="1"/>
          <p:nvPr/>
        </p:nvSpPr>
        <p:spPr>
          <a:xfrm>
            <a:off x="6766560" y="3474720"/>
            <a:ext cx="2743200" cy="365760"/>
          </a:xfrm>
          <a:prstGeom prst="rect">
            <a:avLst/>
          </a:prstGeom>
          <a:noFill/>
        </p:spPr>
        <p:txBody>
          <a:bodyPr wrap="square">
            <a:spAutoFit/>
          </a:bodyPr>
          <a:lstStyle/>
          <a:p>
            <a:pPr algn="ctr">
              <a:defRPr sz="1400" b="1" i="0">
                <a:solidFill>
                  <a:srgbClr val="000000"/>
                </a:solidFill>
                <a:latin typeface="Calibri"/>
              </a:defRPr>
            </a:pPr>
            <a:r>
              <a:t>Your essay</a:t>
            </a:r>
          </a:p>
        </p:txBody>
      </p:sp>
      <p:sp>
        <p:nvSpPr>
          <p:cNvPr id="14" name="TextBox 13"/>
          <p:cNvSpPr txBox="1"/>
          <p:nvPr/>
        </p:nvSpPr>
        <p:spPr>
          <a:xfrm>
            <a:off x="8961120" y="2103120"/>
            <a:ext cx="1097280" cy="640080"/>
          </a:xfrm>
          <a:prstGeom prst="rect">
            <a:avLst/>
          </a:prstGeom>
          <a:noFill/>
        </p:spPr>
        <p:txBody>
          <a:bodyPr wrap="square">
            <a:spAutoFit/>
          </a:bodyPr>
          <a:lstStyle/>
          <a:p>
            <a:pPr algn="ctr">
              <a:defRPr sz="4800" b="1" i="0">
                <a:solidFill>
                  <a:srgbClr val="CC0000"/>
                </a:solidFill>
                <a:latin typeface="Calibri"/>
              </a:defRPr>
            </a:pPr>
            <a:r>
              <a:t>≈</a:t>
            </a:r>
          </a:p>
        </p:txBody>
      </p:sp>
      <p:sp>
        <p:nvSpPr>
          <p:cNvPr id="15" name="TextBox 14"/>
          <p:cNvSpPr txBox="1"/>
          <p:nvPr/>
        </p:nvSpPr>
        <p:spPr>
          <a:xfrm>
            <a:off x="9601200" y="1645920"/>
            <a:ext cx="2011680" cy="1828800"/>
          </a:xfrm>
          <a:prstGeom prst="rect">
            <a:avLst/>
          </a:prstGeom>
          <a:noFill/>
        </p:spPr>
        <p:txBody>
          <a:bodyPr wrap="square">
            <a:spAutoFit/>
          </a:bodyPr>
          <a:lstStyle/>
          <a:p>
            <a:pPr algn="ctr">
              <a:defRPr sz="7200" b="0" i="0">
                <a:solidFill>
                  <a:srgbClr val="000000"/>
                </a:solidFill>
                <a:latin typeface="Calibri"/>
              </a:defRPr>
            </a:pPr>
            <a:r>
              <a:t>🐩</a:t>
            </a:r>
          </a:p>
        </p:txBody>
      </p:sp>
      <p:sp>
        <p:nvSpPr>
          <p:cNvPr id="16" name="TextBox 15"/>
          <p:cNvSpPr txBox="1"/>
          <p:nvPr/>
        </p:nvSpPr>
        <p:spPr>
          <a:xfrm>
            <a:off x="9235440" y="3474720"/>
            <a:ext cx="2743200" cy="365760"/>
          </a:xfrm>
          <a:prstGeom prst="rect">
            <a:avLst/>
          </a:prstGeom>
          <a:noFill/>
        </p:spPr>
        <p:txBody>
          <a:bodyPr wrap="square">
            <a:spAutoFit/>
          </a:bodyPr>
          <a:lstStyle/>
          <a:p>
            <a:pPr algn="ctr">
              <a:defRPr sz="1400" b="1" i="0">
                <a:solidFill>
                  <a:srgbClr val="000000"/>
                </a:solidFill>
                <a:latin typeface="Calibri"/>
              </a:defRPr>
            </a:pPr>
            <a:r>
              <a:t>Published source</a:t>
            </a:r>
          </a:p>
        </p:txBody>
      </p:sp>
      <p:sp>
        <p:nvSpPr>
          <p:cNvPr id="17" name="TextBox 16"/>
          <p:cNvSpPr txBox="1"/>
          <p:nvPr/>
        </p:nvSpPr>
        <p:spPr>
          <a:xfrm>
            <a:off x="6766560" y="4023360"/>
            <a:ext cx="5029200" cy="548640"/>
          </a:xfrm>
          <a:prstGeom prst="rect">
            <a:avLst/>
          </a:prstGeom>
          <a:noFill/>
        </p:spPr>
        <p:txBody>
          <a:bodyPr wrap="square">
            <a:spAutoFit/>
          </a:bodyPr>
          <a:lstStyle/>
          <a:p>
            <a:pPr algn="ctr">
              <a:defRPr sz="1600" b="1" i="0">
                <a:solidFill>
                  <a:srgbClr val="E07A00"/>
                </a:solidFill>
                <a:latin typeface="Calibri"/>
              </a:defRPr>
            </a:pPr>
            <a:r>
              <a:t>Turnitin spots the resemblance, not the intent.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1277295" cy="365760"/>
          </a:xfrm>
          <a:prstGeom prst="rect">
            <a:avLst/>
          </a:prstGeom>
          <a:noFill/>
        </p:spPr>
        <p:txBody>
          <a:bodyPr wrap="square">
            <a:spAutoFit/>
          </a:bodyPr>
          <a:lstStyle/>
          <a:p>
            <a:pPr algn="l">
              <a:defRPr sz="1600" b="1" i="0">
                <a:solidFill>
                  <a:srgbClr val="502379"/>
                </a:solidFill>
                <a:latin typeface="Calibri"/>
              </a:defRPr>
            </a:pPr>
            <a:r>
              <a:t>Changing 3 words ≠ paraphrase. Turnitin still marks it pink.</a:t>
            </a:r>
          </a:p>
        </p:txBody>
      </p:sp>
      <p:sp>
        <p:nvSpPr>
          <p:cNvPr id="5" name="TextBox 4"/>
          <p:cNvSpPr txBox="1"/>
          <p:nvPr/>
        </p:nvSpPr>
        <p:spPr>
          <a:xfrm>
            <a:off x="11551615" y="6400800"/>
            <a:ext cx="457200" cy="365760"/>
          </a:xfrm>
          <a:prstGeom prst="rect">
            <a:avLst/>
          </a:prstGeom>
          <a:noFill/>
        </p:spPr>
        <p:txBody>
          <a:bodyPr wrap="square">
            <a:spAutoFit/>
          </a:bodyPr>
          <a:lstStyle/>
          <a:p>
            <a:pPr algn="r">
              <a:defRPr sz="1100" b="0" i="0">
                <a:solidFill>
                  <a:srgbClr val="502379"/>
                </a:solidFill>
                <a:latin typeface="Calibri"/>
              </a:defRPr>
            </a:pPr>
            <a:r>
              <a:t>3</a:t>
            </a:r>
          </a:p>
        </p:txBody>
      </p:sp>
      <p:sp>
        <p:nvSpPr>
          <p:cNvPr id="6" name="TextBox 5"/>
          <p:cNvSpPr txBox="1"/>
          <p:nvPr/>
        </p:nvSpPr>
        <p:spPr>
          <a:xfrm>
            <a:off x="640080" y="274320"/>
            <a:ext cx="10058400" cy="640080"/>
          </a:xfrm>
          <a:prstGeom prst="rect">
            <a:avLst/>
          </a:prstGeom>
          <a:noFill/>
        </p:spPr>
        <p:txBody>
          <a:bodyPr wrap="square">
            <a:spAutoFit/>
          </a:bodyPr>
          <a:lstStyle/>
          <a:p>
            <a:pPr algn="l">
              <a:defRPr sz="2600" b="1" i="0">
                <a:solidFill>
                  <a:srgbClr val="502379"/>
                </a:solidFill>
                <a:latin typeface="Calibri"/>
              </a:defRPr>
            </a:pPr>
            <a:r>
              <a:t>❌  Problem 1: Only Changed a Few Words</a:t>
            </a:r>
          </a:p>
        </p:txBody>
      </p:sp>
      <p:sp>
        <p:nvSpPr>
          <p:cNvPr id="7" name="Oval 6"/>
          <p:cNvSpPr/>
          <p:nvPr/>
        </p:nvSpPr>
        <p:spPr>
          <a:xfrm>
            <a:off x="640080" y="1280160"/>
            <a:ext cx="914400" cy="914400"/>
          </a:xfrm>
          <a:prstGeom prst="ellipse">
            <a:avLst/>
          </a:prstGeom>
          <a:solidFill>
            <a:srgbClr val="FFF0F0"/>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400">
                <a:latin typeface="Segoe UI Emoji"/>
              </a:defRPr>
            </a:pPr>
            <a:r>
              <a:t>⚠️</a:t>
            </a:r>
          </a:p>
        </p:txBody>
      </p:sp>
      <p:sp>
        <p:nvSpPr>
          <p:cNvPr id="8" name="TextBox 7"/>
          <p:cNvSpPr txBox="1"/>
          <p:nvPr/>
        </p:nvSpPr>
        <p:spPr>
          <a:xfrm>
            <a:off x="1737360" y="1417320"/>
            <a:ext cx="4572000" cy="457200"/>
          </a:xfrm>
          <a:prstGeom prst="rect">
            <a:avLst/>
          </a:prstGeom>
          <a:noFill/>
        </p:spPr>
        <p:txBody>
          <a:bodyPr wrap="square">
            <a:spAutoFit/>
          </a:bodyPr>
          <a:lstStyle/>
          <a:p>
            <a:pPr algn="l">
              <a:defRPr sz="1800" b="1" i="0">
                <a:solidFill>
                  <a:srgbClr val="CC0000"/>
                </a:solidFill>
                <a:latin typeface="Calibri"/>
              </a:defRPr>
            </a:pPr>
            <a:r>
              <a:t>Changed 3 words → still matches original</a:t>
            </a:r>
          </a:p>
        </p:txBody>
      </p:sp>
      <p:sp>
        <p:nvSpPr>
          <p:cNvPr id="9" name="Rectangle 8"/>
          <p:cNvSpPr/>
          <p:nvPr/>
        </p:nvSpPr>
        <p:spPr>
          <a:xfrm>
            <a:off x="640080" y="2103120"/>
            <a:ext cx="5303520" cy="1188720"/>
          </a:xfrm>
          <a:prstGeom prst="rect">
            <a:avLst/>
          </a:prstGeom>
          <a:solidFill>
            <a:srgbClr val="F5F0FA"/>
          </a:solidFill>
          <a:ln w="19050">
            <a:solidFill>
              <a:srgbClr val="50237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i="1">
                <a:solidFill>
                  <a:srgbClr val="000000"/>
                </a:solidFill>
                <a:latin typeface="Calibri"/>
              </a:defRPr>
            </a:pPr>
            <a:r>
              <a:t>SOURCE (Cunningham &amp; Eastin, 2015):</a:t>
            </a:r>
            <a:br/>
            <a:r>
              <a:t>"...developments in social media also provide sport</a:t>
            </a:r>
            <a:br/>
            <a:r>
              <a:t> fans with the opportunity to tweet, text, and Facebook,</a:t>
            </a:r>
            <a:br/>
            <a:r>
              <a:t> all while watching the game, which provides a new and</a:t>
            </a:r>
            <a:br/>
            <a:r>
              <a:t> enriched fandom experience."</a:t>
            </a:r>
          </a:p>
        </p:txBody>
      </p:sp>
      <p:sp>
        <p:nvSpPr>
          <p:cNvPr id="10" name="TextBox 9"/>
          <p:cNvSpPr txBox="1"/>
          <p:nvPr/>
        </p:nvSpPr>
        <p:spPr>
          <a:xfrm>
            <a:off x="5760720" y="2468880"/>
            <a:ext cx="640080" cy="457200"/>
          </a:xfrm>
          <a:prstGeom prst="rect">
            <a:avLst/>
          </a:prstGeom>
          <a:noFill/>
        </p:spPr>
        <p:txBody>
          <a:bodyPr wrap="square">
            <a:spAutoFit/>
          </a:bodyPr>
          <a:lstStyle/>
          <a:p>
            <a:pPr algn="ctr">
              <a:defRPr sz="3600" b="1" i="0">
                <a:solidFill>
                  <a:srgbClr val="CC0000"/>
                </a:solidFill>
                <a:latin typeface="Calibri"/>
              </a:defRPr>
            </a:pPr>
            <a:r>
              <a:t>→</a:t>
            </a:r>
          </a:p>
        </p:txBody>
      </p:sp>
      <p:sp>
        <p:nvSpPr>
          <p:cNvPr id="11" name="Rectangle 10"/>
          <p:cNvSpPr/>
          <p:nvPr/>
        </p:nvSpPr>
        <p:spPr>
          <a:xfrm>
            <a:off x="6217920" y="2103120"/>
            <a:ext cx="5303520" cy="1188720"/>
          </a:xfrm>
          <a:prstGeom prst="rect">
            <a:avLst/>
          </a:prstGeom>
          <a:solidFill>
            <a:srgbClr val="FFF0F0"/>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i="1">
                <a:solidFill>
                  <a:srgbClr val="CC0000"/>
                </a:solidFill>
                <a:latin typeface="Calibri"/>
              </a:defRPr>
            </a:pPr>
            <a:r>
              <a:t>STUDENT WROTE:</a:t>
            </a:r>
            <a:br/>
            <a:r>
              <a:t>"...the development of social media also provides</a:t>
            </a:r>
            <a:br/>
            <a:r>
              <a:t> sports enthusiasts with the opportunity to tweet,</a:t>
            </a:r>
            <a:br/>
            <a:r>
              <a:t> text and Facebook while watching the game, which</a:t>
            </a:r>
            <a:br/>
            <a:r>
              <a:t> provides a new and rich fan experience."</a:t>
            </a:r>
          </a:p>
        </p:txBody>
      </p:sp>
      <p:sp>
        <p:nvSpPr>
          <p:cNvPr id="12" name="TextBox 11"/>
          <p:cNvSpPr txBox="1"/>
          <p:nvPr/>
        </p:nvSpPr>
        <p:spPr>
          <a:xfrm>
            <a:off x="640080" y="3657600"/>
            <a:ext cx="10515600" cy="457200"/>
          </a:xfrm>
          <a:prstGeom prst="rect">
            <a:avLst/>
          </a:prstGeom>
          <a:noFill/>
        </p:spPr>
        <p:txBody>
          <a:bodyPr wrap="square">
            <a:spAutoFit/>
          </a:bodyPr>
          <a:lstStyle/>
          <a:p>
            <a:pPr algn="l">
              <a:defRPr sz="1400" b="1" i="0">
                <a:solidFill>
                  <a:srgbClr val="CC0000"/>
                </a:solidFill>
                <a:latin typeface="Calibri"/>
              </a:defRPr>
            </a:pPr>
            <a:r>
              <a:t>sport fans → sports enthusiasts   |   fandom → fan   |   enriched → rich</a:t>
            </a:r>
          </a:p>
        </p:txBody>
      </p:sp>
      <p:sp>
        <p:nvSpPr>
          <p:cNvPr id="13" name="TextBox 12"/>
          <p:cNvSpPr txBox="1"/>
          <p:nvPr/>
        </p:nvSpPr>
        <p:spPr>
          <a:xfrm>
            <a:off x="640080" y="4114800"/>
            <a:ext cx="10515600" cy="1097280"/>
          </a:xfrm>
          <a:prstGeom prst="rect">
            <a:avLst/>
          </a:prstGeom>
          <a:noFill/>
        </p:spPr>
        <p:txBody>
          <a:bodyPr wrap="square">
            <a:spAutoFit/>
          </a:bodyPr>
          <a:lstStyle/>
          <a:p>
            <a:pPr algn="l">
              <a:defRPr sz="1500" b="1" i="0">
                <a:solidFill>
                  <a:srgbClr val="CC0000"/>
                </a:solidFill>
                <a:latin typeface="Calibri"/>
              </a:defRPr>
            </a:pPr>
            <a:r>
              <a:t>✘  Same sentence structure (X provides Y with Z)  ·  Same word order  ·  Same rhythm</a:t>
            </a:r>
            <a:br/>
            <a:r>
              <a:t>✘  Turnitin sees 90% match — result: flagged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1277295" cy="365760"/>
          </a:xfrm>
          <a:prstGeom prst="rect">
            <a:avLst/>
          </a:prstGeom>
          <a:noFill/>
        </p:spPr>
        <p:txBody>
          <a:bodyPr wrap="square">
            <a:spAutoFit/>
          </a:bodyPr>
          <a:lstStyle/>
          <a:p>
            <a:pPr algn="l">
              <a:defRPr sz="1600" b="1" i="0">
                <a:solidFill>
                  <a:srgbClr val="502379"/>
                </a:solidFill>
                <a:latin typeface="Calibri"/>
              </a:defRPr>
            </a:pPr>
            <a:r>
              <a:t>Read → cover → write from memory → check against original</a:t>
            </a:r>
          </a:p>
        </p:txBody>
      </p:sp>
      <p:sp>
        <p:nvSpPr>
          <p:cNvPr id="5" name="TextBox 4"/>
          <p:cNvSpPr txBox="1"/>
          <p:nvPr/>
        </p:nvSpPr>
        <p:spPr>
          <a:xfrm>
            <a:off x="11551615" y="6400800"/>
            <a:ext cx="457200" cy="365760"/>
          </a:xfrm>
          <a:prstGeom prst="rect">
            <a:avLst/>
          </a:prstGeom>
          <a:noFill/>
        </p:spPr>
        <p:txBody>
          <a:bodyPr wrap="square">
            <a:spAutoFit/>
          </a:bodyPr>
          <a:lstStyle/>
          <a:p>
            <a:pPr algn="r">
              <a:defRPr sz="1100" b="0" i="0">
                <a:solidFill>
                  <a:srgbClr val="502379"/>
                </a:solidFill>
                <a:latin typeface="Calibri"/>
              </a:defRPr>
            </a:pPr>
            <a:r>
              <a:t>4</a:t>
            </a:r>
          </a:p>
        </p:txBody>
      </p:sp>
      <p:sp>
        <p:nvSpPr>
          <p:cNvPr id="6" name="TextBox 5"/>
          <p:cNvSpPr txBox="1"/>
          <p:nvPr/>
        </p:nvSpPr>
        <p:spPr>
          <a:xfrm>
            <a:off x="640080" y="274320"/>
            <a:ext cx="10058400" cy="640080"/>
          </a:xfrm>
          <a:prstGeom prst="rect">
            <a:avLst/>
          </a:prstGeom>
          <a:noFill/>
        </p:spPr>
        <p:txBody>
          <a:bodyPr wrap="square">
            <a:spAutoFit/>
          </a:bodyPr>
          <a:lstStyle/>
          <a:p>
            <a:pPr algn="l">
              <a:defRPr sz="2600" b="1" i="0">
                <a:solidFill>
                  <a:srgbClr val="502379"/>
                </a:solidFill>
                <a:latin typeface="Calibri"/>
              </a:defRPr>
            </a:pPr>
            <a:r>
              <a:t>✅  Fix 1: Proper Paraphrase + Secondary Citation</a:t>
            </a:r>
          </a:p>
        </p:txBody>
      </p:sp>
      <p:sp>
        <p:nvSpPr>
          <p:cNvPr id="7" name="Oval 6"/>
          <p:cNvSpPr/>
          <p:nvPr/>
        </p:nvSpPr>
        <p:spPr>
          <a:xfrm>
            <a:off x="640080" y="1280160"/>
            <a:ext cx="914400" cy="914400"/>
          </a:xfrm>
          <a:prstGeom prst="ellipse">
            <a:avLst/>
          </a:prstGeom>
          <a:solidFill>
            <a:srgbClr val="F0FAF0"/>
          </a:solidFill>
          <a:ln w="25400">
            <a:solidFill>
              <a:srgbClr val="00804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400">
                <a:latin typeface="Segoe UI Emoji"/>
              </a:defRPr>
            </a:pPr>
            <a:r>
              <a:t>✅</a:t>
            </a:r>
          </a:p>
        </p:txBody>
      </p:sp>
      <p:sp>
        <p:nvSpPr>
          <p:cNvPr id="8" name="TextBox 7"/>
          <p:cNvSpPr txBox="1"/>
          <p:nvPr/>
        </p:nvSpPr>
        <p:spPr>
          <a:xfrm>
            <a:off x="1737360" y="1417320"/>
            <a:ext cx="9144000" cy="457200"/>
          </a:xfrm>
          <a:prstGeom prst="rect">
            <a:avLst/>
          </a:prstGeom>
          <a:noFill/>
        </p:spPr>
        <p:txBody>
          <a:bodyPr wrap="square">
            <a:spAutoFit/>
          </a:bodyPr>
          <a:lstStyle/>
          <a:p>
            <a:pPr algn="l">
              <a:defRPr sz="1600" b="1" i="1">
                <a:solidFill>
                  <a:srgbClr val="000000"/>
                </a:solidFill>
                <a:latin typeface="Calibri"/>
              </a:defRPr>
            </a:pPr>
            <a:r>
              <a:t>"Social media has brought a 'new and rich' experience to sports fans who can tweet, send text messages or update their Facebook status at the same time as watching the game (Pegoraro, 2013 cited in Cunningham and Eastin, 2015, p.289)."</a:t>
            </a:r>
          </a:p>
        </p:txBody>
      </p:sp>
      <p:sp>
        <p:nvSpPr>
          <p:cNvPr id="9" name="TextBox 8"/>
          <p:cNvSpPr txBox="1"/>
          <p:nvPr/>
        </p:nvSpPr>
        <p:spPr>
          <a:xfrm>
            <a:off x="640080" y="2560320"/>
            <a:ext cx="5029200" cy="457200"/>
          </a:xfrm>
          <a:prstGeom prst="rect">
            <a:avLst/>
          </a:prstGeom>
          <a:noFill/>
        </p:spPr>
        <p:txBody>
          <a:bodyPr wrap="square">
            <a:spAutoFit/>
          </a:bodyPr>
          <a:lstStyle/>
          <a:p>
            <a:pPr algn="l">
              <a:defRPr sz="1600" b="1" i="0">
                <a:solidFill>
                  <a:srgbClr val="008040"/>
                </a:solidFill>
                <a:latin typeface="Calibri"/>
              </a:defRPr>
            </a:pPr>
            <a:r>
              <a:t>What changed:</a:t>
            </a:r>
          </a:p>
        </p:txBody>
      </p:sp>
      <p:sp>
        <p:nvSpPr>
          <p:cNvPr id="10" name="TextBox 9"/>
          <p:cNvSpPr txBox="1"/>
          <p:nvPr/>
        </p:nvSpPr>
        <p:spPr>
          <a:xfrm>
            <a:off x="640080" y="2971800"/>
            <a:ext cx="5029200" cy="365760"/>
          </a:xfrm>
          <a:prstGeom prst="rect">
            <a:avLst/>
          </a:prstGeom>
          <a:noFill/>
        </p:spPr>
        <p:txBody>
          <a:bodyPr wrap="square">
            <a:spAutoFit/>
          </a:bodyPr>
          <a:lstStyle/>
          <a:p>
            <a:pPr algn="l">
              <a:defRPr sz="1400" b="1" i="0">
                <a:solidFill>
                  <a:srgbClr val="008040"/>
                </a:solidFill>
                <a:latin typeface="Calibri"/>
              </a:defRPr>
            </a:pPr>
            <a:r>
              <a:t>  ✅  New subject: "Social media has brought…"</a:t>
            </a:r>
          </a:p>
        </p:txBody>
      </p:sp>
      <p:sp>
        <p:nvSpPr>
          <p:cNvPr id="11" name="TextBox 10"/>
          <p:cNvSpPr txBox="1"/>
          <p:nvPr/>
        </p:nvSpPr>
        <p:spPr>
          <a:xfrm>
            <a:off x="640080" y="3383280"/>
            <a:ext cx="5029200" cy="365760"/>
          </a:xfrm>
          <a:prstGeom prst="rect">
            <a:avLst/>
          </a:prstGeom>
          <a:noFill/>
        </p:spPr>
        <p:txBody>
          <a:bodyPr wrap="square">
            <a:spAutoFit/>
          </a:bodyPr>
          <a:lstStyle/>
          <a:p>
            <a:pPr algn="l">
              <a:defRPr sz="1400" b="1" i="0">
                <a:solidFill>
                  <a:srgbClr val="008040"/>
                </a:solidFill>
                <a:latin typeface="Calibri"/>
              </a:defRPr>
            </a:pPr>
            <a:r>
              <a:t>  ✅  New structure: not "X provides Y with Z"</a:t>
            </a:r>
          </a:p>
        </p:txBody>
      </p:sp>
      <p:sp>
        <p:nvSpPr>
          <p:cNvPr id="12" name="TextBox 11"/>
          <p:cNvSpPr txBox="1"/>
          <p:nvPr/>
        </p:nvSpPr>
        <p:spPr>
          <a:xfrm>
            <a:off x="640080" y="3794760"/>
            <a:ext cx="5029200" cy="365760"/>
          </a:xfrm>
          <a:prstGeom prst="rect">
            <a:avLst/>
          </a:prstGeom>
          <a:noFill/>
        </p:spPr>
        <p:txBody>
          <a:bodyPr wrap="square">
            <a:spAutoFit/>
          </a:bodyPr>
          <a:lstStyle/>
          <a:p>
            <a:pPr algn="l">
              <a:defRPr sz="1400" b="1" i="0">
                <a:solidFill>
                  <a:srgbClr val="008040"/>
                </a:solidFill>
                <a:latin typeface="Calibri"/>
              </a:defRPr>
            </a:pPr>
            <a:r>
              <a:t>  ✅  "text and Facebook" → "send text messages or update Facebook"</a:t>
            </a:r>
          </a:p>
        </p:txBody>
      </p:sp>
      <p:sp>
        <p:nvSpPr>
          <p:cNvPr id="13" name="TextBox 12"/>
          <p:cNvSpPr txBox="1"/>
          <p:nvPr/>
        </p:nvSpPr>
        <p:spPr>
          <a:xfrm>
            <a:off x="640080" y="4206240"/>
            <a:ext cx="5029200" cy="365760"/>
          </a:xfrm>
          <a:prstGeom prst="rect">
            <a:avLst/>
          </a:prstGeom>
          <a:noFill/>
        </p:spPr>
        <p:txBody>
          <a:bodyPr wrap="square">
            <a:spAutoFit/>
          </a:bodyPr>
          <a:lstStyle/>
          <a:p>
            <a:pPr algn="l">
              <a:defRPr sz="1400" b="1" i="0">
                <a:solidFill>
                  <a:srgbClr val="008040"/>
                </a:solidFill>
                <a:latin typeface="Calibri"/>
              </a:defRPr>
            </a:pPr>
            <a:r>
              <a:t>  ✅  Added secondary citation: cited in + page number</a:t>
            </a:r>
          </a:p>
        </p:txBody>
      </p:sp>
      <p:sp>
        <p:nvSpPr>
          <p:cNvPr id="14" name="TextBox 13"/>
          <p:cNvSpPr txBox="1"/>
          <p:nvPr/>
        </p:nvSpPr>
        <p:spPr>
          <a:xfrm>
            <a:off x="6400800" y="2560320"/>
            <a:ext cx="5029200" cy="457200"/>
          </a:xfrm>
          <a:prstGeom prst="rect">
            <a:avLst/>
          </a:prstGeom>
          <a:noFill/>
        </p:spPr>
        <p:txBody>
          <a:bodyPr wrap="square">
            <a:spAutoFit/>
          </a:bodyPr>
          <a:lstStyle/>
          <a:p>
            <a:pPr algn="l">
              <a:defRPr sz="1600" b="1" i="0">
                <a:solidFill>
                  <a:srgbClr val="0070C0"/>
                </a:solidFill>
                <a:latin typeface="Calibri"/>
              </a:defRPr>
            </a:pPr>
            <a:r>
              <a:t>What stayed (quoted):</a:t>
            </a:r>
          </a:p>
        </p:txBody>
      </p:sp>
      <p:sp>
        <p:nvSpPr>
          <p:cNvPr id="15" name="TextBox 14"/>
          <p:cNvSpPr txBox="1"/>
          <p:nvPr/>
        </p:nvSpPr>
        <p:spPr>
          <a:xfrm>
            <a:off x="6400800" y="2971800"/>
            <a:ext cx="5029200" cy="365760"/>
          </a:xfrm>
          <a:prstGeom prst="rect">
            <a:avLst/>
          </a:prstGeom>
          <a:noFill/>
        </p:spPr>
        <p:txBody>
          <a:bodyPr wrap="square">
            <a:spAutoFit/>
          </a:bodyPr>
          <a:lstStyle/>
          <a:p>
            <a:pPr algn="l">
              <a:defRPr sz="1400" b="1" i="0">
                <a:solidFill>
                  <a:srgbClr val="0070C0"/>
                </a:solidFill>
                <a:latin typeface="Calibri"/>
              </a:defRPr>
            </a:pPr>
            <a:r>
              <a:t>  🔤  "new and rich" — fixed phrase, kept as quote</a:t>
            </a:r>
          </a:p>
        </p:txBody>
      </p:sp>
      <p:sp>
        <p:nvSpPr>
          <p:cNvPr id="16" name="TextBox 15"/>
          <p:cNvSpPr txBox="1"/>
          <p:nvPr/>
        </p:nvSpPr>
        <p:spPr>
          <a:xfrm>
            <a:off x="6400800" y="3383280"/>
            <a:ext cx="5029200" cy="365760"/>
          </a:xfrm>
          <a:prstGeom prst="rect">
            <a:avLst/>
          </a:prstGeom>
          <a:noFill/>
        </p:spPr>
        <p:txBody>
          <a:bodyPr wrap="square">
            <a:spAutoFit/>
          </a:bodyPr>
          <a:lstStyle/>
          <a:p>
            <a:pPr algn="l">
              <a:defRPr sz="1400" b="1" i="0">
                <a:solidFill>
                  <a:srgbClr val="0070C0"/>
                </a:solidFill>
                <a:latin typeface="Calibri"/>
              </a:defRPr>
            </a:pPr>
            <a:r>
              <a:t>  📌  page number (p.289) — quote requires page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1277295" cy="365760"/>
          </a:xfrm>
          <a:prstGeom prst="rect">
            <a:avLst/>
          </a:prstGeom>
          <a:noFill/>
        </p:spPr>
        <p:txBody>
          <a:bodyPr wrap="square">
            <a:spAutoFit/>
          </a:bodyPr>
          <a:lstStyle/>
          <a:p>
            <a:pPr algn="l">
              <a:defRPr sz="1600" b="1" i="0">
                <a:solidFill>
                  <a:srgbClr val="502379"/>
                </a:solidFill>
                <a:latin typeface="Calibri"/>
              </a:defRPr>
            </a:pPr>
            <a:r>
              <a:t>Copied sentence structure = plagiarism, even with new words</a:t>
            </a:r>
          </a:p>
        </p:txBody>
      </p:sp>
      <p:sp>
        <p:nvSpPr>
          <p:cNvPr id="5" name="TextBox 4"/>
          <p:cNvSpPr txBox="1"/>
          <p:nvPr/>
        </p:nvSpPr>
        <p:spPr>
          <a:xfrm>
            <a:off x="11551615" y="6400800"/>
            <a:ext cx="457200" cy="365760"/>
          </a:xfrm>
          <a:prstGeom prst="rect">
            <a:avLst/>
          </a:prstGeom>
          <a:noFill/>
        </p:spPr>
        <p:txBody>
          <a:bodyPr wrap="square">
            <a:spAutoFit/>
          </a:bodyPr>
          <a:lstStyle/>
          <a:p>
            <a:pPr algn="r">
              <a:defRPr sz="1100" b="0" i="0">
                <a:solidFill>
                  <a:srgbClr val="502379"/>
                </a:solidFill>
                <a:latin typeface="Calibri"/>
              </a:defRPr>
            </a:pPr>
            <a:r>
              <a:t>5</a:t>
            </a:r>
          </a:p>
        </p:txBody>
      </p:sp>
      <p:sp>
        <p:nvSpPr>
          <p:cNvPr id="6" name="TextBox 5"/>
          <p:cNvSpPr txBox="1"/>
          <p:nvPr/>
        </p:nvSpPr>
        <p:spPr>
          <a:xfrm>
            <a:off x="640080" y="274320"/>
            <a:ext cx="10058400" cy="640080"/>
          </a:xfrm>
          <a:prstGeom prst="rect">
            <a:avLst/>
          </a:prstGeom>
          <a:noFill/>
        </p:spPr>
        <p:txBody>
          <a:bodyPr wrap="square">
            <a:spAutoFit/>
          </a:bodyPr>
          <a:lstStyle/>
          <a:p>
            <a:pPr algn="l">
              <a:defRPr sz="2600" b="1" i="0">
                <a:solidFill>
                  <a:srgbClr val="502379"/>
                </a:solidFill>
                <a:latin typeface="Calibri"/>
              </a:defRPr>
            </a:pPr>
            <a:r>
              <a:t>❌  Problem 2: Same Structure + Wrong Citation</a:t>
            </a:r>
          </a:p>
        </p:txBody>
      </p:sp>
      <p:sp>
        <p:nvSpPr>
          <p:cNvPr id="7" name="Oval 6"/>
          <p:cNvSpPr/>
          <p:nvPr/>
        </p:nvSpPr>
        <p:spPr>
          <a:xfrm>
            <a:off x="640080" y="1280160"/>
            <a:ext cx="914400" cy="914400"/>
          </a:xfrm>
          <a:prstGeom prst="ellipse">
            <a:avLst/>
          </a:prstGeom>
          <a:solidFill>
            <a:srgbClr val="FFF0F0"/>
          </a:solidFill>
          <a:ln w="2540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400">
                <a:latin typeface="Segoe UI Emoji"/>
              </a:defRPr>
            </a:pPr>
            <a:r>
              <a:t>🔁</a:t>
            </a:r>
          </a:p>
        </p:txBody>
      </p:sp>
      <p:sp>
        <p:nvSpPr>
          <p:cNvPr id="8" name="TextBox 7"/>
          <p:cNvSpPr txBox="1"/>
          <p:nvPr/>
        </p:nvSpPr>
        <p:spPr>
          <a:xfrm>
            <a:off x="1737360" y="1417320"/>
            <a:ext cx="5029200" cy="457200"/>
          </a:xfrm>
          <a:prstGeom prst="rect">
            <a:avLst/>
          </a:prstGeom>
          <a:noFill/>
        </p:spPr>
        <p:txBody>
          <a:bodyPr wrap="square">
            <a:spAutoFit/>
          </a:bodyPr>
          <a:lstStyle/>
          <a:p>
            <a:pPr algn="l">
              <a:defRPr sz="1800" b="1" i="0">
                <a:solidFill>
                  <a:srgbClr val="CC0000"/>
                </a:solidFill>
                <a:latin typeface="Calibri"/>
              </a:defRPr>
            </a:pPr>
            <a:r>
              <a:t>Same skeleton, different skin</a:t>
            </a:r>
          </a:p>
        </p:txBody>
      </p:sp>
      <p:sp>
        <p:nvSpPr>
          <p:cNvPr id="9" name="Rectangle 8"/>
          <p:cNvSpPr/>
          <p:nvPr/>
        </p:nvSpPr>
        <p:spPr>
          <a:xfrm>
            <a:off x="640080" y="2103120"/>
            <a:ext cx="5303520" cy="1097280"/>
          </a:xfrm>
          <a:prstGeom prst="rect">
            <a:avLst/>
          </a:prstGeom>
          <a:solidFill>
            <a:srgbClr val="F5F0FA"/>
          </a:solidFill>
          <a:ln w="19050">
            <a:solidFill>
              <a:srgbClr val="50237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i="1">
                <a:solidFill>
                  <a:srgbClr val="000000"/>
                </a:solidFill>
                <a:latin typeface="Calibri"/>
              </a:defRPr>
            </a:pPr>
            <a:r>
              <a:t>ORIGINAL (3.7):</a:t>
            </a:r>
            <a:br/>
            <a:r>
              <a:t>"…second screen offers a new opportunity</a:t>
            </a:r>
            <a:br/>
            <a:r>
              <a:t> for more interaction, additional touch points,</a:t>
            </a:r>
            <a:br/>
            <a:r>
              <a:t> direct transactions, and data gathering…"</a:t>
            </a:r>
          </a:p>
        </p:txBody>
      </p:sp>
      <p:sp>
        <p:nvSpPr>
          <p:cNvPr id="10" name="TextBox 9"/>
          <p:cNvSpPr txBox="1"/>
          <p:nvPr/>
        </p:nvSpPr>
        <p:spPr>
          <a:xfrm>
            <a:off x="5760720" y="2468880"/>
            <a:ext cx="640080" cy="457200"/>
          </a:xfrm>
          <a:prstGeom prst="rect">
            <a:avLst/>
          </a:prstGeom>
          <a:noFill/>
        </p:spPr>
        <p:txBody>
          <a:bodyPr wrap="square">
            <a:spAutoFit/>
          </a:bodyPr>
          <a:lstStyle/>
          <a:p>
            <a:pPr algn="ctr">
              <a:defRPr sz="3000" b="1" i="0">
                <a:solidFill>
                  <a:srgbClr val="CC0000"/>
                </a:solidFill>
                <a:latin typeface="Calibri"/>
              </a:defRPr>
            </a:pPr>
            <a:r>
              <a:t>=</a:t>
            </a:r>
          </a:p>
        </p:txBody>
      </p:sp>
      <p:sp>
        <p:nvSpPr>
          <p:cNvPr id="11" name="Rectangle 10"/>
          <p:cNvSpPr/>
          <p:nvPr/>
        </p:nvSpPr>
        <p:spPr>
          <a:xfrm>
            <a:off x="6217920" y="2103120"/>
            <a:ext cx="5303520" cy="1097280"/>
          </a:xfrm>
          <a:prstGeom prst="rect">
            <a:avLst/>
          </a:prstGeom>
          <a:solidFill>
            <a:srgbClr val="FFF0F0"/>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i="1">
                <a:solidFill>
                  <a:srgbClr val="CC0000"/>
                </a:solidFill>
                <a:latin typeface="Calibri"/>
              </a:defRPr>
            </a:pPr>
            <a:r>
              <a:t>STUDENT WROTE (3.5):</a:t>
            </a:r>
            <a:br/>
            <a:r>
              <a:t>"…offers them a new opportunity if the</a:t>
            </a:r>
            <a:br/>
            <a:r>
              <a:t> audience gets more interaction, additional</a:t>
            </a:r>
            <a:br/>
            <a:r>
              <a:t> touch points, direct transactions…"</a:t>
            </a:r>
          </a:p>
        </p:txBody>
      </p:sp>
      <p:sp>
        <p:nvSpPr>
          <p:cNvPr id="12" name="TextBox 11"/>
          <p:cNvSpPr txBox="1"/>
          <p:nvPr/>
        </p:nvSpPr>
        <p:spPr>
          <a:xfrm>
            <a:off x="640080" y="3566160"/>
            <a:ext cx="10515600" cy="457200"/>
          </a:xfrm>
          <a:prstGeom prst="rect">
            <a:avLst/>
          </a:prstGeom>
          <a:noFill/>
        </p:spPr>
        <p:txBody>
          <a:bodyPr wrap="square">
            <a:spAutoFit/>
          </a:bodyPr>
          <a:lstStyle/>
          <a:p>
            <a:pPr algn="l">
              <a:defRPr sz="1600" b="1" i="0">
                <a:solidFill>
                  <a:srgbClr val="CC0000"/>
                </a:solidFill>
                <a:latin typeface="Calibri"/>
              </a:defRPr>
            </a:pPr>
            <a:r>
              <a:t>Problems:</a:t>
            </a:r>
          </a:p>
        </p:txBody>
      </p:sp>
      <p:sp>
        <p:nvSpPr>
          <p:cNvPr id="13" name="TextBox 12"/>
          <p:cNvSpPr txBox="1"/>
          <p:nvPr/>
        </p:nvSpPr>
        <p:spPr>
          <a:xfrm>
            <a:off x="640080" y="3977639"/>
            <a:ext cx="10515600" cy="365760"/>
          </a:xfrm>
          <a:prstGeom prst="rect">
            <a:avLst/>
          </a:prstGeom>
          <a:noFill/>
        </p:spPr>
        <p:txBody>
          <a:bodyPr wrap="square">
            <a:spAutoFit/>
          </a:bodyPr>
          <a:lstStyle/>
          <a:p>
            <a:pPr algn="l">
              <a:defRPr sz="1400" b="1" i="0">
                <a:solidFill>
                  <a:srgbClr val="CC0000"/>
                </a:solidFill>
                <a:latin typeface="Calibri"/>
              </a:defRPr>
            </a:pPr>
            <a:r>
              <a:t>✘  "X offers new opportunity for Y" — same grammatical skeleton</a:t>
            </a:r>
          </a:p>
        </p:txBody>
      </p:sp>
      <p:sp>
        <p:nvSpPr>
          <p:cNvPr id="14" name="TextBox 13"/>
          <p:cNvSpPr txBox="1"/>
          <p:nvPr/>
        </p:nvSpPr>
        <p:spPr>
          <a:xfrm>
            <a:off x="640080" y="4389120"/>
            <a:ext cx="10515600" cy="365760"/>
          </a:xfrm>
          <a:prstGeom prst="rect">
            <a:avLst/>
          </a:prstGeom>
          <a:noFill/>
        </p:spPr>
        <p:txBody>
          <a:bodyPr wrap="square">
            <a:spAutoFit/>
          </a:bodyPr>
          <a:lstStyle/>
          <a:p>
            <a:pPr algn="l">
              <a:defRPr sz="1400" b="1" i="0">
                <a:solidFill>
                  <a:srgbClr val="CC0000"/>
                </a:solidFill>
                <a:latin typeface="Calibri"/>
              </a:defRPr>
            </a:pPr>
            <a:r>
              <a:t>✘  "additional touch points, direct transactions" — copied verbatim, no quotes</a:t>
            </a:r>
          </a:p>
        </p:txBody>
      </p:sp>
      <p:sp>
        <p:nvSpPr>
          <p:cNvPr id="15" name="TextBox 14"/>
          <p:cNvSpPr txBox="1"/>
          <p:nvPr/>
        </p:nvSpPr>
        <p:spPr>
          <a:xfrm>
            <a:off x="640080" y="4800600"/>
            <a:ext cx="10515600" cy="365760"/>
          </a:xfrm>
          <a:prstGeom prst="rect">
            <a:avLst/>
          </a:prstGeom>
          <a:noFill/>
        </p:spPr>
        <p:txBody>
          <a:bodyPr wrap="square">
            <a:spAutoFit/>
          </a:bodyPr>
          <a:lstStyle/>
          <a:p>
            <a:pPr algn="l">
              <a:defRPr sz="1400" b="1" i="0">
                <a:solidFill>
                  <a:srgbClr val="CC0000"/>
                </a:solidFill>
                <a:latin typeface="Calibri"/>
              </a:defRPr>
            </a:pPr>
            <a:r>
              <a:t>✘  Missing citation: should be (Author, Year, p.X) OR secondary reference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1277295" cy="365760"/>
          </a:xfrm>
          <a:prstGeom prst="rect">
            <a:avLst/>
          </a:prstGeom>
          <a:noFill/>
        </p:spPr>
        <p:txBody>
          <a:bodyPr wrap="square">
            <a:spAutoFit/>
          </a:bodyPr>
          <a:lstStyle/>
          <a:p>
            <a:pPr algn="l">
              <a:defRPr sz="1600" b="1" i="0">
                <a:solidFill>
                  <a:srgbClr val="502379"/>
                </a:solidFill>
                <a:latin typeface="Calibri"/>
              </a:defRPr>
            </a:pPr>
            <a:r>
              <a:t>Break the skeleton. Build your own.</a:t>
            </a:r>
          </a:p>
        </p:txBody>
      </p:sp>
      <p:sp>
        <p:nvSpPr>
          <p:cNvPr id="5" name="TextBox 4"/>
          <p:cNvSpPr txBox="1"/>
          <p:nvPr/>
        </p:nvSpPr>
        <p:spPr>
          <a:xfrm>
            <a:off x="11551615" y="6400800"/>
            <a:ext cx="457200" cy="365760"/>
          </a:xfrm>
          <a:prstGeom prst="rect">
            <a:avLst/>
          </a:prstGeom>
          <a:noFill/>
        </p:spPr>
        <p:txBody>
          <a:bodyPr wrap="square">
            <a:spAutoFit/>
          </a:bodyPr>
          <a:lstStyle/>
          <a:p>
            <a:pPr algn="r">
              <a:defRPr sz="1100" b="0" i="0">
                <a:solidFill>
                  <a:srgbClr val="502379"/>
                </a:solidFill>
                <a:latin typeface="Calibri"/>
              </a:defRPr>
            </a:pPr>
            <a:r>
              <a:t>6</a:t>
            </a:r>
          </a:p>
        </p:txBody>
      </p:sp>
      <p:sp>
        <p:nvSpPr>
          <p:cNvPr id="6" name="TextBox 5"/>
          <p:cNvSpPr txBox="1"/>
          <p:nvPr/>
        </p:nvSpPr>
        <p:spPr>
          <a:xfrm>
            <a:off x="640080" y="274320"/>
            <a:ext cx="10058400" cy="640080"/>
          </a:xfrm>
          <a:prstGeom prst="rect">
            <a:avLst/>
          </a:prstGeom>
          <a:noFill/>
        </p:spPr>
        <p:txBody>
          <a:bodyPr wrap="square">
            <a:spAutoFit/>
          </a:bodyPr>
          <a:lstStyle/>
          <a:p>
            <a:pPr algn="l">
              <a:defRPr sz="2600" b="1" i="0">
                <a:solidFill>
                  <a:srgbClr val="502379"/>
                </a:solidFill>
                <a:latin typeface="Calibri"/>
              </a:defRPr>
            </a:pPr>
            <a:r>
              <a:t>✅  Fix 2: Own Structure + Correct Citation</a:t>
            </a:r>
          </a:p>
        </p:txBody>
      </p:sp>
      <p:sp>
        <p:nvSpPr>
          <p:cNvPr id="7" name="Oval 6"/>
          <p:cNvSpPr/>
          <p:nvPr/>
        </p:nvSpPr>
        <p:spPr>
          <a:xfrm>
            <a:off x="640080" y="1280160"/>
            <a:ext cx="914400" cy="914400"/>
          </a:xfrm>
          <a:prstGeom prst="ellipse">
            <a:avLst/>
          </a:prstGeom>
          <a:solidFill>
            <a:srgbClr val="F0FAF0"/>
          </a:solidFill>
          <a:ln w="25400">
            <a:solidFill>
              <a:srgbClr val="008040"/>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400">
                <a:latin typeface="Segoe UI Emoji"/>
              </a:defRPr>
            </a:pPr>
            <a:r>
              <a:t>✅</a:t>
            </a:r>
          </a:p>
        </p:txBody>
      </p:sp>
      <p:sp>
        <p:nvSpPr>
          <p:cNvPr id="8" name="TextBox 7"/>
          <p:cNvSpPr txBox="1"/>
          <p:nvPr/>
        </p:nvSpPr>
        <p:spPr>
          <a:xfrm>
            <a:off x="640080" y="1828800"/>
            <a:ext cx="5029200" cy="365760"/>
          </a:xfrm>
          <a:prstGeom prst="rect">
            <a:avLst/>
          </a:prstGeom>
          <a:noFill/>
        </p:spPr>
        <p:txBody>
          <a:bodyPr wrap="square">
            <a:spAutoFit/>
          </a:bodyPr>
          <a:lstStyle/>
          <a:p>
            <a:pPr algn="l">
              <a:defRPr sz="1400" b="1" i="0">
                <a:solidFill>
                  <a:srgbClr val="CC0000"/>
                </a:solidFill>
                <a:latin typeface="Calibri"/>
              </a:defRPr>
            </a:pPr>
            <a:r>
              <a:t>BEFORE (pink in Turnitin):</a:t>
            </a:r>
          </a:p>
        </p:txBody>
      </p:sp>
      <p:sp>
        <p:nvSpPr>
          <p:cNvPr id="9" name="Rectangle 8"/>
          <p:cNvSpPr/>
          <p:nvPr/>
        </p:nvSpPr>
        <p:spPr>
          <a:xfrm>
            <a:off x="640080" y="2194560"/>
            <a:ext cx="5029200" cy="1005840"/>
          </a:xfrm>
          <a:prstGeom prst="rect">
            <a:avLst/>
          </a:prstGeom>
          <a:solidFill>
            <a:srgbClr val="FFF0F0"/>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i="1">
                <a:solidFill>
                  <a:srgbClr val="CC0000"/>
                </a:solidFill>
                <a:latin typeface="Calibri"/>
              </a:defRPr>
            </a:pPr>
            <a:r>
              <a:t>"…offers them a new opportunity if the audience</a:t>
            </a:r>
            <a:br/>
            <a:r>
              <a:t> gets more interaction, additional touch points,</a:t>
            </a:r>
            <a:br/>
            <a:r>
              <a:t> direct transactions, and data gathering…"</a:t>
            </a:r>
          </a:p>
        </p:txBody>
      </p:sp>
      <p:sp>
        <p:nvSpPr>
          <p:cNvPr id="10" name="TextBox 9"/>
          <p:cNvSpPr txBox="1"/>
          <p:nvPr/>
        </p:nvSpPr>
        <p:spPr>
          <a:xfrm>
            <a:off x="5943600" y="1417320"/>
            <a:ext cx="640080" cy="457200"/>
          </a:xfrm>
          <a:prstGeom prst="rect">
            <a:avLst/>
          </a:prstGeom>
          <a:noFill/>
        </p:spPr>
        <p:txBody>
          <a:bodyPr wrap="square">
            <a:spAutoFit/>
          </a:bodyPr>
          <a:lstStyle/>
          <a:p>
            <a:pPr algn="ctr">
              <a:defRPr sz="4000" b="1" i="0">
                <a:solidFill>
                  <a:srgbClr val="008040"/>
                </a:solidFill>
                <a:latin typeface="Calibri"/>
              </a:defRPr>
            </a:pPr>
            <a:r>
              <a:t>↓</a:t>
            </a:r>
          </a:p>
        </p:txBody>
      </p:sp>
      <p:sp>
        <p:nvSpPr>
          <p:cNvPr id="11" name="TextBox 10"/>
          <p:cNvSpPr txBox="1"/>
          <p:nvPr/>
        </p:nvSpPr>
        <p:spPr>
          <a:xfrm>
            <a:off x="640080" y="3474720"/>
            <a:ext cx="5029200" cy="365760"/>
          </a:xfrm>
          <a:prstGeom prst="rect">
            <a:avLst/>
          </a:prstGeom>
          <a:noFill/>
        </p:spPr>
        <p:txBody>
          <a:bodyPr wrap="square">
            <a:spAutoFit/>
          </a:bodyPr>
          <a:lstStyle/>
          <a:p>
            <a:pPr algn="l">
              <a:defRPr sz="1400" b="1" i="0">
                <a:solidFill>
                  <a:srgbClr val="008040"/>
                </a:solidFill>
                <a:latin typeface="Calibri"/>
              </a:defRPr>
            </a:pPr>
            <a:r>
              <a:t>AFTER (clean rewrite):</a:t>
            </a:r>
          </a:p>
        </p:txBody>
      </p:sp>
      <p:sp>
        <p:nvSpPr>
          <p:cNvPr id="12" name="Rectangle 11"/>
          <p:cNvSpPr/>
          <p:nvPr/>
        </p:nvSpPr>
        <p:spPr>
          <a:xfrm>
            <a:off x="640080" y="3840480"/>
            <a:ext cx="5029200" cy="1005840"/>
          </a:xfrm>
          <a:prstGeom prst="rect">
            <a:avLst/>
          </a:prstGeom>
          <a:solidFill>
            <a:srgbClr val="F0FAF0"/>
          </a:solidFill>
          <a:ln w="19050">
            <a:solidFill>
              <a:srgbClr val="0080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200" b="1" i="1">
                <a:solidFill>
                  <a:srgbClr val="008040"/>
                </a:solidFill>
                <a:latin typeface="Calibri"/>
              </a:defRPr>
            </a:pPr>
            <a:r>
              <a:t>"The second screen allows audiences to interact</a:t>
            </a:r>
            <a:br/>
            <a:r>
              <a:t> more through 'additional touch points, direct</a:t>
            </a:r>
            <a:br/>
            <a:r>
              <a:t> transactions, and data gathering' (Cunningham</a:t>
            </a:r>
            <a:br/>
            <a:r>
              <a:t> and Eastin, 2015, p.289)."</a:t>
            </a:r>
          </a:p>
        </p:txBody>
      </p:sp>
      <p:sp>
        <p:nvSpPr>
          <p:cNvPr id="13" name="TextBox 12"/>
          <p:cNvSpPr txBox="1"/>
          <p:nvPr/>
        </p:nvSpPr>
        <p:spPr>
          <a:xfrm>
            <a:off x="6400800" y="2011680"/>
            <a:ext cx="5029200" cy="457200"/>
          </a:xfrm>
          <a:prstGeom prst="rect">
            <a:avLst/>
          </a:prstGeom>
          <a:noFill/>
        </p:spPr>
        <p:txBody>
          <a:bodyPr wrap="square">
            <a:spAutoFit/>
          </a:bodyPr>
          <a:lstStyle/>
          <a:p>
            <a:pPr algn="l">
              <a:defRPr sz="1600" b="1" i="0">
                <a:solidFill>
                  <a:srgbClr val="008040"/>
                </a:solidFill>
                <a:latin typeface="Calibri"/>
              </a:defRPr>
            </a:pPr>
            <a:r>
              <a:t>What was fixed:</a:t>
            </a:r>
          </a:p>
        </p:txBody>
      </p:sp>
      <p:sp>
        <p:nvSpPr>
          <p:cNvPr id="14" name="TextBox 13"/>
          <p:cNvSpPr txBox="1"/>
          <p:nvPr/>
        </p:nvSpPr>
        <p:spPr>
          <a:xfrm>
            <a:off x="6400800" y="2468880"/>
            <a:ext cx="5029200" cy="365760"/>
          </a:xfrm>
          <a:prstGeom prst="rect">
            <a:avLst/>
          </a:prstGeom>
          <a:noFill/>
        </p:spPr>
        <p:txBody>
          <a:bodyPr wrap="square">
            <a:spAutoFit/>
          </a:bodyPr>
          <a:lstStyle/>
          <a:p>
            <a:pPr algn="l">
              <a:defRPr sz="1400" b="1" i="0">
                <a:solidFill>
                  <a:srgbClr val="008040"/>
                </a:solidFill>
                <a:latin typeface="Calibri"/>
              </a:defRPr>
            </a:pPr>
            <a:r>
              <a:t>  ✅  "offers new opportunity if" → "allows audiences to"</a:t>
            </a:r>
          </a:p>
        </p:txBody>
      </p:sp>
      <p:sp>
        <p:nvSpPr>
          <p:cNvPr id="15" name="TextBox 14"/>
          <p:cNvSpPr txBox="1"/>
          <p:nvPr/>
        </p:nvSpPr>
        <p:spPr>
          <a:xfrm>
            <a:off x="6400800" y="2971800"/>
            <a:ext cx="5029200" cy="365760"/>
          </a:xfrm>
          <a:prstGeom prst="rect">
            <a:avLst/>
          </a:prstGeom>
          <a:noFill/>
        </p:spPr>
        <p:txBody>
          <a:bodyPr wrap="square">
            <a:spAutoFit/>
          </a:bodyPr>
          <a:lstStyle/>
          <a:p>
            <a:pPr algn="l">
              <a:defRPr sz="1400" b="1" i="0">
                <a:solidFill>
                  <a:srgbClr val="008040"/>
                </a:solidFill>
                <a:latin typeface="Calibri"/>
              </a:defRPr>
            </a:pPr>
            <a:r>
              <a:t>  ✅  Fixed terms in quotes: "...touch points, direct…"</a:t>
            </a:r>
          </a:p>
        </p:txBody>
      </p:sp>
      <p:sp>
        <p:nvSpPr>
          <p:cNvPr id="16" name="TextBox 15"/>
          <p:cNvSpPr txBox="1"/>
          <p:nvPr/>
        </p:nvSpPr>
        <p:spPr>
          <a:xfrm>
            <a:off x="6400800" y="3474720"/>
            <a:ext cx="5029200" cy="365760"/>
          </a:xfrm>
          <a:prstGeom prst="rect">
            <a:avLst/>
          </a:prstGeom>
          <a:noFill/>
        </p:spPr>
        <p:txBody>
          <a:bodyPr wrap="square">
            <a:spAutoFit/>
          </a:bodyPr>
          <a:lstStyle/>
          <a:p>
            <a:pPr algn="l">
              <a:defRPr sz="1400" b="1" i="0">
                <a:solidFill>
                  <a:srgbClr val="008040"/>
                </a:solidFill>
                <a:latin typeface="Calibri"/>
              </a:defRPr>
            </a:pPr>
            <a:r>
              <a:t>  ✅  Added citation with page: (Author, Year, p.289)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1277295" cy="365760"/>
          </a:xfrm>
          <a:prstGeom prst="rect">
            <a:avLst/>
          </a:prstGeom>
          <a:noFill/>
        </p:spPr>
        <p:txBody>
          <a:bodyPr wrap="square">
            <a:spAutoFit/>
          </a:bodyPr>
          <a:lstStyle/>
          <a:p>
            <a:pPr algn="l">
              <a:defRPr sz="1600" b="1" i="0">
                <a:solidFill>
                  <a:srgbClr val="502379"/>
                </a:solidFill>
                <a:latin typeface="Calibri"/>
              </a:defRPr>
            </a:pPr>
            <a:r>
              <a:t>Can't rephrase? → quote it + cite with page number.</a:t>
            </a:r>
          </a:p>
        </p:txBody>
      </p:sp>
      <p:sp>
        <p:nvSpPr>
          <p:cNvPr id="5" name="TextBox 4"/>
          <p:cNvSpPr txBox="1"/>
          <p:nvPr/>
        </p:nvSpPr>
        <p:spPr>
          <a:xfrm>
            <a:off x="11551615" y="6400800"/>
            <a:ext cx="457200" cy="365760"/>
          </a:xfrm>
          <a:prstGeom prst="rect">
            <a:avLst/>
          </a:prstGeom>
          <a:noFill/>
        </p:spPr>
        <p:txBody>
          <a:bodyPr wrap="square">
            <a:spAutoFit/>
          </a:bodyPr>
          <a:lstStyle/>
          <a:p>
            <a:pPr algn="r">
              <a:defRPr sz="1100" b="0" i="0">
                <a:solidFill>
                  <a:srgbClr val="502379"/>
                </a:solidFill>
                <a:latin typeface="Calibri"/>
              </a:defRPr>
            </a:pPr>
            <a:r>
              <a:t>7</a:t>
            </a:r>
          </a:p>
        </p:txBody>
      </p:sp>
      <p:sp>
        <p:nvSpPr>
          <p:cNvPr id="6" name="TextBox 5"/>
          <p:cNvSpPr txBox="1"/>
          <p:nvPr/>
        </p:nvSpPr>
        <p:spPr>
          <a:xfrm>
            <a:off x="640080" y="274320"/>
            <a:ext cx="10058400" cy="640080"/>
          </a:xfrm>
          <a:prstGeom prst="rect">
            <a:avLst/>
          </a:prstGeom>
          <a:noFill/>
        </p:spPr>
        <p:txBody>
          <a:bodyPr wrap="square">
            <a:spAutoFit/>
          </a:bodyPr>
          <a:lstStyle/>
          <a:p>
            <a:pPr algn="l">
              <a:defRPr sz="2600" b="1" i="0">
                <a:solidFill>
                  <a:srgbClr val="502379"/>
                </a:solidFill>
                <a:latin typeface="Calibri"/>
              </a:defRPr>
            </a:pPr>
            <a:r>
              <a:t>🔤  Problem 3 &amp; Fix: Fixed Terms → Use Quotation Marks</a:t>
            </a:r>
          </a:p>
        </p:txBody>
      </p:sp>
      <p:sp>
        <p:nvSpPr>
          <p:cNvPr id="7" name="TextBox 6"/>
          <p:cNvSpPr txBox="1"/>
          <p:nvPr/>
        </p:nvSpPr>
        <p:spPr>
          <a:xfrm>
            <a:off x="640080" y="1371600"/>
            <a:ext cx="5029200" cy="365760"/>
          </a:xfrm>
          <a:prstGeom prst="rect">
            <a:avLst/>
          </a:prstGeom>
          <a:noFill/>
        </p:spPr>
        <p:txBody>
          <a:bodyPr wrap="square">
            <a:spAutoFit/>
          </a:bodyPr>
          <a:lstStyle/>
          <a:p>
            <a:pPr algn="l">
              <a:defRPr sz="1500" b="1" i="0">
                <a:solidFill>
                  <a:srgbClr val="CC0000"/>
                </a:solidFill>
                <a:latin typeface="Calibri"/>
              </a:defRPr>
            </a:pPr>
            <a:r>
              <a:t>❌  Without quotes — it looks like your words:</a:t>
            </a:r>
          </a:p>
        </p:txBody>
      </p:sp>
      <p:sp>
        <p:nvSpPr>
          <p:cNvPr id="8" name="Rectangle 7"/>
          <p:cNvSpPr/>
          <p:nvPr/>
        </p:nvSpPr>
        <p:spPr>
          <a:xfrm>
            <a:off x="640080" y="1783080"/>
            <a:ext cx="5029200" cy="914400"/>
          </a:xfrm>
          <a:prstGeom prst="rect">
            <a:avLst/>
          </a:prstGeom>
          <a:solidFill>
            <a:srgbClr val="FFF0F0"/>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400" b="1" i="1">
                <a:solidFill>
                  <a:srgbClr val="CC0000"/>
                </a:solidFill>
                <a:latin typeface="Calibri"/>
              </a:defRPr>
            </a:pPr>
            <a:r>
              <a:t>…the second screen includes additional touch</a:t>
            </a:r>
            <a:br/>
            <a:r>
              <a:t> points, direct transactions, and data gathering.</a:t>
            </a:r>
          </a:p>
        </p:txBody>
      </p:sp>
      <p:sp>
        <p:nvSpPr>
          <p:cNvPr id="9" name="TextBox 8"/>
          <p:cNvSpPr txBox="1"/>
          <p:nvPr/>
        </p:nvSpPr>
        <p:spPr>
          <a:xfrm>
            <a:off x="640080" y="2926080"/>
            <a:ext cx="5029200" cy="365760"/>
          </a:xfrm>
          <a:prstGeom prst="rect">
            <a:avLst/>
          </a:prstGeom>
          <a:noFill/>
        </p:spPr>
        <p:txBody>
          <a:bodyPr wrap="square">
            <a:spAutoFit/>
          </a:bodyPr>
          <a:lstStyle/>
          <a:p>
            <a:pPr algn="l">
              <a:defRPr sz="1400" b="1" i="0">
                <a:solidFill>
                  <a:srgbClr val="CC0000"/>
                </a:solidFill>
                <a:latin typeface="Calibri"/>
              </a:defRPr>
            </a:pPr>
            <a:r>
              <a:t>Problem: These 3 terms are unique —</a:t>
            </a:r>
          </a:p>
        </p:txBody>
      </p:sp>
      <p:sp>
        <p:nvSpPr>
          <p:cNvPr id="10" name="TextBox 9"/>
          <p:cNvSpPr txBox="1"/>
          <p:nvPr/>
        </p:nvSpPr>
        <p:spPr>
          <a:xfrm>
            <a:off x="640080" y="3246120"/>
            <a:ext cx="5029200" cy="365760"/>
          </a:xfrm>
          <a:prstGeom prst="rect">
            <a:avLst/>
          </a:prstGeom>
          <a:noFill/>
        </p:spPr>
        <p:txBody>
          <a:bodyPr wrap="square">
            <a:spAutoFit/>
          </a:bodyPr>
          <a:lstStyle/>
          <a:p>
            <a:pPr algn="l">
              <a:defRPr sz="1400" b="1" i="0">
                <a:solidFill>
                  <a:srgbClr val="CC0000"/>
                </a:solidFill>
                <a:latin typeface="Calibri"/>
              </a:defRPr>
            </a:pPr>
            <a:r>
              <a:t>not your words, but no quotes → plagiarism</a:t>
            </a:r>
          </a:p>
        </p:txBody>
      </p:sp>
      <p:sp>
        <p:nvSpPr>
          <p:cNvPr id="11" name="TextBox 10"/>
          <p:cNvSpPr txBox="1"/>
          <p:nvPr/>
        </p:nvSpPr>
        <p:spPr>
          <a:xfrm>
            <a:off x="5760720" y="2011680"/>
            <a:ext cx="640080" cy="640080"/>
          </a:xfrm>
          <a:prstGeom prst="rect">
            <a:avLst/>
          </a:prstGeom>
          <a:noFill/>
        </p:spPr>
        <p:txBody>
          <a:bodyPr wrap="square">
            <a:spAutoFit/>
          </a:bodyPr>
          <a:lstStyle/>
          <a:p>
            <a:pPr algn="ctr">
              <a:defRPr sz="4800" b="1" i="0">
                <a:solidFill>
                  <a:srgbClr val="008040"/>
                </a:solidFill>
                <a:latin typeface="Calibri"/>
              </a:defRPr>
            </a:pPr>
            <a:r>
              <a:t>→</a:t>
            </a:r>
          </a:p>
        </p:txBody>
      </p:sp>
      <p:sp>
        <p:nvSpPr>
          <p:cNvPr id="12" name="TextBox 11"/>
          <p:cNvSpPr txBox="1"/>
          <p:nvPr/>
        </p:nvSpPr>
        <p:spPr>
          <a:xfrm>
            <a:off x="6400800" y="1371600"/>
            <a:ext cx="5029200" cy="365760"/>
          </a:xfrm>
          <a:prstGeom prst="rect">
            <a:avLst/>
          </a:prstGeom>
          <a:noFill/>
        </p:spPr>
        <p:txBody>
          <a:bodyPr wrap="square">
            <a:spAutoFit/>
          </a:bodyPr>
          <a:lstStyle/>
          <a:p>
            <a:pPr algn="l">
              <a:defRPr sz="1500" b="1" i="0">
                <a:solidFill>
                  <a:srgbClr val="008040"/>
                </a:solidFill>
                <a:latin typeface="Calibri"/>
              </a:defRPr>
            </a:pPr>
            <a:r>
              <a:t>✅  With quotes + citation + page number:</a:t>
            </a:r>
          </a:p>
        </p:txBody>
      </p:sp>
      <p:sp>
        <p:nvSpPr>
          <p:cNvPr id="13" name="Rectangle 12"/>
          <p:cNvSpPr/>
          <p:nvPr/>
        </p:nvSpPr>
        <p:spPr>
          <a:xfrm>
            <a:off x="6400800" y="1783080"/>
            <a:ext cx="5029200" cy="914400"/>
          </a:xfrm>
          <a:prstGeom prst="rect">
            <a:avLst/>
          </a:prstGeom>
          <a:solidFill>
            <a:srgbClr val="F0FAF0"/>
          </a:solidFill>
          <a:ln w="19050">
            <a:solidFill>
              <a:srgbClr val="00804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ctr">
              <a:defRPr sz="1400" b="1" i="1">
                <a:solidFill>
                  <a:srgbClr val="008040"/>
                </a:solidFill>
                <a:latin typeface="Calibri"/>
              </a:defRPr>
            </a:pPr>
            <a:r>
              <a:t>…including 'additional touch points, direct</a:t>
            </a:r>
            <a:br/>
            <a:r>
              <a:t> transactions, and data gathering' (Cunningham</a:t>
            </a:r>
            <a:br/>
            <a:r>
              <a:t> and Eastin, 2015, p.289).</a:t>
            </a:r>
          </a:p>
        </p:txBody>
      </p:sp>
      <p:sp>
        <p:nvSpPr>
          <p:cNvPr id="14" name="TextBox 13"/>
          <p:cNvSpPr txBox="1"/>
          <p:nvPr/>
        </p:nvSpPr>
        <p:spPr>
          <a:xfrm>
            <a:off x="6400800" y="2926080"/>
            <a:ext cx="5029200" cy="365760"/>
          </a:xfrm>
          <a:prstGeom prst="rect">
            <a:avLst/>
          </a:prstGeom>
          <a:noFill/>
        </p:spPr>
        <p:txBody>
          <a:bodyPr wrap="square">
            <a:spAutoFit/>
          </a:bodyPr>
          <a:lstStyle/>
          <a:p>
            <a:pPr algn="l">
              <a:defRPr sz="1400" b="1" i="0">
                <a:solidFill>
                  <a:srgbClr val="008040"/>
                </a:solidFill>
                <a:latin typeface="Calibri"/>
              </a:defRPr>
            </a:pPr>
            <a:r>
              <a:t>Rule:</a:t>
            </a:r>
          </a:p>
        </p:txBody>
      </p:sp>
      <p:sp>
        <p:nvSpPr>
          <p:cNvPr id="15" name="TextBox 14"/>
          <p:cNvSpPr txBox="1"/>
          <p:nvPr/>
        </p:nvSpPr>
        <p:spPr>
          <a:xfrm>
            <a:off x="6400800" y="3246120"/>
            <a:ext cx="5029200" cy="365760"/>
          </a:xfrm>
          <a:prstGeom prst="rect">
            <a:avLst/>
          </a:prstGeom>
          <a:noFill/>
        </p:spPr>
        <p:txBody>
          <a:bodyPr wrap="square">
            <a:spAutoFit/>
          </a:bodyPr>
          <a:lstStyle/>
          <a:p>
            <a:pPr algn="l">
              <a:defRPr sz="1800" b="1" i="0">
                <a:solidFill>
                  <a:srgbClr val="008040"/>
                </a:solidFill>
                <a:latin typeface="Calibri"/>
              </a:defRPr>
            </a:pPr>
            <a:r>
              <a:t>Paraphrase first. If impossible → quote.</a:t>
            </a:r>
          </a:p>
        </p:txBody>
      </p:sp>
      <p:sp>
        <p:nvSpPr>
          <p:cNvPr id="16" name="TextBox 15"/>
          <p:cNvSpPr txBox="1"/>
          <p:nvPr/>
        </p:nvSpPr>
        <p:spPr>
          <a:xfrm>
            <a:off x="6400800" y="3657600"/>
            <a:ext cx="5029200" cy="365760"/>
          </a:xfrm>
          <a:prstGeom prst="rect">
            <a:avLst/>
          </a:prstGeom>
          <a:noFill/>
        </p:spPr>
        <p:txBody>
          <a:bodyPr wrap="square">
            <a:spAutoFit/>
          </a:bodyPr>
          <a:lstStyle/>
          <a:p>
            <a:pPr algn="l">
              <a:defRPr sz="1600" b="1" i="0">
                <a:solidFill>
                  <a:srgbClr val="008040"/>
                </a:solidFill>
                <a:latin typeface="Calibri"/>
              </a:defRPr>
            </a:pPr>
            <a:r>
              <a:t>Quote = '...' + (Author, Year, p.X)</a:t>
            </a:r>
          </a:p>
        </p:txBody>
      </p:sp>
      <p:sp>
        <p:nvSpPr>
          <p:cNvPr id="17" name="TextBox 16"/>
          <p:cNvSpPr txBox="1"/>
          <p:nvPr/>
        </p:nvSpPr>
        <p:spPr>
          <a:xfrm>
            <a:off x="640080" y="4480560"/>
            <a:ext cx="10972800" cy="457200"/>
          </a:xfrm>
          <a:prstGeom prst="rect">
            <a:avLst/>
          </a:prstGeom>
          <a:noFill/>
        </p:spPr>
        <p:txBody>
          <a:bodyPr wrap="square">
            <a:spAutoFit/>
          </a:bodyPr>
          <a:lstStyle/>
          <a:p>
            <a:pPr algn="l">
              <a:defRPr sz="1400" b="1" i="0">
                <a:solidFill>
                  <a:srgbClr val="E07A00"/>
                </a:solidFill>
                <a:latin typeface="Calibri"/>
              </a:defRPr>
            </a:pPr>
            <a:r>
              <a:t>⚠️  KEEP QUOTATION MARKS RARE — 1 per paragraph at most. The rest must be YOUR paraphrase.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91695" cy="54864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11277295" cy="365760"/>
          </a:xfrm>
          <a:prstGeom prst="rect">
            <a:avLst/>
          </a:prstGeom>
          <a:noFill/>
        </p:spPr>
        <p:txBody>
          <a:bodyPr wrap="square">
            <a:spAutoFit/>
          </a:bodyPr>
          <a:lstStyle/>
          <a:p>
            <a:pPr algn="l">
              <a:defRPr sz="1600" b="1" i="0">
                <a:solidFill>
                  <a:srgbClr val="502379"/>
                </a:solidFill>
                <a:latin typeface="Calibri"/>
              </a:defRPr>
            </a:pPr>
            <a:r>
              <a:t>Proofreading = the difference between passing and failing</a:t>
            </a:r>
          </a:p>
        </p:txBody>
      </p:sp>
      <p:sp>
        <p:nvSpPr>
          <p:cNvPr id="5" name="TextBox 4"/>
          <p:cNvSpPr txBox="1"/>
          <p:nvPr/>
        </p:nvSpPr>
        <p:spPr>
          <a:xfrm>
            <a:off x="11551615" y="6400800"/>
            <a:ext cx="457200" cy="365760"/>
          </a:xfrm>
          <a:prstGeom prst="rect">
            <a:avLst/>
          </a:prstGeom>
          <a:noFill/>
        </p:spPr>
        <p:txBody>
          <a:bodyPr wrap="square">
            <a:spAutoFit/>
          </a:bodyPr>
          <a:lstStyle/>
          <a:p>
            <a:pPr algn="r">
              <a:defRPr sz="1100" b="0" i="0">
                <a:solidFill>
                  <a:srgbClr val="502379"/>
                </a:solidFill>
                <a:latin typeface="Calibri"/>
              </a:defRPr>
            </a:pPr>
            <a:r>
              <a:t>8</a:t>
            </a:r>
          </a:p>
        </p:txBody>
      </p:sp>
      <p:sp>
        <p:nvSpPr>
          <p:cNvPr id="6" name="TextBox 5"/>
          <p:cNvSpPr txBox="1"/>
          <p:nvPr/>
        </p:nvSpPr>
        <p:spPr>
          <a:xfrm>
            <a:off x="640080" y="274320"/>
            <a:ext cx="10058400" cy="640080"/>
          </a:xfrm>
          <a:prstGeom prst="rect">
            <a:avLst/>
          </a:prstGeom>
          <a:noFill/>
        </p:spPr>
        <p:txBody>
          <a:bodyPr wrap="square">
            <a:spAutoFit/>
          </a:bodyPr>
          <a:lstStyle/>
          <a:p>
            <a:pPr algn="l">
              <a:defRPr sz="2600" b="1" i="0">
                <a:solidFill>
                  <a:srgbClr val="502379"/>
                </a:solidFill>
                <a:latin typeface="Calibri"/>
              </a:defRPr>
            </a:pPr>
            <a:r>
              <a:t>Proofreading: Final Check</a:t>
            </a:r>
          </a:p>
        </p:txBody>
      </p:sp>
      <p:sp>
        <p:nvSpPr>
          <p:cNvPr id="7" name="Oval 6"/>
          <p:cNvSpPr/>
          <p:nvPr/>
        </p:nvSpPr>
        <p:spPr>
          <a:xfrm>
            <a:off x="1097280" y="1554480"/>
            <a:ext cx="1188720" cy="1188720"/>
          </a:xfrm>
          <a:prstGeom prst="ellipse">
            <a:avLst/>
          </a:prstGeom>
          <a:solidFill>
            <a:srgbClr val="F5F0FA"/>
          </a:solidFill>
          <a:ln w="12700">
            <a:solidFill>
              <a:srgbClr val="5023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8" name="TextBox 7"/>
          <p:cNvSpPr txBox="1"/>
          <p:nvPr/>
        </p:nvSpPr>
        <p:spPr>
          <a:xfrm>
            <a:off x="731520" y="2926080"/>
            <a:ext cx="1920240" cy="365760"/>
          </a:xfrm>
          <a:prstGeom prst="rect">
            <a:avLst/>
          </a:prstGeom>
          <a:noFill/>
        </p:spPr>
        <p:txBody>
          <a:bodyPr wrap="square">
            <a:spAutoFit/>
          </a:bodyPr>
          <a:lstStyle/>
          <a:p>
            <a:pPr algn="ctr">
              <a:defRPr sz="1400" b="1" i="0">
                <a:solidFill>
                  <a:srgbClr val="502379"/>
                </a:solidFill>
                <a:latin typeface="Calibri"/>
              </a:defRPr>
            </a:pPr>
            <a:r>
              <a:t>Spelling &amp; grammar</a:t>
            </a:r>
          </a:p>
        </p:txBody>
      </p:sp>
      <p:sp>
        <p:nvSpPr>
          <p:cNvPr id="9" name="TextBox 8"/>
          <p:cNvSpPr txBox="1"/>
          <p:nvPr/>
        </p:nvSpPr>
        <p:spPr>
          <a:xfrm>
            <a:off x="731520" y="3291840"/>
            <a:ext cx="1920240" cy="365760"/>
          </a:xfrm>
          <a:prstGeom prst="rect">
            <a:avLst/>
          </a:prstGeom>
          <a:noFill/>
        </p:spPr>
        <p:txBody>
          <a:bodyPr wrap="square">
            <a:spAutoFit/>
          </a:bodyPr>
          <a:lstStyle/>
          <a:p>
            <a:pPr algn="ctr">
              <a:defRPr sz="1200" b="1" i="0">
                <a:solidFill>
                  <a:srgbClr val="808080"/>
                </a:solidFill>
                <a:latin typeface="Calibri"/>
              </a:defRPr>
            </a:pPr>
            <a:r>
              <a:t>Every sentence</a:t>
            </a:r>
          </a:p>
        </p:txBody>
      </p:sp>
      <p:sp>
        <p:nvSpPr>
          <p:cNvPr id="10" name="Oval 9"/>
          <p:cNvSpPr/>
          <p:nvPr/>
        </p:nvSpPr>
        <p:spPr>
          <a:xfrm>
            <a:off x="3337560" y="1554480"/>
            <a:ext cx="1188720" cy="1188720"/>
          </a:xfrm>
          <a:prstGeom prst="ellipse">
            <a:avLst/>
          </a:prstGeom>
          <a:solidFill>
            <a:srgbClr val="F5F0FA"/>
          </a:solidFill>
          <a:ln w="12700">
            <a:solidFill>
              <a:srgbClr val="5023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11" name="TextBox 10"/>
          <p:cNvSpPr txBox="1"/>
          <p:nvPr/>
        </p:nvSpPr>
        <p:spPr>
          <a:xfrm>
            <a:off x="2971800" y="2926080"/>
            <a:ext cx="1920240" cy="365760"/>
          </a:xfrm>
          <a:prstGeom prst="rect">
            <a:avLst/>
          </a:prstGeom>
          <a:noFill/>
        </p:spPr>
        <p:txBody>
          <a:bodyPr wrap="square">
            <a:spAutoFit/>
          </a:bodyPr>
          <a:lstStyle/>
          <a:p>
            <a:pPr algn="ctr">
              <a:defRPr sz="1400" b="1" i="0">
                <a:solidFill>
                  <a:srgbClr val="502379"/>
                </a:solidFill>
                <a:latin typeface="Calibri"/>
              </a:defRPr>
            </a:pPr>
            <a:r>
              <a:t>Citations</a:t>
            </a:r>
          </a:p>
        </p:txBody>
      </p:sp>
      <p:sp>
        <p:nvSpPr>
          <p:cNvPr id="12" name="TextBox 11"/>
          <p:cNvSpPr txBox="1"/>
          <p:nvPr/>
        </p:nvSpPr>
        <p:spPr>
          <a:xfrm>
            <a:off x="2971800" y="3291840"/>
            <a:ext cx="1920240" cy="365760"/>
          </a:xfrm>
          <a:prstGeom prst="rect">
            <a:avLst/>
          </a:prstGeom>
          <a:noFill/>
        </p:spPr>
        <p:txBody>
          <a:bodyPr wrap="square">
            <a:spAutoFit/>
          </a:bodyPr>
          <a:lstStyle/>
          <a:p>
            <a:pPr algn="ctr">
              <a:defRPr sz="1200" b="1" i="0">
                <a:solidFill>
                  <a:srgbClr val="808080"/>
                </a:solidFill>
                <a:latin typeface="Calibri"/>
              </a:defRPr>
            </a:pPr>
            <a:r>
              <a:t>Format + page numbers</a:t>
            </a:r>
          </a:p>
        </p:txBody>
      </p:sp>
      <p:sp>
        <p:nvSpPr>
          <p:cNvPr id="13" name="Oval 12"/>
          <p:cNvSpPr/>
          <p:nvPr/>
        </p:nvSpPr>
        <p:spPr>
          <a:xfrm>
            <a:off x="5577840" y="1554480"/>
            <a:ext cx="1188720" cy="1188720"/>
          </a:xfrm>
          <a:prstGeom prst="ellipse">
            <a:avLst/>
          </a:prstGeom>
          <a:solidFill>
            <a:srgbClr val="F5F0FA"/>
          </a:solidFill>
          <a:ln w="12700">
            <a:solidFill>
              <a:srgbClr val="5023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14" name="TextBox 13"/>
          <p:cNvSpPr txBox="1"/>
          <p:nvPr/>
        </p:nvSpPr>
        <p:spPr>
          <a:xfrm>
            <a:off x="5212080" y="2926080"/>
            <a:ext cx="1920240" cy="365760"/>
          </a:xfrm>
          <a:prstGeom prst="rect">
            <a:avLst/>
          </a:prstGeom>
          <a:noFill/>
        </p:spPr>
        <p:txBody>
          <a:bodyPr wrap="square">
            <a:spAutoFit/>
          </a:bodyPr>
          <a:lstStyle/>
          <a:p>
            <a:pPr algn="ctr">
              <a:defRPr sz="1400" b="1" i="0">
                <a:solidFill>
                  <a:srgbClr val="502379"/>
                </a:solidFill>
                <a:latin typeface="Calibri"/>
              </a:defRPr>
            </a:pPr>
            <a:r>
              <a:t>Read aloud</a:t>
            </a:r>
          </a:p>
        </p:txBody>
      </p:sp>
      <p:sp>
        <p:nvSpPr>
          <p:cNvPr id="15" name="TextBox 14"/>
          <p:cNvSpPr txBox="1"/>
          <p:nvPr/>
        </p:nvSpPr>
        <p:spPr>
          <a:xfrm>
            <a:off x="5212080" y="3291840"/>
            <a:ext cx="1920240" cy="365760"/>
          </a:xfrm>
          <a:prstGeom prst="rect">
            <a:avLst/>
          </a:prstGeom>
          <a:noFill/>
        </p:spPr>
        <p:txBody>
          <a:bodyPr wrap="square">
            <a:spAutoFit/>
          </a:bodyPr>
          <a:lstStyle/>
          <a:p>
            <a:pPr algn="ctr">
              <a:defRPr sz="1200" b="1" i="0">
                <a:solidFill>
                  <a:srgbClr val="808080"/>
                </a:solidFill>
                <a:latin typeface="Calibri"/>
              </a:defRPr>
            </a:pPr>
            <a:r>
              <a:t>Catch unnatural phrasing</a:t>
            </a:r>
          </a:p>
        </p:txBody>
      </p:sp>
      <p:sp>
        <p:nvSpPr>
          <p:cNvPr id="16" name="Oval 15"/>
          <p:cNvSpPr/>
          <p:nvPr/>
        </p:nvSpPr>
        <p:spPr>
          <a:xfrm>
            <a:off x="7818120" y="1554480"/>
            <a:ext cx="1188720" cy="1188720"/>
          </a:xfrm>
          <a:prstGeom prst="ellipse">
            <a:avLst/>
          </a:prstGeom>
          <a:solidFill>
            <a:srgbClr val="F5F0FA"/>
          </a:solidFill>
          <a:ln w="12700">
            <a:solidFill>
              <a:srgbClr val="5023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17" name="TextBox 16"/>
          <p:cNvSpPr txBox="1"/>
          <p:nvPr/>
        </p:nvSpPr>
        <p:spPr>
          <a:xfrm>
            <a:off x="7452360" y="2926080"/>
            <a:ext cx="1920240" cy="365760"/>
          </a:xfrm>
          <a:prstGeom prst="rect">
            <a:avLst/>
          </a:prstGeom>
          <a:noFill/>
        </p:spPr>
        <p:txBody>
          <a:bodyPr wrap="square">
            <a:spAutoFit/>
          </a:bodyPr>
          <a:lstStyle/>
          <a:p>
            <a:pPr algn="ctr">
              <a:defRPr sz="1400" b="1" i="0">
                <a:solidFill>
                  <a:srgbClr val="502379"/>
                </a:solidFill>
                <a:latin typeface="Calibri"/>
              </a:defRPr>
            </a:pPr>
            <a:r>
              <a:t>Turnitin check</a:t>
            </a:r>
          </a:p>
        </p:txBody>
      </p:sp>
      <p:sp>
        <p:nvSpPr>
          <p:cNvPr id="18" name="TextBox 17"/>
          <p:cNvSpPr txBox="1"/>
          <p:nvPr/>
        </p:nvSpPr>
        <p:spPr>
          <a:xfrm>
            <a:off x="7452360" y="3291840"/>
            <a:ext cx="1920240" cy="365760"/>
          </a:xfrm>
          <a:prstGeom prst="rect">
            <a:avLst/>
          </a:prstGeom>
          <a:noFill/>
        </p:spPr>
        <p:txBody>
          <a:bodyPr wrap="square">
            <a:spAutoFit/>
          </a:bodyPr>
          <a:lstStyle/>
          <a:p>
            <a:pPr algn="ctr">
              <a:defRPr sz="1200" b="1" i="0">
                <a:solidFill>
                  <a:srgbClr val="808080"/>
                </a:solidFill>
                <a:latin typeface="Calibri"/>
              </a:defRPr>
            </a:pPr>
            <a:r>
              <a:t>Pink = rewrite</a:t>
            </a:r>
          </a:p>
        </p:txBody>
      </p:sp>
      <p:sp>
        <p:nvSpPr>
          <p:cNvPr id="19" name="Oval 18"/>
          <p:cNvSpPr/>
          <p:nvPr/>
        </p:nvSpPr>
        <p:spPr>
          <a:xfrm>
            <a:off x="10058400" y="1554480"/>
            <a:ext cx="1188720" cy="1188720"/>
          </a:xfrm>
          <a:prstGeom prst="ellipse">
            <a:avLst/>
          </a:prstGeom>
          <a:solidFill>
            <a:srgbClr val="F5F0FA"/>
          </a:solidFill>
          <a:ln w="12700">
            <a:solidFill>
              <a:srgbClr val="5023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20" name="TextBox 19"/>
          <p:cNvSpPr txBox="1"/>
          <p:nvPr/>
        </p:nvSpPr>
        <p:spPr>
          <a:xfrm>
            <a:off x="9692640" y="2926080"/>
            <a:ext cx="1920240" cy="365760"/>
          </a:xfrm>
          <a:prstGeom prst="rect">
            <a:avLst/>
          </a:prstGeom>
          <a:noFill/>
        </p:spPr>
        <p:txBody>
          <a:bodyPr wrap="square">
            <a:spAutoFit/>
          </a:bodyPr>
          <a:lstStyle/>
          <a:p>
            <a:pPr algn="ctr">
              <a:defRPr sz="1400" b="1" i="0">
                <a:solidFill>
                  <a:srgbClr val="502379"/>
                </a:solidFill>
                <a:latin typeface="Calibri"/>
              </a:defRPr>
            </a:pPr>
            <a:r>
              <a:t>5 min buffer</a:t>
            </a:r>
          </a:p>
        </p:txBody>
      </p:sp>
      <p:sp>
        <p:nvSpPr>
          <p:cNvPr id="21" name="TextBox 20"/>
          <p:cNvSpPr txBox="1"/>
          <p:nvPr/>
        </p:nvSpPr>
        <p:spPr>
          <a:xfrm>
            <a:off x="9692640" y="3291840"/>
            <a:ext cx="1920240" cy="365760"/>
          </a:xfrm>
          <a:prstGeom prst="rect">
            <a:avLst/>
          </a:prstGeom>
          <a:noFill/>
        </p:spPr>
        <p:txBody>
          <a:bodyPr wrap="square">
            <a:spAutoFit/>
          </a:bodyPr>
          <a:lstStyle/>
          <a:p>
            <a:pPr algn="ctr">
              <a:defRPr sz="1200" b="1" i="0">
                <a:solidFill>
                  <a:srgbClr val="808080"/>
                </a:solidFill>
                <a:latin typeface="Calibri"/>
              </a:defRPr>
            </a:pPr>
            <a:r>
              <a:t>Fresh eyes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