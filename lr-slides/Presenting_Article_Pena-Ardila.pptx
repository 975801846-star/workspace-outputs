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914400"/>
            <a:ext cx="9418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400" b="1">
                <a:solidFill>
                  <a:srgbClr val="5B3A8C"/>
                </a:solidFill>
                <a:latin typeface="Segoe UI"/>
              </a:defRPr>
            </a:pPr>
            <a:r>
              <a:t>Transfer of Technical &amp; Tactical Skills</a:t>
            </a:r>
            <a:br/>
            <a:r>
              <a:t>from Futsal to Soccer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3774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200" b="0">
                <a:solidFill>
                  <a:srgbClr val="7E57C2"/>
                </a:solidFill>
                <a:latin typeface="Segoe UI"/>
              </a:defRPr>
            </a:pPr>
            <a:r>
              <a:t>A Systematic Review &amp; Meta-Analysis</a:t>
            </a:r>
            <a:br/>
            <a:r>
              <a:t>of the 'Donor Sport' Concept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383280"/>
            <a:ext cx="1828800" cy="36576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6576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999999"/>
                </a:solidFill>
                <a:latin typeface="Segoe UI"/>
              </a:defRPr>
            </a:pPr>
            <a:r>
              <a:t>Peña-Ardila, E.F. (2026) · Perceptual and Motor Skills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1524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630936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999999"/>
                </a:solidFill>
                <a:latin typeface="Segoe UI"/>
              </a:defRPr>
            </a:pPr>
            <a:r>
              <a:t>Analyst: HONGXIAN AN  |  Pre-sessional Programme  |  Presenting an Article  |  Week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5B3A8C"/>
                </a:solidFill>
                <a:latin typeface="Segoe UI"/>
              </a:defRPr>
            </a:pPr>
            <a:r>
              <a:t>Why Is This Topic Interesting?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3200400" cy="1524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7E57C2"/>
                </a:solidFill>
                <a:latin typeface="Segoe UI"/>
              </a:defRPr>
            </a:pPr>
            <a:r>
              <a:t>Global relevance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2D2240"/>
                </a:solidFill>
                <a:latin typeface="Segoe UI"/>
              </a:defRPr>
            </a:pPr>
            <a:r>
              <a:t>Futsal = 60M+ participants worldwide (FIFA)</a:t>
            </a:r>
            <a:br/>
            <a:r>
              <a:t>Brazilian greats — Pelé, Ronaldinho, Neymar — all credit futsal background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880360"/>
            <a:ext cx="9601200" cy="762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1546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7E57C2"/>
                </a:solidFill>
                <a:latin typeface="Segoe UI"/>
              </a:defRPr>
            </a:pPr>
            <a:r>
              <a:t>Concept widely believed, rarely tested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2D2240"/>
                </a:solidFill>
                <a:latin typeface="Segoe UI"/>
              </a:defRPr>
            </a:pPr>
            <a:r>
              <a:t>Donor sport idea used in coaching for decades</a:t>
            </a:r>
            <a:br/>
            <a:r>
              <a:t>But empirical evidence is fragmented — this review tests it with numbers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4572000"/>
            <a:ext cx="9601200" cy="762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846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7E57C2"/>
                </a:solidFill>
                <a:latin typeface="Segoe UI"/>
              </a:defRPr>
            </a:pPr>
            <a:r>
              <a:t>Talent development stakes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30352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2D2240"/>
                </a:solidFill>
                <a:latin typeface="Segoe UI"/>
              </a:defRPr>
            </a:pPr>
            <a:r>
              <a:t>Early diversification vs. early specialization debate</a:t>
            </a:r>
            <a:br/>
            <a:r>
              <a:t>Practical guidance coaches need — what transfers, what doesn't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5B3A8C"/>
                </a:solidFill>
                <a:latin typeface="Segoe UI"/>
              </a:defRPr>
            </a:pPr>
            <a:r>
              <a:t>How Was It Done?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3200400" cy="1524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2D2240"/>
                </a:solidFill>
                <a:latin typeface="Segoe UI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Guideline: PRISMA 2020</a:t>
            </a:r>
          </a:p>
          <a:p>
            <a:pPr>
              <a:spcAft>
                <a:spcPts val="6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Databases: Scopus · ScienceDirect · Web of Science</a:t>
            </a:r>
          </a:p>
          <a:p>
            <a:pPr>
              <a:spcAft>
                <a:spcPts val="6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Screening: 780 → 683 (dedup) → 38 (full-text) → 7 studies</a:t>
            </a:r>
          </a:p>
          <a:p>
            <a:pPr>
              <a:spcAft>
                <a:spcPts val="6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Criteria: PICO(S) — population, intervention, comparison, outcome</a:t>
            </a:r>
          </a:p>
          <a:p>
            <a:pPr>
              <a:spcAft>
                <a:spcPts val="6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Analysis: Random-effects meta-analysis · Hedges' g · I²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7E57C2"/>
                </a:solidFill>
                <a:latin typeface="Segoe UI"/>
              </a:defRPr>
            </a:pPr>
            <a:r>
              <a:t>Key Numbers at a Glance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011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999999"/>
                </a:solidFill>
                <a:latin typeface="Segoe UI"/>
              </a:defRPr>
            </a:pPr>
            <a:r>
              <a:t>SMD (Effect Size)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331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2E7D32"/>
                </a:solidFill>
                <a:latin typeface="Segoe UI"/>
              </a:defRPr>
            </a:pPr>
            <a:r>
              <a:t>1.43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D2240"/>
                </a:solidFill>
                <a:latin typeface="Segoe UI"/>
              </a:defRPr>
            </a:pPr>
            <a:r>
              <a:t>Very large — futsal ball &gt;&gt;&gt; normal ball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3337560"/>
            <a:ext cx="4572000" cy="635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3566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999999"/>
                </a:solidFill>
                <a:latin typeface="Segoe UI"/>
              </a:defRPr>
            </a:pPr>
            <a:r>
              <a:t>95% CI (Reliability)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886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E65100"/>
                </a:solidFill>
                <a:latin typeface="Segoe UI"/>
              </a:defRPr>
            </a:pPr>
            <a:r>
              <a:t>−0.16 ~ 3.03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4343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D2240"/>
                </a:solidFill>
                <a:latin typeface="Segoe UI"/>
              </a:defRPr>
            </a:pPr>
            <a:r>
              <a:t>Interval crosses zero — need more studies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4892040"/>
            <a:ext cx="4572000" cy="635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5120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999999"/>
                </a:solidFill>
                <a:latin typeface="Segoe UI"/>
              </a:defRPr>
            </a:pPr>
            <a:r>
              <a:t>I² (Agreement)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544067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7E57C2"/>
                </a:solidFill>
                <a:latin typeface="Segoe UI"/>
              </a:defRPr>
            </a:pPr>
            <a:r>
              <a:t>86.9%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589787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D2240"/>
                </a:solidFill>
                <a:latin typeface="Segoe UI"/>
              </a:defRPr>
            </a:pPr>
            <a:r>
              <a:t>Very high — methods differ → field still young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5B3A8C"/>
                </a:solidFill>
                <a:latin typeface="Segoe UI"/>
              </a:defRPr>
            </a:pPr>
            <a:r>
              <a:t>Three Main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3200400" cy="1524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100" b="1">
                <a:solidFill>
                  <a:srgbClr val="2E7D32"/>
                </a:solidFill>
                <a:latin typeface="Segoe UI"/>
              </a:defRPr>
            </a:pPr>
            <a:r>
              <a:t>✅  PASSING: Strong Transfer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874519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2D2240"/>
                </a:solidFill>
                <a:latin typeface="Segoe UI"/>
              </a:defRPr>
            </a:pPr>
            <a:r>
              <a:t>SMD = 1.43 — very large effect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221991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2D2240"/>
                </a:solidFill>
                <a:latin typeface="Segoe UI"/>
              </a:defRPr>
            </a:pPr>
            <a:r>
              <a:t>Low-bounce ball → easier control → frees attention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569463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2D2240"/>
                </a:solidFill>
                <a:latin typeface="Segoe UI"/>
              </a:defRPr>
            </a:pPr>
            <a:r>
              <a:t>Passing accuracy ↑ in soccer context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2971800"/>
            <a:ext cx="9601200" cy="635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1546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100" b="1">
                <a:solidFill>
                  <a:srgbClr val="E65100"/>
                </a:solidFill>
                <a:latin typeface="Segoe UI"/>
              </a:defRPr>
            </a:pPr>
            <a:r>
              <a:t>⚠️  SPEED &amp; AGILITY: Context-Dependent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657600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2D2240"/>
                </a:solidFill>
                <a:latin typeface="Segoe UI"/>
              </a:defRPr>
            </a:pPr>
            <a:r>
              <a:t>Field-based tests → futsal players FASTER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005072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2D2240"/>
                </a:solidFill>
                <a:latin typeface="Segoe UI"/>
              </a:defRPr>
            </a:pPr>
            <a:r>
              <a:t>Lab-based tests → futsal = or SLOWER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352544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2D2240"/>
                </a:solidFill>
                <a:latin typeface="Segoe UI"/>
              </a:defRPr>
            </a:pPr>
            <a:r>
              <a:t>Futsal trains perception-action coupling, NOT raw processing speed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4754880"/>
            <a:ext cx="9601200" cy="635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937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100" b="1">
                <a:solidFill>
                  <a:srgbClr val="C62828"/>
                </a:solidFill>
                <a:latin typeface="Segoe UI"/>
              </a:defRPr>
            </a:pPr>
            <a:r>
              <a:t>❌  DRIBBLING: Sport-Specific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5440680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2D2240"/>
                </a:solidFill>
                <a:latin typeface="Segoe UI"/>
              </a:defRPr>
            </a:pPr>
            <a:r>
              <a:t>Futsal: success = close distance + high velocity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5788152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2D2240"/>
                </a:solidFill>
                <a:latin typeface="Segoe UI"/>
              </a:defRPr>
            </a:pPr>
            <a:r>
              <a:t>Soccer: success = defender's reaction 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6135624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2D2240"/>
                </a:solidFill>
                <a:latin typeface="Segoe UI"/>
              </a:defRPr>
            </a:pPr>
            <a:r>
              <a:t>Different constraints → different solutions — NO automatic transfer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5B3A8C"/>
                </a:solidFill>
                <a:latin typeface="Segoe UI"/>
              </a:defRPr>
            </a:pPr>
            <a:r>
              <a:t>Additional Finding &amp; 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3200400" cy="1524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565C0"/>
                </a:solidFill>
                <a:latin typeface="Segoe UI"/>
              </a:defRPr>
            </a:pPr>
            <a:r>
              <a:t>🧠  COGNITIVE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Early futsal deliberate practice (6–12y, 13–15y)</a:t>
            </a:r>
          </a:p>
          <a:p>
            <a:pPr>
              <a:spcAft>
                <a:spcPts val="6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→ higher offensive decision-making quality in adulthood</a:t>
            </a:r>
          </a:p>
          <a:p>
            <a:pPr>
              <a:spcAft>
                <a:spcPts val="6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Machado et al. (2023, 2024)</a:t>
            </a:r>
          </a:p>
          <a:p>
            <a:pPr>
              <a:spcAft>
                <a:spcPts val="6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Brazilian professional female players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E65100"/>
                </a:solidFill>
                <a:latin typeface="Segoe UI"/>
              </a:defRPr>
            </a:pPr>
            <a:r>
              <a:t>⚠️ 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0116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D2240"/>
                </a:solidFill>
                <a:latin typeface="Segoe UI"/>
              </a:defRPr>
            </a:pPr>
            <a:r>
              <a:t>Small sample: only 7 studies</a:t>
            </a:r>
          </a:p>
          <a:p>
            <a:pPr>
              <a:spcAft>
                <a:spcPts val="600"/>
              </a:spcAft>
              <a:defRPr sz="1600">
                <a:solidFill>
                  <a:srgbClr val="2D2240"/>
                </a:solidFill>
                <a:latin typeface="Segoe UI"/>
              </a:defRPr>
            </a:pPr>
            <a:r>
              <a:t>Mostly cross-sectional — no longitudinal tracking</a:t>
            </a:r>
          </a:p>
          <a:p>
            <a:pPr>
              <a:spcAft>
                <a:spcPts val="600"/>
              </a:spcAft>
              <a:defRPr sz="1600">
                <a:solidFill>
                  <a:srgbClr val="2D2240"/>
                </a:solidFill>
                <a:latin typeface="Segoe UI"/>
              </a:defRPr>
            </a:pPr>
            <a:r>
              <a:t>Dose-response unknown: how much futsal is enough?</a:t>
            </a:r>
          </a:p>
          <a:p>
            <a:pPr>
              <a:spcAft>
                <a:spcPts val="600"/>
              </a:spcAft>
              <a:defRPr sz="1600">
                <a:solidFill>
                  <a:srgbClr val="2D2240"/>
                </a:solidFill>
                <a:latin typeface="Segoe UI"/>
              </a:defRPr>
            </a:pPr>
            <a:r>
              <a:t>Language restriction: EN / ES / PT only</a:t>
            </a:r>
          </a:p>
          <a:p>
            <a:pPr>
              <a:spcAft>
                <a:spcPts val="600"/>
              </a:spcAft>
              <a:defRPr sz="1600">
                <a:solidFill>
                  <a:srgbClr val="2D2240"/>
                </a:solidFill>
                <a:latin typeface="Segoe UI"/>
              </a:defRPr>
            </a:pPr>
            <a:r>
              <a:t>Inter-rater reliability not computed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1371600"/>
            <a:ext cx="13716" cy="411480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999999"/>
                </a:solidFill>
                <a:latin typeface="Segoe UI"/>
              </a:defRPr>
            </a:pPr>
            <a:r>
              <a:t>→ Authors openly acknowledge these gaps — this is where my LR can contribute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5B3A8C"/>
                </a:solidFill>
                <a:latin typeface="Segoe UI"/>
              </a:defRPr>
            </a:pPr>
            <a:r>
              <a:t>My View as a Coach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3200400" cy="1524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2E7D32"/>
                </a:solidFill>
                <a:latin typeface="Segoe UI"/>
              </a:defRPr>
            </a:pPr>
            <a:r>
              <a:t>✅  What I Can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Low-bounce ball in youth training</a:t>
            </a:r>
          </a:p>
          <a:p>
            <a:pPr>
              <a:spcAft>
                <a:spcPts val="6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Small-sided constraints → force quick decisions</a:t>
            </a:r>
          </a:p>
          <a:p>
            <a:pPr>
              <a:spcAft>
                <a:spcPts val="6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Early futsal exposure → talent development</a:t>
            </a:r>
          </a:p>
          <a:p>
            <a:pPr>
              <a:spcAft>
                <a:spcPts val="6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Field-based reactive agility tests (RVS-T), NOT lab 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C62828"/>
                </a:solidFill>
                <a:latin typeface="Segoe UI"/>
              </a:defRPr>
            </a:pPr>
            <a:r>
              <a:t>❓  Unanswered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19202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2D2240"/>
                </a:solidFill>
                <a:latin typeface="Segoe UI"/>
              </a:defRPr>
            </a:pPr>
            <a:r>
              <a:t>WHEN to introduce futsal? At what age?</a:t>
            </a:r>
          </a:p>
          <a:p>
            <a:pPr>
              <a:spcAft>
                <a:spcPts val="500"/>
              </a:spcAft>
              <a:defRPr sz="1500">
                <a:solidFill>
                  <a:srgbClr val="2D2240"/>
                </a:solidFill>
                <a:latin typeface="Segoe UI"/>
              </a:defRPr>
            </a:pPr>
            <a:r>
              <a:t>WHEN to transition to larger-sided games?</a:t>
            </a:r>
          </a:p>
          <a:p>
            <a:pPr>
              <a:spcAft>
                <a:spcPts val="500"/>
              </a:spcAft>
              <a:defRPr sz="1500">
                <a:solidFill>
                  <a:srgbClr val="2D2240"/>
                </a:solidFill>
                <a:latin typeface="Segoe UI"/>
              </a:defRPr>
            </a:pPr>
            <a:r>
              <a:t>Must low-bounce drills be INDOOR?</a:t>
            </a:r>
          </a:p>
          <a:p>
            <a:pPr>
              <a:spcAft>
                <a:spcPts val="500"/>
              </a:spcAft>
              <a:defRPr sz="1500">
                <a:solidFill>
                  <a:srgbClr val="2D2240"/>
                </a:solidFill>
                <a:latin typeface="Segoe UI"/>
              </a:defRPr>
            </a:pPr>
            <a:r>
              <a:t>Does GRASS FRICTION affect transfer?</a:t>
            </a:r>
          </a:p>
          <a:p>
            <a:pPr>
              <a:spcAft>
                <a:spcPts val="500"/>
              </a:spcAft>
              <a:defRPr sz="1500">
                <a:solidFill>
                  <a:srgbClr val="2D2240"/>
                </a:solidFill>
                <a:latin typeface="Segoe UI"/>
              </a:defRPr>
            </a:pPr>
            <a:r>
              <a:t>Weaknesses of adult futsal → 11-a-side?</a:t>
            </a:r>
          </a:p>
          <a:p>
            <a:pPr>
              <a:spcAft>
                <a:spcPts val="500"/>
              </a:spcAft>
              <a:defRPr sz="1500">
                <a:solidFill>
                  <a:srgbClr val="2D2240"/>
                </a:solidFill>
                <a:latin typeface="Segoe UI"/>
              </a:defRPr>
            </a:pPr>
            <a:r>
              <a:t>Offside awareness · long passing · goalkeeper transition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1371600"/>
            <a:ext cx="13716" cy="411480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5303520"/>
            <a:ext cx="10332720" cy="731520"/>
          </a:xfrm>
          <a:prstGeom prst="rect">
            <a:avLst/>
          </a:prstGeom>
          <a:solidFill>
            <a:srgbClr val="EDE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5394960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5B3A8C"/>
                </a:solidFill>
                <a:latin typeface="Segoe UI"/>
              </a:defRPr>
            </a:pPr>
            <a:r>
              <a:t>💡  Key gap: Almost NO research on NEGATIVE TRANSFER — does futsal create bad habits for football?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5B3A8C"/>
                </a:solidFill>
                <a:latin typeface="Segoe UI"/>
              </a:defRPr>
            </a:pPr>
            <a: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3200400" cy="1524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698480" cy="1371600"/>
          </a:xfrm>
          <a:prstGeom prst="rect">
            <a:avLst/>
          </a:prstGeom>
          <a:solidFill>
            <a:srgbClr val="EDE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463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5B3A8C"/>
                </a:solidFill>
                <a:latin typeface="Segoe UI"/>
              </a:defRPr>
            </a:pPr>
            <a:r>
              <a:t>Main Message of This Article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2D2240"/>
                </a:solidFill>
                <a:latin typeface="Segoe UI"/>
              </a:defRPr>
            </a:pPr>
            <a:r>
              <a:t>Futsal is a proven donor sport — but transfer is SKILL-SPECIFIC. Passing transfers strongly, speed depends on context, and dribbling does NOT automatically transfer. Current evidence is promising but limited: only 7 studies, no longitudinal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301752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600" b="1">
                <a:solidFill>
                  <a:srgbClr val="7E57C2"/>
                </a:solidFill>
                <a:latin typeface="Segoe UI"/>
              </a:defRPr>
            </a:pPr>
            <a:r>
              <a:t>→ What this means for my Literature Review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5349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900" b="1">
                <a:solidFill>
                  <a:srgbClr val="7E57C2"/>
                </a:solidFill>
                <a:latin typeface="Segoe UI"/>
              </a:defRPr>
            </a:pPr>
            <a:r>
              <a:t>Peña-Ardila tells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59" y="3291840"/>
            <a:ext cx="5349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900" b="1">
                <a:solidFill>
                  <a:srgbClr val="7E57C2"/>
                </a:solidFill>
                <a:latin typeface="Segoe UI"/>
              </a:defRPr>
            </a:pPr>
            <a:r>
              <a:t>My LR will explore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71616" y="3657600"/>
            <a:ext cx="18288" cy="274320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657600"/>
            <a:ext cx="516635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✅  PASSING transfers (SMD=1.43)</a:t>
            </a:r>
          </a:p>
          <a:p>
            <a:pPr>
              <a:spcAft>
                <a:spcPts val="6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⚠️  SPEED depends on context</a:t>
            </a:r>
          </a:p>
          <a:p>
            <a:pPr>
              <a:spcAft>
                <a:spcPts val="6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❌  DRIBBLING: sport-specific</a:t>
            </a:r>
          </a:p>
          <a:p>
            <a:pPr>
              <a:spcAft>
                <a:spcPts val="6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⚠️  No longitudinal / No negative transfer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79" y="3657600"/>
            <a:ext cx="516635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THEME 1: Technical skill transfer</a:t>
            </a:r>
          </a:p>
          <a:p>
            <a:pPr>
              <a:spcAft>
                <a:spcPts val="6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THEME 2: Perceptual-cognitive adaptations</a:t>
            </a:r>
          </a:p>
          <a:p>
            <a:pPr>
              <a:spcAft>
                <a:spcPts val="6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THEME 3: Talent development pathways</a:t>
            </a:r>
          </a:p>
          <a:p>
            <a:pPr>
              <a:spcAft>
                <a:spcPts val="6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➕ What does NOT transfer — the research gap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