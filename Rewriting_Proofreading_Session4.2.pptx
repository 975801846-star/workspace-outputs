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0124E"/>
        </a:solidFill>
        <a:effectLst/>
      </p:bgPr>
    </p:bg>
    <p:spTree>
      <p:nvGrpSpPr>
        <p:cNvPr id="1" name=""/>
        <p:cNvGrpSpPr/>
        <p:nvPr/>
      </p:nvGrpSpPr>
      <p:grpSpPr/>
      <p:sp>
        <p:nvSpPr>
          <p:cNvPr id="2" name="Rectangle 1"/>
          <p:cNvSpPr/>
          <p:nvPr/>
        </p:nvSpPr>
        <p:spPr>
          <a:xfrm>
            <a:off x="0" y="2926080"/>
            <a:ext cx="12191695" cy="54864"/>
          </a:xfrm>
          <a:prstGeom prst="rect">
            <a:avLst/>
          </a:prstGeom>
          <a:solidFill>
            <a:srgbClr val="7C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10058400" cy="1097280"/>
          </a:xfrm>
          <a:prstGeom prst="rect">
            <a:avLst/>
          </a:prstGeom>
          <a:noFill/>
        </p:spPr>
        <p:txBody>
          <a:bodyPr wrap="square">
            <a:spAutoFit/>
          </a:bodyPr>
          <a:lstStyle/>
          <a:p>
            <a:pPr algn="l">
              <a:defRPr sz="3600" b="1" i="0">
                <a:solidFill>
                  <a:srgbClr val="FFFFFF"/>
                </a:solidFill>
                <a:latin typeface="Calibri"/>
              </a:defRPr>
            </a:pPr>
            <a:r>
              <a:t>PRE-SESSIONAL PROGRAMME</a:t>
            </a:r>
          </a:p>
        </p:txBody>
      </p:sp>
      <p:sp>
        <p:nvSpPr>
          <p:cNvPr id="4" name="TextBox 3"/>
          <p:cNvSpPr txBox="1"/>
          <p:nvPr/>
        </p:nvSpPr>
        <p:spPr>
          <a:xfrm>
            <a:off x="731520" y="3291840"/>
            <a:ext cx="10058400" cy="1097280"/>
          </a:xfrm>
          <a:prstGeom prst="rect">
            <a:avLst/>
          </a:prstGeom>
          <a:noFill/>
        </p:spPr>
        <p:txBody>
          <a:bodyPr wrap="square">
            <a:spAutoFit/>
          </a:bodyPr>
          <a:lstStyle/>
          <a:p>
            <a:pPr algn="l">
              <a:defRPr sz="4800" b="1" i="0">
                <a:solidFill>
                  <a:srgbClr val="FFFFFF"/>
                </a:solidFill>
                <a:latin typeface="Calibri"/>
              </a:defRPr>
            </a:pPr>
            <a:r>
              <a:t>Rewriting &amp; Proofreading</a:t>
            </a:r>
          </a:p>
        </p:txBody>
      </p:sp>
      <p:sp>
        <p:nvSpPr>
          <p:cNvPr id="5" name="Rectangle 4"/>
          <p:cNvSpPr/>
          <p:nvPr/>
        </p:nvSpPr>
        <p:spPr>
          <a:xfrm>
            <a:off x="731520" y="4572000"/>
            <a:ext cx="4114800" cy="36576"/>
          </a:xfrm>
          <a:prstGeom prst="rect">
            <a:avLst/>
          </a:prstGeom>
          <a:solidFill>
            <a:srgbClr val="7C3A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846320"/>
            <a:ext cx="10058400" cy="548640"/>
          </a:xfrm>
          <a:prstGeom prst="rect">
            <a:avLst/>
          </a:prstGeom>
          <a:noFill/>
        </p:spPr>
        <p:txBody>
          <a:bodyPr wrap="square">
            <a:spAutoFit/>
          </a:bodyPr>
          <a:lstStyle/>
          <a:p>
            <a:pPr algn="l">
              <a:defRPr sz="2000" b="0" i="0">
                <a:solidFill>
                  <a:srgbClr val="FFFFFF"/>
                </a:solidFill>
                <a:latin typeface="Calibri"/>
              </a:defRPr>
            </a:pPr>
            <a:r>
              <a:t>Session 4.2  |  Loughborough University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Your assignment → edit → rewrite → proofread</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2</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Intended Learning Outcomes</a:t>
            </a:r>
          </a:p>
        </p:txBody>
      </p:sp>
      <p:sp>
        <p:nvSpPr>
          <p:cNvPr id="7" name="TextBox 6"/>
          <p:cNvSpPr txBox="1"/>
          <p:nvPr/>
        </p:nvSpPr>
        <p:spPr>
          <a:xfrm>
            <a:off x="640080" y="1463040"/>
            <a:ext cx="9144000" cy="3200400"/>
          </a:xfrm>
          <a:prstGeom prst="rect">
            <a:avLst/>
          </a:prstGeom>
          <a:noFill/>
        </p:spPr>
        <p:txBody>
          <a:bodyPr wrap="square">
            <a:spAutoFit/>
          </a:bodyPr>
          <a:lstStyle/>
          <a:p>
            <a:pPr algn="l">
              <a:spcAft>
                <a:spcPts val="1200"/>
              </a:spcAft>
              <a:defRPr sz="2000" b="1" i="0">
                <a:solidFill>
                  <a:srgbClr val="000000"/>
                </a:solidFill>
                <a:latin typeface="Calibri"/>
              </a:defRPr>
            </a:pPr>
            <a:r>
              <a:t>●  Use general feedback to improve coursework</a:t>
            </a:r>
          </a:p>
          <a:p>
            <a:pPr algn="l">
              <a:spcAft>
                <a:spcPts val="1200"/>
              </a:spcAft>
              <a:defRPr sz="2000" b="1" i="0">
                <a:solidFill>
                  <a:srgbClr val="000000"/>
                </a:solidFill>
                <a:latin typeface="Calibri"/>
              </a:defRPr>
            </a:pPr>
            <a:r>
              <a:t>●  Rewrite work to avoid plagiarism</a:t>
            </a:r>
          </a:p>
          <a:p>
            <a:pPr algn="l">
              <a:spcAft>
                <a:spcPts val="1200"/>
              </a:spcAft>
              <a:defRPr sz="2000" b="1" i="0">
                <a:solidFill>
                  <a:srgbClr val="000000"/>
                </a:solidFill>
                <a:latin typeface="Calibri"/>
              </a:defRPr>
            </a:pPr>
            <a:r>
              <a:t>●  Understand Turnitin similarity reports</a:t>
            </a:r>
          </a:p>
          <a:p>
            <a:pPr algn="l">
              <a:spcAft>
                <a:spcPts val="1200"/>
              </a:spcAft>
              <a:defRPr sz="2000" b="1" i="0">
                <a:solidFill>
                  <a:srgbClr val="000000"/>
                </a:solidFill>
                <a:latin typeface="Calibri"/>
              </a:defRPr>
            </a:pPr>
            <a:r>
              <a:t>●  Apply proofreading strategies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Paraphrase ≠ change a few words — it means rethinking the idea</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3</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Rewriting to Avoid Plagiarism</a:t>
            </a:r>
          </a:p>
        </p:txBody>
      </p:sp>
      <p:sp>
        <p:nvSpPr>
          <p:cNvPr id="7" name="TextBox 6"/>
          <p:cNvSpPr txBox="1"/>
          <p:nvPr/>
        </p:nvSpPr>
        <p:spPr>
          <a:xfrm>
            <a:off x="640080" y="1463040"/>
            <a:ext cx="9144000" cy="3200400"/>
          </a:xfrm>
          <a:prstGeom prst="rect">
            <a:avLst/>
          </a:prstGeom>
          <a:noFill/>
        </p:spPr>
        <p:txBody>
          <a:bodyPr wrap="square">
            <a:spAutoFit/>
          </a:bodyPr>
          <a:lstStyle/>
          <a:p>
            <a:pPr algn="l">
              <a:spcAft>
                <a:spcPts val="1200"/>
              </a:spcAft>
              <a:defRPr sz="2000" b="1" i="0">
                <a:solidFill>
                  <a:srgbClr val="000000"/>
                </a:solidFill>
                <a:latin typeface="Calibri"/>
              </a:defRPr>
            </a:pPr>
            <a:r>
              <a:t>●  Turnitin checks similarity — not "plagiarism"</a:t>
            </a:r>
          </a:p>
          <a:p>
            <a:pPr algn="l">
              <a:spcAft>
                <a:spcPts val="1200"/>
              </a:spcAft>
              <a:defRPr sz="2000" b="1" i="0">
                <a:solidFill>
                  <a:srgbClr val="000000"/>
                </a:solidFill>
                <a:latin typeface="Calibri"/>
              </a:defRPr>
            </a:pPr>
            <a:r>
              <a:t>●  Pink text = matched source, not cited correctly</a:t>
            </a:r>
          </a:p>
          <a:p>
            <a:pPr algn="l">
              <a:spcAft>
                <a:spcPts val="1200"/>
              </a:spcAft>
              <a:defRPr sz="2000" b="1" i="0">
                <a:solidFill>
                  <a:srgbClr val="000000"/>
                </a:solidFill>
                <a:latin typeface="Calibri"/>
              </a:defRPr>
            </a:pPr>
            <a:r>
              <a:t>●  Limited paraphrase ≠ genuine rewrite</a:t>
            </a:r>
          </a:p>
          <a:p>
            <a:pPr algn="l">
              <a:spcAft>
                <a:spcPts val="1200"/>
              </a:spcAft>
              <a:defRPr sz="2000" b="1" i="0">
                <a:solidFill>
                  <a:srgbClr val="000000"/>
                </a:solidFill>
                <a:latin typeface="Calibri"/>
              </a:defRPr>
            </a:pPr>
            <a:r>
              <a:t>●  Copy-paste + citation ≠ acceptable academic writing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Pink highlights + missing citations = academic integrity risk</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4</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Turnitin Report: What to Look For</a:t>
            </a:r>
          </a:p>
        </p:txBody>
      </p:sp>
      <p:sp>
        <p:nvSpPr>
          <p:cNvPr id="7" name="TextBox 6"/>
          <p:cNvSpPr txBox="1"/>
          <p:nvPr/>
        </p:nvSpPr>
        <p:spPr>
          <a:xfrm>
            <a:off x="640080" y="1463040"/>
            <a:ext cx="9144000" cy="3200400"/>
          </a:xfrm>
          <a:prstGeom prst="rect">
            <a:avLst/>
          </a:prstGeom>
          <a:noFill/>
        </p:spPr>
        <p:txBody>
          <a:bodyPr wrap="square">
            <a:spAutoFit/>
          </a:bodyPr>
          <a:lstStyle/>
          <a:p>
            <a:pPr algn="l">
              <a:spcAft>
                <a:spcPts val="1200"/>
              </a:spcAft>
              <a:defRPr sz="2000" b="1" i="0">
                <a:solidFill>
                  <a:srgbClr val="000000"/>
                </a:solidFill>
                <a:latin typeface="Calibri"/>
              </a:defRPr>
            </a:pPr>
            <a:r>
              <a:t>●  Pink/red highlights → text matches a published source</a:t>
            </a:r>
          </a:p>
          <a:p>
            <a:pPr algn="l">
              <a:spcAft>
                <a:spcPts val="1200"/>
              </a:spcAft>
              <a:defRPr sz="2000" b="1" i="0">
                <a:solidFill>
                  <a:srgbClr val="000000"/>
                </a:solidFill>
                <a:latin typeface="Calibri"/>
              </a:defRPr>
            </a:pPr>
            <a:r>
              <a:t>●  Numbered tags [1] → specific matched source ID</a:t>
            </a:r>
          </a:p>
          <a:p>
            <a:pPr algn="l">
              <a:spcAft>
                <a:spcPts val="1200"/>
              </a:spcAft>
              <a:defRPr sz="2000" b="1" i="0">
                <a:solidFill>
                  <a:srgbClr val="000000"/>
                </a:solidFill>
                <a:latin typeface="Calibri"/>
              </a:defRPr>
            </a:pPr>
            <a:r>
              <a:t>●  Missing or incorrect in-text citations</a:t>
            </a:r>
          </a:p>
          <a:p>
            <a:pPr algn="l">
              <a:spcAft>
                <a:spcPts val="1200"/>
              </a:spcAft>
              <a:defRPr sz="2000" b="1" i="0">
                <a:solidFill>
                  <a:srgbClr val="000000"/>
                </a:solidFill>
                <a:latin typeface="Calibri"/>
              </a:defRPr>
            </a:pPr>
            <a:r>
              <a:t>●  Near-identical wording → insufficient paraphrase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If it reads like the original, it IS the original — rewrite it</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5</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Common Mistakes in Student Writing</a:t>
            </a:r>
          </a:p>
        </p:txBody>
      </p:sp>
      <p:sp>
        <p:nvSpPr>
          <p:cNvPr id="7" name="TextBox 6"/>
          <p:cNvSpPr txBox="1"/>
          <p:nvPr/>
        </p:nvSpPr>
        <p:spPr>
          <a:xfrm>
            <a:off x="640080" y="1463040"/>
            <a:ext cx="9144000" cy="3200400"/>
          </a:xfrm>
          <a:prstGeom prst="rect">
            <a:avLst/>
          </a:prstGeom>
          <a:noFill/>
        </p:spPr>
        <p:txBody>
          <a:bodyPr wrap="square">
            <a:spAutoFit/>
          </a:bodyPr>
          <a:lstStyle/>
          <a:p>
            <a:pPr algn="l">
              <a:spcAft>
                <a:spcPts val="1200"/>
              </a:spcAft>
              <a:defRPr sz="2000" b="1" i="0">
                <a:solidFill>
                  <a:srgbClr val="000000"/>
                </a:solidFill>
                <a:latin typeface="Calibri"/>
              </a:defRPr>
            </a:pPr>
            <a:r>
              <a:t>●  Using source information without correct citation</a:t>
            </a:r>
          </a:p>
          <a:p>
            <a:pPr algn="l">
              <a:spcAft>
                <a:spcPts val="1200"/>
              </a:spcAft>
              <a:defRPr sz="2000" b="1" i="0">
                <a:solidFill>
                  <a:srgbClr val="000000"/>
                </a:solidFill>
                <a:latin typeface="Calibri"/>
              </a:defRPr>
            </a:pPr>
            <a:r>
              <a:t>●  Changing only a few words → still matches original</a:t>
            </a:r>
          </a:p>
          <a:p>
            <a:pPr algn="l">
              <a:spcAft>
                <a:spcPts val="1200"/>
              </a:spcAft>
              <a:defRPr sz="2000" b="1" i="0">
                <a:solidFill>
                  <a:srgbClr val="000000"/>
                </a:solidFill>
                <a:latin typeface="Calibri"/>
              </a:defRPr>
            </a:pPr>
            <a:r>
              <a:t>●  Copying sentence structure → structural plagiarism</a:t>
            </a:r>
          </a:p>
          <a:p>
            <a:pPr algn="l">
              <a:spcAft>
                <a:spcPts val="1200"/>
              </a:spcAft>
              <a:defRPr sz="2000" b="1" i="0">
                <a:solidFill>
                  <a:srgbClr val="000000"/>
                </a:solidFill>
                <a:latin typeface="Calibri"/>
              </a:defRPr>
            </a:pPr>
            <a:r>
              <a:t>●  Forgetting secondary referencing format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Paraphrase = read → cover → write from memory → check</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6</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Three Examples: Before → After</a:t>
            </a:r>
          </a:p>
        </p:txBody>
      </p:sp>
      <p:sp>
        <p:nvSpPr>
          <p:cNvPr id="7" name="TextBox 6"/>
          <p:cNvSpPr txBox="1"/>
          <p:nvPr/>
        </p:nvSpPr>
        <p:spPr>
          <a:xfrm>
            <a:off x="640080" y="1325880"/>
            <a:ext cx="1828800" cy="320040"/>
          </a:xfrm>
          <a:prstGeom prst="rect">
            <a:avLst/>
          </a:prstGeom>
          <a:noFill/>
        </p:spPr>
        <p:txBody>
          <a:bodyPr wrap="square">
            <a:spAutoFit/>
          </a:bodyPr>
          <a:lstStyle/>
          <a:p>
            <a:pPr algn="l">
              <a:defRPr sz="1500" b="1" i="0">
                <a:solidFill>
                  <a:srgbClr val="FF0000"/>
                </a:solidFill>
                <a:latin typeface="Calibri"/>
              </a:defRPr>
            </a:pPr>
            <a:r>
              <a:t>Example 1: ❌ Bad Paraphrase</a:t>
            </a:r>
          </a:p>
        </p:txBody>
      </p:sp>
      <p:sp>
        <p:nvSpPr>
          <p:cNvPr id="8" name="TextBox 7"/>
          <p:cNvSpPr txBox="1"/>
          <p:nvPr/>
        </p:nvSpPr>
        <p:spPr>
          <a:xfrm>
            <a:off x="640080" y="1645920"/>
            <a:ext cx="5303520" cy="1371600"/>
          </a:xfrm>
          <a:prstGeom prst="rect">
            <a:avLst/>
          </a:prstGeom>
          <a:noFill/>
        </p:spPr>
        <p:txBody>
          <a:bodyPr wrap="square">
            <a:spAutoFit/>
          </a:bodyPr>
          <a:lstStyle/>
          <a:p>
            <a:pPr algn="l">
              <a:spcAft>
                <a:spcPts val="400"/>
              </a:spcAft>
              <a:defRPr sz="1300" b="1" i="0">
                <a:solidFill>
                  <a:srgbClr val="0070C0"/>
                </a:solidFill>
                <a:latin typeface="Calibri"/>
              </a:defRPr>
            </a:pPr>
            <a:r>
              <a:t>SOURCE (Cunningham &amp; Eastin, 2015):</a:t>
            </a:r>
          </a:p>
          <a:p>
            <a:pPr algn="l">
              <a:spcAft>
                <a:spcPts val="400"/>
              </a:spcAft>
              <a:defRPr sz="1200" b="1" i="1">
                <a:solidFill>
                  <a:srgbClr val="000000"/>
                </a:solidFill>
                <a:latin typeface="Calibri"/>
              </a:defRPr>
            </a:pPr>
            <a:r>
              <a:t>"...developments in social media also provide sport fans with the opportunity to tweet, text, and Facebook, all while watching the game, which provides a new and enriched fandom experience."</a:t>
            </a:r>
          </a:p>
          <a:p>
            <a:pPr algn="l">
              <a:spcAft>
                <a:spcPts val="400"/>
              </a:spcAft>
              <a:defRPr sz="1300" b="1" i="0">
                <a:solidFill>
                  <a:srgbClr val="FF0000"/>
                </a:solidFill>
                <a:latin typeface="Calibri"/>
              </a:defRPr>
            </a:pPr>
            <a:r>
              <a:t>STUDENT WROTE:</a:t>
            </a:r>
          </a:p>
          <a:p>
            <a:pPr algn="l">
              <a:spcAft>
                <a:spcPts val="400"/>
              </a:spcAft>
              <a:defRPr sz="1200" b="1" i="1">
                <a:solidFill>
                  <a:srgbClr val="000000"/>
                </a:solidFill>
                <a:latin typeface="Calibri"/>
              </a:defRPr>
            </a:pPr>
            <a:r>
              <a:t>"...the development of social media also provides sports enthusiasts with the opportunity to tweet, text and Facebook while watching the game, which provides a new and rich fan experience."</a:t>
            </a:r>
          </a:p>
          <a:p>
            <a:pPr algn="l">
              <a:spcAft>
                <a:spcPts val="0"/>
              </a:spcAft>
              <a:defRPr sz="1300" b="1" i="0">
                <a:solidFill>
                  <a:srgbClr val="FF0000"/>
                </a:solidFill>
                <a:latin typeface="Calibri"/>
              </a:defRPr>
            </a:pPr>
            <a:r>
              <a:t>❌ Only changed 3 words. Turnitin still flags it.</a:t>
            </a:r>
          </a:p>
        </p:txBody>
      </p:sp>
      <p:sp>
        <p:nvSpPr>
          <p:cNvPr id="9" name="TextBox 8"/>
          <p:cNvSpPr txBox="1"/>
          <p:nvPr/>
        </p:nvSpPr>
        <p:spPr>
          <a:xfrm>
            <a:off x="6400800" y="1325880"/>
            <a:ext cx="2286000" cy="320040"/>
          </a:xfrm>
          <a:prstGeom prst="rect">
            <a:avLst/>
          </a:prstGeom>
          <a:noFill/>
        </p:spPr>
        <p:txBody>
          <a:bodyPr wrap="square">
            <a:spAutoFit/>
          </a:bodyPr>
          <a:lstStyle/>
          <a:p>
            <a:pPr algn="l">
              <a:defRPr sz="1500" b="1" i="0">
                <a:solidFill>
                  <a:srgbClr val="008040"/>
                </a:solidFill>
                <a:latin typeface="Calibri"/>
              </a:defRPr>
            </a:pPr>
            <a:r>
              <a:t>Example 2: ✅ Correct Rewrite</a:t>
            </a:r>
          </a:p>
        </p:txBody>
      </p:sp>
      <p:sp>
        <p:nvSpPr>
          <p:cNvPr id="10" name="TextBox 9"/>
          <p:cNvSpPr txBox="1"/>
          <p:nvPr/>
        </p:nvSpPr>
        <p:spPr>
          <a:xfrm>
            <a:off x="6400800" y="1645920"/>
            <a:ext cx="5303520" cy="1371600"/>
          </a:xfrm>
          <a:prstGeom prst="rect">
            <a:avLst/>
          </a:prstGeom>
          <a:noFill/>
        </p:spPr>
        <p:txBody>
          <a:bodyPr wrap="square">
            <a:spAutoFit/>
          </a:bodyPr>
          <a:lstStyle/>
          <a:p>
            <a:pPr algn="l">
              <a:spcAft>
                <a:spcPts val="400"/>
              </a:spcAft>
              <a:defRPr sz="1300" b="1" i="0">
                <a:solidFill>
                  <a:srgbClr val="008040"/>
                </a:solidFill>
                <a:latin typeface="Calibri"/>
              </a:defRPr>
            </a:pPr>
            <a:r>
              <a:t>CORRECT REWRITE:</a:t>
            </a:r>
          </a:p>
          <a:p>
            <a:pPr algn="l">
              <a:spcAft>
                <a:spcPts val="400"/>
              </a:spcAft>
              <a:defRPr sz="1200" b="1" i="1">
                <a:solidFill>
                  <a:srgbClr val="000000"/>
                </a:solidFill>
                <a:latin typeface="Calibri"/>
              </a:defRPr>
            </a:pPr>
            <a:r>
              <a:t>"Social media has brought a 'new and rich' experience to sports fans who can tweet, send text messages or update their Facebook status at the same time as watching the game (Pegoraro, 2013 cited in Cunningham and Eastin, 2015, p.289)."</a:t>
            </a:r>
          </a:p>
          <a:p>
            <a:pPr algn="l">
              <a:spcAft>
                <a:spcPts val="0"/>
              </a:spcAft>
              <a:defRPr sz="1300" b="1" i="0">
                <a:solidFill>
                  <a:srgbClr val="008040"/>
                </a:solidFill>
                <a:latin typeface="Calibri"/>
              </a:defRPr>
            </a:pPr>
            <a:r>
              <a:t>✅ Changed subject + restructured sentence + secondary citation</a:t>
            </a:r>
          </a:p>
        </p:txBody>
      </p:sp>
      <p:sp>
        <p:nvSpPr>
          <p:cNvPr id="11" name="TextBox 10"/>
          <p:cNvSpPr txBox="1"/>
          <p:nvPr/>
        </p:nvSpPr>
        <p:spPr>
          <a:xfrm>
            <a:off x="640080" y="3520440"/>
            <a:ext cx="2743200" cy="320040"/>
          </a:xfrm>
          <a:prstGeom prst="rect">
            <a:avLst/>
          </a:prstGeom>
          <a:noFill/>
        </p:spPr>
        <p:txBody>
          <a:bodyPr wrap="square">
            <a:spAutoFit/>
          </a:bodyPr>
          <a:lstStyle/>
          <a:p>
            <a:pPr algn="l">
              <a:defRPr sz="1500" b="1" i="0">
                <a:solidFill>
                  <a:srgbClr val="0070C0"/>
                </a:solidFill>
                <a:latin typeface="Calibri"/>
              </a:defRPr>
            </a:pPr>
            <a:r>
              <a:t>Example 3: 🔤 When to Use Quotes</a:t>
            </a:r>
          </a:p>
        </p:txBody>
      </p:sp>
      <p:sp>
        <p:nvSpPr>
          <p:cNvPr id="12" name="TextBox 11"/>
          <p:cNvSpPr txBox="1"/>
          <p:nvPr/>
        </p:nvSpPr>
        <p:spPr>
          <a:xfrm>
            <a:off x="640080" y="3840480"/>
            <a:ext cx="10789920" cy="2011680"/>
          </a:xfrm>
          <a:prstGeom prst="rect">
            <a:avLst/>
          </a:prstGeom>
          <a:noFill/>
        </p:spPr>
        <p:txBody>
          <a:bodyPr wrap="square">
            <a:spAutoFit/>
          </a:bodyPr>
          <a:lstStyle/>
          <a:p>
            <a:pPr algn="l">
              <a:spcAft>
                <a:spcPts val="400"/>
              </a:spcAft>
              <a:defRPr sz="1300" b="1" i="0">
                <a:solidFill>
                  <a:srgbClr val="0070C0"/>
                </a:solidFill>
                <a:latin typeface="Calibri"/>
              </a:defRPr>
            </a:pPr>
            <a:r>
              <a:t>SOURCE:</a:t>
            </a:r>
          </a:p>
          <a:p>
            <a:pPr algn="l">
              <a:spcAft>
                <a:spcPts val="400"/>
              </a:spcAft>
              <a:defRPr sz="1200" b="1" i="1">
                <a:solidFill>
                  <a:srgbClr val="000000"/>
                </a:solidFill>
                <a:latin typeface="Calibri"/>
              </a:defRPr>
            </a:pPr>
            <a:r>
              <a:t>"...additional touch points, direct transactions, and data gathering..." (Cunningham and Eastin, 2015)</a:t>
            </a:r>
          </a:p>
          <a:p>
            <a:pPr algn="l">
              <a:spcAft>
                <a:spcPts val="400"/>
              </a:spcAft>
              <a:defRPr sz="1300" b="1" i="0">
                <a:solidFill>
                  <a:srgbClr val="0070C0"/>
                </a:solidFill>
                <a:latin typeface="Calibri"/>
              </a:defRPr>
            </a:pPr>
            <a:r>
              <a:t>CORRECT USE:</a:t>
            </a:r>
          </a:p>
          <a:p>
            <a:pPr algn="l">
              <a:spcAft>
                <a:spcPts val="600"/>
              </a:spcAft>
              <a:defRPr sz="1200" b="1" i="1">
                <a:solidFill>
                  <a:srgbClr val="000000"/>
                </a:solidFill>
                <a:latin typeface="Calibri"/>
              </a:defRPr>
            </a:pPr>
            <a:r>
              <a:t>"The second screen offers a new opportunity to the audience to be more interactive, including 'additional touch points, direct transactions, and data gathering' (Cunningham and Eastin, 2015, p.289)."</a:t>
            </a:r>
          </a:p>
          <a:p>
            <a:pPr algn="l">
              <a:spcAft>
                <a:spcPts val="0"/>
              </a:spcAft>
              <a:defRPr sz="1300" b="1" i="0">
                <a:solidFill>
                  <a:srgbClr val="0070C0"/>
                </a:solidFill>
                <a:latin typeface="Calibri"/>
              </a:defRPr>
            </a:pPr>
            <a:r>
              <a:t>✅ Fixed terms that cannot be easily rephrased → put in quotation marks + cite with page number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Summarise + cite correctly + quote sparingly = no plagiarism</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7</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Solutions: How to Rewrite Correctly</a:t>
            </a:r>
          </a:p>
        </p:txBody>
      </p:sp>
      <p:sp>
        <p:nvSpPr>
          <p:cNvPr id="7" name="TextBox 6"/>
          <p:cNvSpPr txBox="1"/>
          <p:nvPr/>
        </p:nvSpPr>
        <p:spPr>
          <a:xfrm>
            <a:off x="640080" y="1463040"/>
            <a:ext cx="10058400" cy="4114800"/>
          </a:xfrm>
          <a:prstGeom prst="rect">
            <a:avLst/>
          </a:prstGeom>
          <a:noFill/>
        </p:spPr>
        <p:txBody>
          <a:bodyPr wrap="square">
            <a:spAutoFit/>
          </a:bodyPr>
          <a:lstStyle/>
          <a:p>
            <a:pPr algn="l">
              <a:spcAft>
                <a:spcPts val="1000"/>
              </a:spcAft>
              <a:defRPr sz="1800" b="1" i="0">
                <a:solidFill>
                  <a:srgbClr val="000000"/>
                </a:solidFill>
                <a:latin typeface="Calibri"/>
              </a:defRPr>
            </a:pPr>
            <a:r>
              <a:t>●  Strategy 1: Summarise in your own words</a:t>
            </a:r>
          </a:p>
          <a:p>
            <a:pPr algn="l">
              <a:spcAft>
                <a:spcPts val="1000"/>
              </a:spcAft>
              <a:defRPr sz="1800" b="1" i="0">
                <a:solidFill>
                  <a:srgbClr val="000000"/>
                </a:solidFill>
                <a:latin typeface="Calibri"/>
              </a:defRPr>
            </a:pPr>
            <a:r>
              <a:t>    → Read → cover → write from memory → check against original</a:t>
            </a:r>
          </a:p>
          <a:p>
            <a:pPr algn="l">
              <a:spcAft>
                <a:spcPts val="1000"/>
              </a:spcAft>
              <a:defRPr sz="1800" b="1" i="0">
                <a:solidFill>
                  <a:srgbClr val="000000"/>
                </a:solidFill>
                <a:latin typeface="Calibri"/>
              </a:defRPr>
            </a:pPr>
            <a:r>
              <a:t>●  Strategy 2: Use correct citation format</a:t>
            </a:r>
          </a:p>
          <a:p>
            <a:pPr algn="l">
              <a:spcAft>
                <a:spcPts val="1000"/>
              </a:spcAft>
              <a:defRPr sz="1800" b="1" i="0">
                <a:solidFill>
                  <a:srgbClr val="000000"/>
                </a:solidFill>
                <a:latin typeface="Calibri"/>
              </a:defRPr>
            </a:pPr>
            <a:r>
              <a:t>    → Direct quote: "...", (Author, Year, p.X)</a:t>
            </a:r>
          </a:p>
          <a:p>
            <a:pPr algn="l">
              <a:spcAft>
                <a:spcPts val="1000"/>
              </a:spcAft>
              <a:defRPr sz="1800" b="1" i="0">
                <a:solidFill>
                  <a:srgbClr val="000000"/>
                </a:solidFill>
                <a:latin typeface="Calibri"/>
              </a:defRPr>
            </a:pPr>
            <a:r>
              <a:t>    → Secondary source: (Author, Year cited in Author, Year, p.X)</a:t>
            </a:r>
          </a:p>
          <a:p>
            <a:pPr algn="l">
              <a:spcAft>
                <a:spcPts val="1000"/>
              </a:spcAft>
              <a:defRPr sz="1800" b="1" i="0">
                <a:solidFill>
                  <a:srgbClr val="000000"/>
                </a:solidFill>
                <a:latin typeface="Calibri"/>
              </a:defRPr>
            </a:pPr>
            <a:r>
              <a:t>●  Strategy 3: Quotation marks for fixed terms only</a:t>
            </a:r>
          </a:p>
          <a:p>
            <a:pPr algn="l">
              <a:spcAft>
                <a:spcPts val="1000"/>
              </a:spcAft>
              <a:defRPr sz="1800" b="1" i="0">
                <a:solidFill>
                  <a:srgbClr val="000000"/>
                </a:solidFill>
                <a:latin typeface="Calibri"/>
              </a:defRPr>
            </a:pPr>
            <a:r>
              <a:t>    → Paraphrase first; use quotes only when impossible to reword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11480" cy="6858000"/>
          </a:xfrm>
          <a:prstGeom prst="rect">
            <a:avLst/>
          </a:prstGeom>
          <a:solidFill>
            <a:srgbClr val="5023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63640"/>
            <a:ext cx="12191695" cy="594360"/>
          </a:xfrm>
          <a:prstGeom prst="rect">
            <a:avLst/>
          </a:prstGeom>
          <a:solidFill>
            <a:srgbClr val="F5F0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6355080"/>
            <a:ext cx="11277295" cy="411480"/>
          </a:xfrm>
          <a:prstGeom prst="rect">
            <a:avLst/>
          </a:prstGeom>
          <a:noFill/>
        </p:spPr>
        <p:txBody>
          <a:bodyPr wrap="square">
            <a:spAutoFit/>
          </a:bodyPr>
          <a:lstStyle/>
          <a:p>
            <a:pPr algn="l">
              <a:defRPr sz="1800" b="1" i="0">
                <a:solidFill>
                  <a:srgbClr val="502379"/>
                </a:solidFill>
                <a:latin typeface="Calibri"/>
              </a:defRPr>
            </a:pPr>
            <a:r>
              <a:t>Proofreading = the difference between passing and failing</a:t>
            </a:r>
          </a:p>
        </p:txBody>
      </p:sp>
      <p:sp>
        <p:nvSpPr>
          <p:cNvPr id="5" name="TextBox 4"/>
          <p:cNvSpPr txBox="1"/>
          <p:nvPr/>
        </p:nvSpPr>
        <p:spPr>
          <a:xfrm>
            <a:off x="11460175" y="6355080"/>
            <a:ext cx="548640" cy="411480"/>
          </a:xfrm>
          <a:prstGeom prst="rect">
            <a:avLst/>
          </a:prstGeom>
          <a:noFill/>
        </p:spPr>
        <p:txBody>
          <a:bodyPr wrap="square">
            <a:spAutoFit/>
          </a:bodyPr>
          <a:lstStyle/>
          <a:p>
            <a:pPr algn="r">
              <a:defRPr sz="1200" b="0" i="0">
                <a:solidFill>
                  <a:srgbClr val="502379"/>
                </a:solidFill>
                <a:latin typeface="Calibri"/>
              </a:defRPr>
            </a:pPr>
            <a:r>
              <a:t>8</a:t>
            </a:r>
          </a:p>
        </p:txBody>
      </p:sp>
      <p:sp>
        <p:nvSpPr>
          <p:cNvPr id="6" name="TextBox 5"/>
          <p:cNvSpPr txBox="1"/>
          <p:nvPr/>
        </p:nvSpPr>
        <p:spPr>
          <a:xfrm>
            <a:off x="640080" y="274320"/>
            <a:ext cx="10058400" cy="731520"/>
          </a:xfrm>
          <a:prstGeom prst="rect">
            <a:avLst/>
          </a:prstGeom>
          <a:noFill/>
        </p:spPr>
        <p:txBody>
          <a:bodyPr wrap="square">
            <a:spAutoFit/>
          </a:bodyPr>
          <a:lstStyle/>
          <a:p>
            <a:pPr algn="l">
              <a:defRPr sz="2800" b="1" i="0">
                <a:solidFill>
                  <a:srgbClr val="502379"/>
                </a:solidFill>
                <a:latin typeface="Calibri"/>
              </a:defRPr>
            </a:pPr>
            <a:r>
              <a:t>Proofreading: Final Check Before Submission</a:t>
            </a:r>
          </a:p>
        </p:txBody>
      </p:sp>
      <p:sp>
        <p:nvSpPr>
          <p:cNvPr id="7" name="TextBox 6"/>
          <p:cNvSpPr txBox="1"/>
          <p:nvPr/>
        </p:nvSpPr>
        <p:spPr>
          <a:xfrm>
            <a:off x="640080" y="1463040"/>
            <a:ext cx="8229600" cy="3657600"/>
          </a:xfrm>
          <a:prstGeom prst="rect">
            <a:avLst/>
          </a:prstGeom>
          <a:noFill/>
        </p:spPr>
        <p:txBody>
          <a:bodyPr wrap="square">
            <a:spAutoFit/>
          </a:bodyPr>
          <a:lstStyle/>
          <a:p>
            <a:pPr algn="l">
              <a:spcAft>
                <a:spcPts val="1000"/>
              </a:spcAft>
              <a:defRPr sz="2000" b="1" i="0">
                <a:solidFill>
                  <a:srgbClr val="000000"/>
                </a:solidFill>
                <a:latin typeface="Calibri"/>
              </a:defRPr>
            </a:pPr>
            <a:r>
              <a:t>●  Check spelling &amp; grammar → every sentence</a:t>
            </a:r>
          </a:p>
          <a:p>
            <a:pPr algn="l">
              <a:spcAft>
                <a:spcPts val="1000"/>
              </a:spcAft>
              <a:defRPr sz="2000" b="1" i="0">
                <a:solidFill>
                  <a:srgbClr val="000000"/>
                </a:solidFill>
                <a:latin typeface="Calibri"/>
              </a:defRPr>
            </a:pPr>
            <a:r>
              <a:t>●  Verify all citations: format + page numbers</a:t>
            </a:r>
          </a:p>
          <a:p>
            <a:pPr algn="l">
              <a:spcAft>
                <a:spcPts val="1000"/>
              </a:spcAft>
              <a:defRPr sz="2000" b="1" i="0">
                <a:solidFill>
                  <a:srgbClr val="000000"/>
                </a:solidFill>
                <a:latin typeface="Calibri"/>
              </a:defRPr>
            </a:pPr>
            <a:r>
              <a:t>●  Read aloud → catch unnatural phrasing</a:t>
            </a:r>
          </a:p>
          <a:p>
            <a:pPr algn="l">
              <a:spcAft>
                <a:spcPts val="1000"/>
              </a:spcAft>
              <a:defRPr sz="2000" b="1" i="0">
                <a:solidFill>
                  <a:srgbClr val="000000"/>
                </a:solidFill>
                <a:latin typeface="Calibri"/>
              </a:defRPr>
            </a:pPr>
            <a:r>
              <a:t>●  Cross-check Turnitin report → pink = rewrite</a:t>
            </a:r>
          </a:p>
          <a:p>
            <a:pPr algn="l">
              <a:spcAft>
                <a:spcPts val="1000"/>
              </a:spcAft>
              <a:defRPr sz="2000" b="1" i="0">
                <a:solidFill>
                  <a:srgbClr val="000000"/>
                </a:solidFill>
                <a:latin typeface="Calibri"/>
              </a:defRPr>
            </a:pPr>
            <a:r>
              <a:t>●  Leave 5-10 min after writing before proofreading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