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FFFFFF"/>
                </a:solidFill>
              </a:rPr>
              <a:t>INTRODUCTION TOREADING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41832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Hongxian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What is an Abstract?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49680" y="1645920"/>
            <a:ext cx="2926080" cy="256032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4112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000000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1120" y="27432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0000"/>
                </a:solidFill>
              </a:rPr>
              <a:t>Concise</a:t>
            </a:r>
            <a:br/>
            <a:r>
              <a:rPr b="1">
                <a:solidFill>
                  <a:srgbClr val="000000"/>
                </a:solidFill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112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400">
                <a:solidFill>
                  <a:srgbClr val="666666"/>
                </a:solidFill>
              </a:rPr>
              <a:t>Of whole paper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2960" y="1645920"/>
            <a:ext cx="2926080" cy="256032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440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000000"/>
                </a:solidFill>
              </a:rPr>
              <a:t>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4400" y="27432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0000"/>
                </a:solidFill>
              </a:rPr>
              <a:t>100–200</a:t>
            </a:r>
            <a:br/>
            <a:r>
              <a:rPr b="1">
                <a:solidFill>
                  <a:srgbClr val="000000"/>
                </a:solidFill>
              </a:rPr>
              <a:t>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400">
                <a:solidFill>
                  <a:srgbClr val="666666"/>
                </a:solidFill>
              </a:rPr>
              <a:t>Stands alone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40" y="1645920"/>
            <a:ext cx="2926080" cy="256032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0768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000000"/>
                </a:solidFill>
              </a:rPr>
              <a:t>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7680" y="27432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0000"/>
                </a:solidFill>
              </a:rPr>
              <a:t>Key Results</a:t>
            </a:r>
            <a:br/>
            <a:r>
              <a:rPr b="1">
                <a:solidFill>
                  <a:srgbClr val="000000"/>
                </a:solidFill>
              </a:rPr>
              <a:t>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768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400">
                <a:solidFill>
                  <a:srgbClr val="666666"/>
                </a:solidFill>
              </a:rPr>
              <a:t>No abbreviations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7 Elements of an Abstract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61160" y="2377440"/>
            <a:ext cx="1188720" cy="640080"/>
          </a:xfrm>
          <a:prstGeom prst="round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849880" y="269748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941320" y="2377440"/>
            <a:ext cx="1188720" cy="640080"/>
          </a:xfrm>
          <a:prstGeom prst="round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Significance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30040" y="269748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21480" y="2377440"/>
            <a:ext cx="1188720" cy="640080"/>
          </a:xfrm>
          <a:prstGeom prst="round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Aims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10200" y="269748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01640" y="2377440"/>
            <a:ext cx="1188720" cy="640080"/>
          </a:xfrm>
          <a:prstGeom prst="round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Method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90360" y="269748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781800" y="2377440"/>
            <a:ext cx="1188720" cy="640080"/>
          </a:xfrm>
          <a:prstGeom prst="round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Findings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70520" y="269748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1960" y="2377440"/>
            <a:ext cx="1188720" cy="640080"/>
          </a:xfrm>
          <a:prstGeom prst="round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Discussion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250680" y="269748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42120" y="2377440"/>
            <a:ext cx="1188720" cy="640080"/>
          </a:xfrm>
          <a:prstGeom prst="round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Implications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Not all abstracts include all 7 elements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Reading Assessment: 6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4846320" cy="9144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7C3A9E"/>
                </a:solidFill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5544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Significance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99339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研究意义是什么？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60320"/>
            <a:ext cx="4846320" cy="9144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502379"/>
                </a:solidFill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517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Main 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09067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研究目的是什么？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57600"/>
            <a:ext cx="4846320" cy="9144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490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7C3A9E"/>
                </a:solidFill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490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1879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研究怎么做的？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54880"/>
            <a:ext cx="4846320" cy="9144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8463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502379"/>
                </a:solidFill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8463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Findings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2852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发现了什么？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463040"/>
            <a:ext cx="4846320" cy="1383533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6459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E86A17"/>
                </a:solidFill>
              </a:rPr>
              <a:t>Q5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6459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Vocabulary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084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定义 → 文中找对应词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423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666666"/>
                </a:solidFill>
              </a:rPr>
              <a:t>得分点：用自己的话改写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108960"/>
            <a:ext cx="4846320" cy="1383533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2918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2E864B"/>
                </a:solidFill>
              </a:rPr>
              <a:t>Q6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2918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7307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"it" / "this" 指什么？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645920"/>
            <a:ext cx="45720" cy="4114800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931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0000"/>
                </a:solidFill>
              </a:rPr>
              <a:t>⚠ All answers must be PARAPHRASED — no copying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Sentence Functions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41120" y="1828800"/>
            <a:ext cx="1828800" cy="731520"/>
          </a:xfrm>
          <a:prstGeom prst="round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256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Background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69920" y="219456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61360" y="1828800"/>
            <a:ext cx="1828800" cy="731520"/>
          </a:xfrm>
          <a:prstGeom prst="round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80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What they</a:t>
            </a:r>
            <a:br/>
            <a:r>
              <a:rPr b="1">
                <a:solidFill>
                  <a:srgbClr val="666666"/>
                </a:solidFill>
              </a:rPr>
              <a:t>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90160" y="219456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81600" y="1828800"/>
            <a:ext cx="1828800" cy="731520"/>
          </a:xfrm>
          <a:prstGeom prst="round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304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How they</a:t>
            </a:r>
            <a:br/>
            <a:r>
              <a:rPr b="1">
                <a:solidFill>
                  <a:srgbClr val="666666"/>
                </a:solidFill>
              </a:rPr>
              <a:t>did 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10400" y="219456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01840" y="1828800"/>
            <a:ext cx="1828800" cy="731520"/>
          </a:xfrm>
          <a:prstGeom prst="roundRect">
            <a:avLst/>
          </a:prstGeom>
          <a:solidFill>
            <a:srgbClr val="2E8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328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What they</a:t>
            </a:r>
            <a:br/>
            <a:r>
              <a:rPr b="1">
                <a:solidFill>
                  <a:srgbClr val="666666"/>
                </a:solidFill>
              </a:rPr>
              <a:t>found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30640" y="219456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22080" y="1828800"/>
            <a:ext cx="1828800" cy="731520"/>
          </a:xfrm>
          <a:prstGeom prst="round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352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Why it</a:t>
            </a:r>
            <a:br/>
            <a:r>
              <a:rPr b="1">
                <a:solidFill>
                  <a:srgbClr val="666666"/>
                </a:solidFill>
              </a:rPr>
              <a:t>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1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000000"/>
                </a:solidFill>
              </a:rPr>
              <a:t>Each sentence = one function  →  decode systematically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Be Assessment-Ready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37160" cy="914400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6320" y="14630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000000"/>
                </a:solidFill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463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Know abstract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9019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7 elements + functions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468880"/>
            <a:ext cx="137160" cy="9144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6320" y="25603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000000"/>
                </a:solidFill>
              </a:rPr>
              <a:t>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560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Practice identifying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9992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Sentence-level function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566160"/>
            <a:ext cx="137160" cy="9144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76320" y="365760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000000"/>
                </a:solidFill>
              </a:rP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657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Build vocabulary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096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Reporting verbs + connectors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663440"/>
            <a:ext cx="137160" cy="914400"/>
          </a:xfrm>
          <a:prstGeom prst="rect">
            <a:avLst/>
          </a:prstGeom>
          <a:solidFill>
            <a:srgbClr val="2E8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76320" y="475488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000000"/>
                </a:solidFill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754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Complete all materials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1937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Videos 1 &amp; 2 + activities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