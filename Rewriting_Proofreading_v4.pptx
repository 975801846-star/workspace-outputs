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PRE-SESSIONAL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Rewriting &amp; Proofreading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4114800" cy="36576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Session 4.2  |  Loughborough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02379"/>
                </a:solidFill>
                <a:latin typeface="Calibri"/>
              </a:defRPr>
            </a:pPr>
            <a:r>
              <a:t>Turnitin spots resemblance — not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Turnitin: Checks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●  Checks if text = published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●  Pink = matched — not "you plagiarised"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●  Student decides how to fix the pink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630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 i="0">
                <a:solidFill>
                  <a:srgbClr val="000000"/>
                </a:solidFill>
                <a:latin typeface="Calibri"/>
              </a:defRPr>
            </a:pPr>
            <a:r>
              <a:t>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Student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CC0000"/>
                </a:solidFill>
                <a:latin typeface="Calibri"/>
              </a:defRPr>
            </a:pPr>
            <a:r>
              <a:t>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4630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 i="0">
                <a:solidFill>
                  <a:srgbClr val="000000"/>
                </a:solidFill>
                <a:latin typeface="Calibri"/>
              </a:defRPr>
            </a:pPr>
            <a:r>
              <a:t>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Published article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07A00"/>
                </a:solidFill>
                <a:latin typeface="Calibri"/>
              </a:defRPr>
            </a:pPr>
            <a:r>
              <a:t>Same hair ≠ same person. Same words ≠ your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02379"/>
                </a:solidFill>
                <a:latin typeface="Calibri"/>
              </a:defRPr>
            </a:pPr>
            <a:r>
              <a:t>Pink line + [1] tag = same source. Only read one article?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Turnitin Report: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99999"/>
                </a:solidFill>
                <a:latin typeface="Calibri"/>
              </a:defRPr>
            </a:pPr>
            <a:r>
              <a:t>Student writing (Turnitin view):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8580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0000"/>
                </a:solidFill>
                <a:latin typeface="Calibri"/>
              </a:defRPr>
            </a:pPr>
            <a:r>
              <a:t>That means it will offer a new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if the audience gets more interaction, additional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touch points, direct transactions, and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gathering. Additionally, to advocate 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C0000"/>
                </a:solidFill>
                <a:latin typeface="Calibri"/>
              </a:defRPr>
            </a:pPr>
            <a:r>
              <a:t>conversation... </a:t>
            </a:r>
            <a:br/>
            <a:r>
              <a:t>[1]                                [1]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383280"/>
            <a:ext cx="228600" cy="182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3383280"/>
            <a:ext cx="228600" cy="182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What the report shows: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C0000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91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Pink text → matched</a:t>
            </a:r>
            <a:br/>
            <a:r>
              <a:t>    source (Cunningham</a:t>
            </a:r>
            <a:br/>
            <a:r>
              <a:t>    &amp; Eastin, 2015)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70C0"/>
                </a:solidFill>
                <a:latin typeface="Calibri"/>
              </a:defRPr>
            </a:pPr>
            <a:r>
              <a:t>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[1] tag → all from</a:t>
            </a:r>
            <a:br/>
            <a:r>
              <a:t>    the same article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07A00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794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Student used sources</a:t>
            </a:r>
            <a:br/>
            <a:r>
              <a:t>    but did not cite</a:t>
            </a:r>
            <a:br/>
            <a:r>
              <a:t>    correctly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846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70C0"/>
                </a:solidFill>
                <a:latin typeface="Calibri"/>
              </a:defRPr>
            </a:pPr>
            <a:r>
              <a:t>✂️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846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Limited attempt</a:t>
            </a:r>
            <a:br/>
            <a:r>
              <a:t>    to paraphrase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02379"/>
                </a:solidFill>
                <a:latin typeface="Calibri"/>
              </a:defRPr>
            </a:pPr>
            <a:r>
              <a:t>Same structure + new words = still plagiarism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❌  Problem: Source vs.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99999"/>
                </a:solidFill>
                <a:latin typeface="Calibri"/>
              </a:defRPr>
            </a:pPr>
            <a:r>
              <a:t>SOURCE (Cunningham &amp; Eastin, 2015):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303520" cy="1463040"/>
          </a:xfrm>
          <a:prstGeom prst="rect">
            <a:avLst/>
          </a:prstGeom>
          <a:solidFill>
            <a:srgbClr val="F5F0FA"/>
          </a:solidFill>
          <a:ln w="1905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200" b="1" i="1">
                <a:solidFill>
                  <a:srgbClr val="000000"/>
                </a:solidFill>
                <a:latin typeface="Calibri"/>
              </a:defRPr>
            </a:pPr>
            <a:r>
              <a:t>Similarly, developments in social</a:t>
            </a:r>
            <a:br/>
            <a:r>
              <a:t>media also provide sport fans with</a:t>
            </a:r>
            <a:br/>
            <a:r>
              <a:t>the opportunity to tweet, text, and</a:t>
            </a:r>
            <a:br/>
            <a:r>
              <a:t>Facebook, all while watching the</a:t>
            </a:r>
            <a:br/>
            <a:r>
              <a:t>game, which provides a new and</a:t>
            </a:r>
            <a:br/>
            <a:r>
              <a:t>enriched fandom experience</a:t>
            </a:r>
            <a:br/>
            <a:r>
              <a:t>(Pegoraro, 2013).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CC0000"/>
                </a:solidFill>
                <a:latin typeface="Calibri"/>
              </a:defRPr>
            </a:pPr>
            <a:r>
              <a:t>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CC00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C0000"/>
                </a:solidFill>
                <a:latin typeface="Calibri"/>
              </a:defRPr>
            </a:pPr>
            <a:r>
              <a:t>STUDENT WROTE: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5303520" cy="146304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200" b="1" i="1">
                <a:solidFill>
                  <a:srgbClr val="CC0000"/>
                </a:solidFill>
                <a:latin typeface="Calibri"/>
              </a:defRPr>
            </a:pPr>
            <a:r>
              <a:t>Similarly, the development of</a:t>
            </a:r>
            <a:br/>
            <a:r>
              <a:t>social media also provides sports</a:t>
            </a:r>
            <a:br/>
            <a:r>
              <a:t>enthusiasts with the opportunity</a:t>
            </a:r>
            <a:br/>
            <a:r>
              <a:t>to tweet, text and Facebook while</a:t>
            </a:r>
            <a:br/>
            <a:r>
              <a:t>watching the game, which provides</a:t>
            </a:r>
            <a:br/>
            <a:r>
              <a:t>a new and rich fan experience</a:t>
            </a:r>
            <a:br/>
            <a:r>
              <a:t>(Pegoraro, 2013).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C0000"/>
                </a:solidFill>
                <a:latin typeface="Calibri"/>
              </a:defRPr>
            </a:pPr>
            <a:r>
              <a:t>3 Problems: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C0000"/>
                </a:solidFill>
                <a:latin typeface="Calibri"/>
              </a:defRPr>
            </a:pPr>
            <a:r>
              <a:t>❌1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Calibri"/>
              </a:defRPr>
            </a:pPr>
            <a:r>
              <a:t>Only changed 3 words:</a:t>
            </a:r>
            <a:br/>
            <a:r>
              <a:t> sport fans→sports enthusiasts</a:t>
            </a:r>
            <a:br/>
            <a:r>
              <a:t> fandom→fan · enriched→rich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C0000"/>
                </a:solidFill>
                <a:latin typeface="Calibri"/>
              </a:defRPr>
            </a:pPr>
            <a:r>
              <a:t>❌2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089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Calibri"/>
              </a:defRPr>
            </a:pPr>
            <a:r>
              <a:t>Same sentence skeleton:</a:t>
            </a:r>
            <a:br/>
            <a:r>
              <a:t> "X provides Y with Z"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C0000"/>
                </a:solidFill>
                <a:latin typeface="Calibri"/>
              </a:defRPr>
            </a:pPr>
            <a:r>
              <a:t>❌3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572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Calibri"/>
              </a:defRPr>
            </a:pPr>
            <a:r>
              <a:t>Cited Pegoraro — but student</a:t>
            </a:r>
            <a:br/>
            <a:r>
              <a:t> didn't read Pegoraro. Read it</a:t>
            </a:r>
            <a:br/>
            <a:r>
              <a:t> in Cunningham &amp; Eastin.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02379"/>
                </a:solidFill>
                <a:latin typeface="Calibri"/>
              </a:defRPr>
            </a:pPr>
            <a:r>
              <a:t>Read → cover → write from memory → cite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✅  Fix: Paraphrase + Secondary Referencing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8040"/>
                </a:solidFill>
                <a:latin typeface="Calibri"/>
              </a:defRPr>
            </a:pPr>
            <a:r>
              <a:t>CORRECT REWRITE: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789920" cy="1005840"/>
          </a:xfrm>
          <a:prstGeom prst="rect">
            <a:avLst/>
          </a:prstGeom>
          <a:solidFill>
            <a:srgbClr val="F0FAF0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300" b="1" i="1">
                <a:solidFill>
                  <a:srgbClr val="008040"/>
                </a:solidFill>
                <a:latin typeface="Calibri"/>
              </a:defRPr>
            </a:pPr>
            <a:r>
              <a:t>Social media has brought a 'new and rich' experience to sports fans</a:t>
            </a:r>
            <a:br/>
            <a:r>
              <a:t>who can tweet, send text messages or update their Facebook status</a:t>
            </a:r>
            <a:br/>
            <a:r>
              <a:t>at the same time as watching the game</a:t>
            </a:r>
            <a:br/>
            <a:r>
              <a:t>(Pegoraro, 2013 cited in Cunningham and Eastin, 2015, p.289).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8040"/>
                </a:solidFill>
                <a:latin typeface="Calibri"/>
              </a:defRPr>
            </a:pPr>
            <a:r>
              <a:t>What changed: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8040"/>
                </a:solidFill>
                <a:latin typeface="Calibri"/>
              </a:defRPr>
            </a:pPr>
            <a:r>
              <a:t>✅  New subject: "Social media has brought…"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8040"/>
                </a:solidFill>
                <a:latin typeface="Calibri"/>
              </a:defRPr>
            </a:pPr>
            <a:r>
              <a:t>✅  New structure: not "X provides Y with Z"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8040"/>
                </a:solidFill>
                <a:latin typeface="Calibri"/>
              </a:defRPr>
            </a:pPr>
            <a:r>
              <a:t>✅  "text and Facebook" → "send text messages</a:t>
            </a:r>
            <a:br/>
            <a:r>
              <a:t>     or update Facebook status"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8040"/>
                </a:solidFill>
                <a:latin typeface="Calibri"/>
              </a:defRPr>
            </a:pPr>
            <a:r>
              <a:t>✅  Secondary citation:  cited in +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Why secondary citation?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00"/>
                </a:solidFill>
                <a:latin typeface="Calibri"/>
              </a:defRPr>
            </a:pPr>
            <a:r>
              <a:t>Student did NOT read Pegoraro (2013).</a:t>
            </a:r>
            <a:br/>
            <a:br/>
            <a:r>
              <a:t>They read ABOUT Pegoraro</a:t>
            </a:r>
            <a:br/>
            <a:r>
              <a:t>in Cunningham &amp; Eastin (2015).</a:t>
            </a:r>
            <a:br/>
            <a:br/>
            <a:r>
              <a:t>Must show reader:</a:t>
            </a:r>
            <a:br/>
            <a:r>
              <a:t>→ Pegoraro, 2013 cited in</a:t>
            </a:r>
            <a:br/>
            <a:r>
              <a:t>   Cunningham and Eastin, 2015, p.289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02379"/>
                </a:solidFill>
                <a:latin typeface="Calibri"/>
              </a:defRPr>
            </a:pPr>
            <a:r>
              <a:t>Can't paraphrase? → quote + page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🔤  Direct Quotations: When &amp; 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C0000"/>
                </a:solidFill>
                <a:latin typeface="Calibri"/>
              </a:defRPr>
            </a:pPr>
            <a:r>
              <a:t>❌  Without quotation marks: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029200" cy="91440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 b="1" i="1">
                <a:solidFill>
                  <a:srgbClr val="CC0000"/>
                </a:solidFill>
                <a:latin typeface="Calibri"/>
              </a:defRPr>
            </a:pPr>
            <a:r>
              <a:t>…to be more interactive including</a:t>
            </a:r>
            <a:br/>
            <a:r>
              <a:t>additional touch points, direct</a:t>
            </a:r>
            <a:br/>
            <a:r>
              <a:t>transactions, and data gathering.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C0000"/>
                </a:solidFill>
                <a:latin typeface="Calibri"/>
              </a:defRPr>
            </a:pPr>
            <a:r>
              <a:t>Looks like student's own words → plagiarism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828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008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8040"/>
                </a:solidFill>
                <a:latin typeface="Calibri"/>
              </a:defRPr>
            </a:pPr>
            <a:r>
              <a:t>✅  With quotation marks: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029200" cy="914400"/>
          </a:xfrm>
          <a:prstGeom prst="rect">
            <a:avLst/>
          </a:prstGeom>
          <a:solidFill>
            <a:srgbClr val="F0FAF0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 b="1" i="1">
                <a:solidFill>
                  <a:srgbClr val="008040"/>
                </a:solidFill>
                <a:latin typeface="Calibri"/>
              </a:defRPr>
            </a:pPr>
            <a:r>
              <a:t>…to be more interactive including</a:t>
            </a:r>
            <a:br/>
            <a:r>
              <a:t>'additional touch points, direct</a:t>
            </a:r>
            <a:br/>
            <a:r>
              <a:t>transactions, and data gathering'</a:t>
            </a:r>
            <a:br/>
            <a:r>
              <a:t>(Cunningham and Eastin, 2015, p.289).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8040"/>
                </a:solidFill>
                <a:latin typeface="Calibri"/>
              </a:defRPr>
            </a:pPr>
            <a:r>
              <a:t>'...' tells reader: "these are not my words"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When to use direct quotes: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Calibri"/>
              </a:defRPr>
            </a:pPr>
            <a:r>
              <a:t>●  Only for fixed terms you CANNOT rephrase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Calibri"/>
              </a:defRPr>
            </a:pPr>
            <a:r>
              <a:t>●  Always add "..." + (Author, Year, p.X)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Calibri"/>
              </a:defRPr>
            </a:pPr>
            <a:r>
              <a:t>●  MAX 1 per paragraph — the rest = your paraphrase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02379"/>
                </a:solidFill>
                <a:latin typeface="Calibri"/>
              </a:defRPr>
            </a:pPr>
            <a:r>
              <a:t>Find original source. If you can't → cited in + page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Solutions: How to Rewrite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1371600"/>
            <a:ext cx="1280160" cy="1280160"/>
          </a:xfrm>
          <a:prstGeom prst="ellipse">
            <a:avLst/>
          </a:prstGeom>
          <a:solidFill>
            <a:srgbClr val="F5F0FA"/>
          </a:solidFill>
          <a:ln w="1270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Find original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Go read Pegoraro (2013)</a:t>
            </a:r>
            <a:br/>
            <a:r>
              <a:t>yourself if possible.</a:t>
            </a:r>
          </a:p>
        </p:txBody>
      </p:sp>
      <p:sp>
        <p:nvSpPr>
          <p:cNvPr id="10" name="Oval 9"/>
          <p:cNvSpPr/>
          <p:nvPr/>
        </p:nvSpPr>
        <p:spPr>
          <a:xfrm>
            <a:off x="5029199" y="1371600"/>
            <a:ext cx="1280160" cy="1280160"/>
          </a:xfrm>
          <a:prstGeom prst="ellipse">
            <a:avLst/>
          </a:prstGeom>
          <a:solidFill>
            <a:srgbClr val="F5F0FA"/>
          </a:solidFill>
          <a:ln w="1270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Secondary referencing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2004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If you cannot find it →</a:t>
            </a:r>
            <a:br/>
            <a:r>
              <a:t>(Pegoraro, 2013 cited in</a:t>
            </a:r>
            <a:br/>
            <a:r>
              <a:t>Cunningham &amp; Eastin, 2015, p.289)</a:t>
            </a:r>
          </a:p>
        </p:txBody>
      </p:sp>
      <p:sp>
        <p:nvSpPr>
          <p:cNvPr id="13" name="Oval 12"/>
          <p:cNvSpPr/>
          <p:nvPr/>
        </p:nvSpPr>
        <p:spPr>
          <a:xfrm>
            <a:off x="8778238" y="1371600"/>
            <a:ext cx="1280160" cy="1280160"/>
          </a:xfrm>
          <a:prstGeom prst="ellipse">
            <a:avLst/>
          </a:prstGeom>
          <a:solidFill>
            <a:srgbClr val="F5F0FA"/>
          </a:solidFill>
          <a:ln w="1270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Paraphrase properly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32004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t>Do NOT copy chunks.</a:t>
            </a:r>
            <a:br/>
            <a:r>
              <a:t>Read → cover → write</a:t>
            </a:r>
            <a:br/>
            <a:r>
              <a:t>from memory → check.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502379"/>
                </a:solidFill>
                <a:latin typeface="Calibri"/>
              </a:defRPr>
            </a:pPr>
            <a:r>
              <a:t>Proofreading = the difference between pass and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Proofreading Checklist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645920"/>
            <a:ext cx="1188720" cy="1188720"/>
          </a:xfrm>
          <a:prstGeom prst="ellipse">
            <a:avLst/>
          </a:prstGeom>
          <a:solidFill>
            <a:srgbClr val="F5F0FA"/>
          </a:solidFill>
          <a:ln w="1270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Spelling &amp; grammar</a:t>
            </a:r>
          </a:p>
        </p:txBody>
      </p:sp>
      <p:sp>
        <p:nvSpPr>
          <p:cNvPr id="9" name="Oval 8"/>
          <p:cNvSpPr/>
          <p:nvPr/>
        </p:nvSpPr>
        <p:spPr>
          <a:xfrm>
            <a:off x="3337560" y="1645920"/>
            <a:ext cx="1188720" cy="1188720"/>
          </a:xfrm>
          <a:prstGeom prst="ellipse">
            <a:avLst/>
          </a:prstGeom>
          <a:solidFill>
            <a:srgbClr val="F5F0FA"/>
          </a:solidFill>
          <a:ln w="1270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Citation format</a:t>
            </a:r>
          </a:p>
        </p:txBody>
      </p:sp>
      <p:sp>
        <p:nvSpPr>
          <p:cNvPr id="11" name="Oval 10"/>
          <p:cNvSpPr/>
          <p:nvPr/>
        </p:nvSpPr>
        <p:spPr>
          <a:xfrm>
            <a:off x="5577840" y="1645920"/>
            <a:ext cx="1188720" cy="1188720"/>
          </a:xfrm>
          <a:prstGeom prst="ellipse">
            <a:avLst/>
          </a:prstGeom>
          <a:solidFill>
            <a:srgbClr val="F5F0FA"/>
          </a:solidFill>
          <a:ln w="1270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🗣️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Read aloud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1645920"/>
            <a:ext cx="1188720" cy="1188720"/>
          </a:xfrm>
          <a:prstGeom prst="ellipse">
            <a:avLst/>
          </a:prstGeom>
          <a:solidFill>
            <a:srgbClr val="F5F0FA"/>
          </a:solidFill>
          <a:ln w="1270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Check Turnitin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0" y="1645920"/>
            <a:ext cx="1188720" cy="1188720"/>
          </a:xfrm>
          <a:prstGeom prst="ellipse">
            <a:avLst/>
          </a:prstGeom>
          <a:solidFill>
            <a:srgbClr val="F5F0FA"/>
          </a:solidFill>
          <a:ln w="1270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⏱️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5 min buffer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