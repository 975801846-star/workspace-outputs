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12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7C3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Effective Teamwork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0" i="0">
                <a:solidFill>
                  <a:srgbClr val="D8C8E8"/>
                </a:solidFill>
                <a:latin typeface="Calibri"/>
              </a:rPr>
              <a:t>Discover your team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B9A6D0"/>
                </a:solidFill>
                <a:latin typeface="Calibri"/>
              </a:rPr>
              <a:t>A quick personality survey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502379"/>
                </a:solidFill>
                <a:latin typeface="Calibri"/>
              </a:rPr>
              <a:t>A Quick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Effective Teamwork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30124E"/>
                </a:solidFill>
                <a:latin typeface="Calibri"/>
              </a:rPr>
              <a:t>Do you know what role you are best at in a team?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Let's find out with a short test.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Answer four simple questions.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Remember your four letters as you 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Do not share anything yet - just remember your letters.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502379"/>
                </a:solidFill>
                <a:latin typeface="Calibri"/>
              </a:rPr>
              <a:t>Question 1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Where do you focus your attention?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E74C3C"/>
                </a:solidFill>
                <a:latin typeface="Calibri"/>
              </a:rPr>
              <a:t>E</a:t>
            </a:r>
            <a:r>
              <a:rPr sz="1800" b="1">
                <a:solidFill>
                  <a:srgbClr val="502379"/>
                </a:solidFill>
                <a:latin typeface="Calibri"/>
              </a:rPr>
              <a:t>XTROVERTS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74C3C"/>
                </a:solidFill>
                <a:latin typeface="Calibri"/>
              </a:rPr>
              <a:t>E</a:t>
            </a:r>
            <a:r>
              <a:rPr sz="1500" b="0">
                <a:solidFill>
                  <a:srgbClr val="222222"/>
                </a:solidFill>
                <a:latin typeface="Calibri"/>
              </a:rPr>
              <a:t>xtroverts are energised by being with others. Often think out loud and share their personal feelings easily.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02336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206240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E74C3C"/>
                </a:solidFill>
                <a:latin typeface="Calibri"/>
              </a:rPr>
              <a:t>I</a:t>
            </a:r>
            <a:r>
              <a:rPr sz="1800" b="1">
                <a:solidFill>
                  <a:srgbClr val="502379"/>
                </a:solidFill>
                <a:latin typeface="Calibri"/>
              </a:rPr>
              <a:t>NTROVERTS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74C3C"/>
                </a:solidFill>
                <a:latin typeface="Calibri"/>
              </a:rPr>
              <a:t>I</a:t>
            </a:r>
            <a:r>
              <a:rPr sz="1500" b="0">
                <a:solidFill>
                  <a:srgbClr val="222222"/>
                </a:solidFill>
                <a:latin typeface="Calibri"/>
              </a:rPr>
              <a:t>ntroverts are energised by spending time alone. They are inclined to think things through without speaking and are more private about their feelings.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502379"/>
                </a:solidFill>
                <a:latin typeface="Calibri"/>
              </a:rPr>
              <a:t>Question 2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How do you take in information?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E74C3C"/>
                </a:solidFill>
                <a:latin typeface="Calibri"/>
              </a:rPr>
              <a:t>S</a:t>
            </a:r>
            <a:r>
              <a:rPr sz="1800" b="1">
                <a:solidFill>
                  <a:srgbClr val="502379"/>
                </a:solidFill>
                <a:latin typeface="Calibri"/>
              </a:rPr>
              <a:t>ENSING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74C3C"/>
                </a:solidFill>
                <a:latin typeface="Calibri"/>
              </a:rPr>
              <a:t>S</a:t>
            </a:r>
            <a:r>
              <a:rPr sz="1500" b="0">
                <a:solidFill>
                  <a:srgbClr val="222222"/>
                </a:solidFill>
                <a:latin typeface="Calibri"/>
              </a:rPr>
              <a:t>ensing types trust what is certain and concrete. They like new ideas only if they are practical. They value realism and common sense and like to use established skills.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02336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206240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E74C3C"/>
                </a:solidFill>
                <a:latin typeface="Calibri"/>
              </a:rPr>
              <a:t>I</a:t>
            </a:r>
            <a:r>
              <a:rPr sz="1800" b="1">
                <a:solidFill>
                  <a:srgbClr val="502379"/>
                </a:solidFill>
                <a:latin typeface="Calibri"/>
              </a:rPr>
              <a:t>NTUITION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74C3C"/>
                </a:solidFill>
                <a:latin typeface="Calibri"/>
              </a:rPr>
              <a:t>I</a:t>
            </a:r>
            <a:r>
              <a:rPr sz="1500" b="0">
                <a:solidFill>
                  <a:srgbClr val="222222"/>
                </a:solidFill>
                <a:latin typeface="Calibri"/>
              </a:rPr>
              <a:t>ntuition types trust their instincts, inspiration and inference. They like new ideas for their own sake. They value imagination and innovation and like to learn new skills.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502379"/>
                </a:solidFill>
                <a:latin typeface="Calibri"/>
              </a:rPr>
              <a:t>Question 3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How do you make decisions?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E74C3C"/>
                </a:solidFill>
                <a:latin typeface="Calibri"/>
              </a:rPr>
              <a:t>T</a:t>
            </a:r>
            <a:r>
              <a:rPr sz="1800" b="1">
                <a:solidFill>
                  <a:srgbClr val="502379"/>
                </a:solidFill>
                <a:latin typeface="Calibri"/>
              </a:rPr>
              <a:t>HINKING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74C3C"/>
                </a:solidFill>
                <a:latin typeface="Calibri"/>
              </a:rPr>
              <a:t>T</a:t>
            </a:r>
            <a:r>
              <a:rPr sz="1500" b="0">
                <a:solidFill>
                  <a:srgbClr val="222222"/>
                </a:solidFill>
                <a:latin typeface="Calibri"/>
              </a:rPr>
              <a:t>hinking types step back from problems and analyse them. They believe truth is more important than tact. They have strong motivation to achieve.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02336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206240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E74C3C"/>
                </a:solidFill>
                <a:latin typeface="Calibri"/>
              </a:rPr>
              <a:t>F</a:t>
            </a:r>
            <a:r>
              <a:rPr sz="1800" b="1">
                <a:solidFill>
                  <a:srgbClr val="502379"/>
                </a:solidFill>
                <a:latin typeface="Calibri"/>
              </a:rPr>
              <a:t>EELING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74C3C"/>
                </a:solidFill>
                <a:latin typeface="Calibri"/>
              </a:rPr>
              <a:t>F</a:t>
            </a:r>
            <a:r>
              <a:rPr sz="1500" b="0">
                <a:solidFill>
                  <a:srgbClr val="222222"/>
                </a:solidFill>
                <a:latin typeface="Calibri"/>
              </a:rPr>
              <a:t>eeling types think hard about the effects of decisions on individuals. They look for compromises and believe feelings are more important in decision making.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502379"/>
                </a:solidFill>
                <a:latin typeface="Calibri"/>
              </a:rPr>
              <a:t>Question 4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How do you deal with the world?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E74C3C"/>
                </a:solidFill>
                <a:latin typeface="Calibri"/>
              </a:rPr>
              <a:t>J</a:t>
            </a:r>
            <a:r>
              <a:rPr sz="1800" b="1">
                <a:solidFill>
                  <a:srgbClr val="502379"/>
                </a:solidFill>
                <a:latin typeface="Calibri"/>
              </a:rPr>
              <a:t>UDGEMENT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74C3C"/>
                </a:solidFill>
                <a:latin typeface="Calibri"/>
              </a:rPr>
              <a:t>J</a:t>
            </a:r>
            <a:r>
              <a:rPr sz="1500" b="0">
                <a:solidFill>
                  <a:srgbClr val="222222"/>
                </a:solidFill>
                <a:latin typeface="Calibri"/>
              </a:rPr>
              <a:t>udgement types are happiest after decisions are made. They set goals and work towards these, and prefer knowing exactly what is involved.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023360"/>
            <a:ext cx="10972800" cy="2286000"/>
          </a:xfrm>
          <a:prstGeom prst="rect">
            <a:avLst/>
          </a:prstGeom>
          <a:solidFill>
            <a:srgbClr val="F5F0FA"/>
          </a:solidFill>
          <a:ln w="15240">
            <a:solidFill>
              <a:srgbClr val="7C3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206240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E74C3C"/>
                </a:solidFill>
                <a:latin typeface="Calibri"/>
              </a:rPr>
              <a:t>P</a:t>
            </a:r>
            <a:r>
              <a:rPr sz="1800" b="1">
                <a:solidFill>
                  <a:srgbClr val="502379"/>
                </a:solidFill>
                <a:latin typeface="Calibri"/>
              </a:rPr>
              <a:t>ERCEPTION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74C3C"/>
                </a:solidFill>
                <a:latin typeface="Calibri"/>
              </a:rPr>
              <a:t>P</a:t>
            </a:r>
            <a:r>
              <a:rPr sz="1500" b="0">
                <a:solidFill>
                  <a:srgbClr val="222222"/>
                </a:solidFill>
                <a:latin typeface="Calibri"/>
              </a:rPr>
              <a:t>erception types prefer to leave options open. They enjoy adapting to new situations and cope well with ambiguity.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502379"/>
                </a:solidFill>
                <a:latin typeface="Calibri"/>
              </a:rPr>
              <a:t>Remember your four letters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Time to share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You now have four letters, for example: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926080"/>
            <a:ext cx="1188720" cy="118872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1188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2926080"/>
            <a:ext cx="1188720" cy="118872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03120" y="3063240"/>
            <a:ext cx="1188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2926080"/>
            <a:ext cx="1188720" cy="118872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3063240"/>
            <a:ext cx="1188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2926080"/>
            <a:ext cx="1188720" cy="1188720"/>
          </a:xfrm>
          <a:prstGeom prst="rect">
            <a:avLst/>
          </a:prstGeom>
          <a:solidFill>
            <a:srgbClr val="502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3063240"/>
            <a:ext cx="1188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J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000" b="1" i="0">
                <a:solidFill>
                  <a:srgbClr val="502379"/>
                </a:solidFill>
                <a:latin typeface="Calibri"/>
              </a:rPr>
              <a:t>One by one, share your four letters.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We will look up each result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