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5B3A8C"/>
                </a:solidFill>
                <a:latin typeface="Segoe UI"/>
              </a:defRPr>
            </a:pPr>
            <a:r>
              <a:t>Transfer of Technical &amp; Tactical Skills</a:t>
            </a:r>
            <a:br/>
            <a:r>
              <a:t>from Futsal to Soccer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0">
                <a:solidFill>
                  <a:srgbClr val="7E57C2"/>
                </a:solidFill>
                <a:latin typeface="Segoe UI"/>
              </a:defRPr>
            </a:pPr>
            <a:r>
              <a:t>A Systematic Review &amp; Meta-Analysis</a:t>
            </a:r>
            <a:br/>
            <a:r>
              <a:t>of the 'Donor Sport'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383280"/>
            <a:ext cx="1828800" cy="36576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999999"/>
                </a:solidFill>
                <a:latin typeface="Segoe UI"/>
              </a:defRPr>
            </a:pPr>
            <a:r>
              <a:t>Peña-Ardila, E.F. (2026) · Perceptual and Motor Skills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3093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999999"/>
                </a:solidFill>
                <a:latin typeface="Segoe UI"/>
              </a:defRPr>
            </a:pPr>
            <a:r>
              <a:t>Analyst: HONGXIAN AN  |  Pre-sessional Programme  |  Presenting an Article  |  Week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Why This Article?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7E57C2"/>
                </a:solidFill>
                <a:latin typeface="Segoe UI"/>
              </a:defRPr>
            </a:pPr>
            <a:r>
              <a:t>Most RECENT (2026)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Covers 2010–2018 primary research → a full map of the 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651760"/>
            <a:ext cx="9144000" cy="1016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08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7E57C2"/>
                </a:solidFill>
                <a:latin typeface="Segoe UI"/>
              </a:defRPr>
            </a:pPr>
            <a:r>
              <a:t>Perfect MATCH for my LR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Directly tests the "donor sport" concept · systematic review + meta-analysis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297680"/>
            <a:ext cx="9144000" cy="1016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7E57C2"/>
                </a:solidFill>
                <a:latin typeface="Segoe UI"/>
              </a:defRPr>
            </a:pPr>
            <a:r>
              <a:t>PRACTICAL Shortcut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212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One paper ≈ knowing what the whole field has done → guides further source searching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How Was It Done?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2D2240"/>
                </a:solidFill>
                <a:latin typeface="Segoe UI"/>
              </a:rPr>
              <a:t>Guideline:</a:t>
            </a:r>
            <a:r>
              <a:rPr sz="1700">
                <a:solidFill>
                  <a:srgbClr val="2D2240"/>
                </a:solidFill>
                <a:latin typeface="Segoe UI"/>
              </a:rPr>
              <a:t> PRISMA 2020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2D2240"/>
                </a:solidFill>
                <a:latin typeface="Segoe UI"/>
              </a:rPr>
              <a:t>Databases:</a:t>
            </a:r>
            <a:r>
              <a:rPr sz="1700">
                <a:solidFill>
                  <a:srgbClr val="2D2240"/>
                </a:solidFill>
                <a:latin typeface="Segoe UI"/>
              </a:rPr>
              <a:t> Scopus · ScienceDirect · Web of Science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2D2240"/>
                </a:solidFill>
                <a:latin typeface="Segoe UI"/>
              </a:rPr>
              <a:t>Screening:</a:t>
            </a:r>
            <a:r>
              <a:rPr sz="1700">
                <a:solidFill>
                  <a:srgbClr val="2D2240"/>
                </a:solidFill>
                <a:latin typeface="Segoe UI"/>
              </a:rPr>
              <a:t> 780 → 683 (dedup) → 38 (full-text) → 7 studies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2D2240"/>
                </a:solidFill>
                <a:latin typeface="Segoe UI"/>
              </a:rPr>
              <a:t>Criteria:</a:t>
            </a:r>
            <a:r>
              <a:rPr sz="1700">
                <a:solidFill>
                  <a:srgbClr val="2D2240"/>
                </a:solidFill>
                <a:latin typeface="Segoe UI"/>
              </a:rPr>
              <a:t> PICO(S) — population, intervention, comparison, outcome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2D2240"/>
                </a:solidFill>
                <a:latin typeface="Segoe UI"/>
              </a:rPr>
              <a:t>Analysis:</a:t>
            </a:r>
            <a:r>
              <a:rPr sz="1700">
                <a:solidFill>
                  <a:srgbClr val="2D2240"/>
                </a:solidFill>
                <a:latin typeface="Segoe UI"/>
              </a:rPr>
              <a:t> Random-effects meta-analysis · Hedges' g · I²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7E57C2"/>
                </a:solidFill>
                <a:latin typeface="Segoe UI"/>
              </a:defRPr>
            </a:pPr>
            <a:r>
              <a:t>Key Numbers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SMD (Effect Size)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331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2E7D32"/>
                </a:solidFill>
                <a:latin typeface="Segoe UI"/>
              </a:defRPr>
            </a:pPr>
            <a:r>
              <a:t>1.43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D2240"/>
                </a:solidFill>
                <a:latin typeface="Segoe UI"/>
              </a:defRPr>
            </a:pPr>
            <a:r>
              <a:t>Very large effect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3337560"/>
            <a:ext cx="4572000" cy="762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95% CI (Reliability)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E65100"/>
                </a:solidFill>
                <a:latin typeface="Segoe UI"/>
              </a:defRPr>
            </a:pPr>
            <a:r>
              <a:t>−0.16 ~ 3.03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D2240"/>
                </a:solidFill>
                <a:latin typeface="Segoe UI"/>
              </a:defRPr>
            </a:pPr>
            <a:r>
              <a:t>Interval crosses zero — direction is right, need more studies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4892040"/>
            <a:ext cx="4572000" cy="762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I² (Agreement)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4406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7E57C2"/>
                </a:solidFill>
                <a:latin typeface="Segoe UI"/>
              </a:defRPr>
            </a:pPr>
            <a:r>
              <a:t>86.9%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58978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D2240"/>
                </a:solidFill>
                <a:latin typeface="Segoe UI"/>
              </a:defRPr>
            </a:pPr>
            <a:r>
              <a:t>Very high — methods differ greatly → field still young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Three Main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2E7D32"/>
                </a:solidFill>
                <a:latin typeface="Segoe UI"/>
              </a:defRPr>
            </a:pPr>
            <a:r>
              <a:t>✅  PASSING: Strong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SMD = 1.43 — very large effect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Low-bounce ball → easier control → frees attention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Passing accuracy ↑ in soccer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971800"/>
            <a:ext cx="9601200" cy="762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E65100"/>
                </a:solidFill>
                <a:latin typeface="Segoe UI"/>
              </a:defRPr>
            </a:pPr>
            <a:r>
              <a:t>⚠️  SPEED &amp; AGILITY: Context-Dependent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6576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Field-based tests → futsal players FASTER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Lab-based tests → futsal = or SLOWER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Futsal trains perception-action coupling, NOT raw processing speed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754880"/>
            <a:ext cx="9601200" cy="762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C62828"/>
                </a:solidFill>
                <a:latin typeface="Segoe UI"/>
              </a:defRPr>
            </a:pPr>
            <a:r>
              <a:t>❌  DRIBBLING: Sport-Specific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4406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2D2240"/>
                </a:solidFill>
                <a:latin typeface="Segoe UI"/>
              </a:rPr>
              <a:t>Futsal:</a:t>
            </a:r>
            <a:r>
              <a:rPr sz="1600">
                <a:solidFill>
                  <a:srgbClr val="2D2240"/>
                </a:solidFill>
                <a:latin typeface="Segoe UI"/>
              </a:rPr>
              <a:t> success = close distance + high velocity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2D2240"/>
                </a:solidFill>
                <a:latin typeface="Segoe UI"/>
              </a:rPr>
              <a:t>Soccer:</a:t>
            </a:r>
            <a:r>
              <a:rPr sz="1600">
                <a:solidFill>
                  <a:srgbClr val="2D2240"/>
                </a:solidFill>
                <a:latin typeface="Segoe UI"/>
              </a:rPr>
              <a:t> success = defender's reaction time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Different constraints → different solutions — NO automatic transfer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Additional Finding &amp;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565C0"/>
                </a:solidFill>
                <a:latin typeface="Segoe UI"/>
              </a:defRPr>
            </a:pPr>
            <a:r>
              <a:t>🧠  COGNITIVE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Early futsal deliberate practice (6–12y, 13–15y)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→ higher offensive decision-making quality in adulthood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Machado et al. (2023, 2024)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Brazilian professional female players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E65100"/>
                </a:solidFill>
                <a:latin typeface="Segoe UI"/>
              </a:defRPr>
            </a:pPr>
            <a:r>
              <a:t>⚠️ 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0116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Small sample: only 7 studies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Mostly cross-sectional — no longitudinal tracking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Dose-response unknown: how much futsal is enough?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Language restriction: EN / ES / PT only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Inter-rater reliability not computed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13716" cy="36576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999999"/>
                </a:solidFill>
                <a:latin typeface="Segoe UI"/>
              </a:defRPr>
            </a:pPr>
            <a:r>
              <a:t>→ Authors openly acknowledge these gaps — this is where my LR can contribute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My View as a Coach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2E7D32"/>
                </a:solidFill>
                <a:latin typeface="Segoe UI"/>
              </a:defRPr>
            </a:pPr>
            <a:r>
              <a:t>✅  What I Can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Low-bounce ball in youth training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Small-sided constraints → force quick decisions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Early futsal exposure → talent development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Field-based reactive agility tests (RVS-T), NOT lab 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C62828"/>
                </a:solidFill>
                <a:latin typeface="Segoe UI"/>
              </a:defRPr>
            </a:pPr>
            <a:r>
              <a:t>❓  Unanswered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9202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WHEN to introduce futsal? At what age?</a:t>
            </a:r>
          </a:p>
          <a:p>
            <a:pPr>
              <a:spcAft>
                <a:spcPts val="6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WHEN to transition to larger-sided games?</a:t>
            </a:r>
          </a:p>
          <a:p>
            <a:pPr>
              <a:spcAft>
                <a:spcPts val="6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Must low-bounce drills be INDOOR?</a:t>
            </a:r>
          </a:p>
          <a:p>
            <a:pPr>
              <a:spcAft>
                <a:spcPts val="6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Does GRASS FRICTION affect transfer?</a:t>
            </a:r>
          </a:p>
          <a:p>
            <a:pPr>
              <a:spcAft>
                <a:spcPts val="6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Weaknesses of adult futsal → 11-a-side?</a:t>
            </a:r>
          </a:p>
          <a:p>
            <a:pPr>
              <a:spcAft>
                <a:spcPts val="6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Offside awareness · long passing · goalkeeper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13716" cy="36576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39496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5B3A8C"/>
                </a:solidFill>
                <a:latin typeface="Segoe UI"/>
              </a:defRPr>
            </a:pPr>
            <a:r>
              <a:t>💡  Key gap: Almost NO research on NEGATIVE TRANSFER — does futsal create bad habits for football?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From This Review → My 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7E57C2"/>
                </a:solidFill>
                <a:latin typeface="Segoe UI"/>
              </a:defRPr>
            </a:pPr>
            <a:r>
              <a:t>Peña-Ardila (2026) tells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09728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7E57C2"/>
                </a:solidFill>
                <a:latin typeface="Segoe UI"/>
              </a:defRPr>
            </a:pPr>
            <a:r>
              <a:t>My LR will explore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62472" y="1463040"/>
            <a:ext cx="0" cy="190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16635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✅  PASSING transfers (SMD=1.43)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⚠️  SPEED depends on context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❌  DRIBBLING is sport-specific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🧠  Early futsal → better adult decision-making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⚠️  Only 7 studies · No longitudinal data · No negative transfer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9" y="1463040"/>
            <a:ext cx="516635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2D2240"/>
                </a:solidFill>
                <a:latin typeface="Segoe UI"/>
              </a:rPr>
              <a:t>THEME 1:</a:t>
            </a:r>
            <a:r>
              <a:rPr sz="1600">
                <a:solidFill>
                  <a:srgbClr val="2D2240"/>
                </a:solidFill>
                <a:latin typeface="Segoe UI"/>
              </a:rPr>
              <a:t> Technical skill transfer mechanisms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2D2240"/>
                </a:solidFill>
                <a:latin typeface="Segoe UI"/>
              </a:rPr>
              <a:t>THEME 2:</a:t>
            </a:r>
            <a:r>
              <a:rPr sz="1600">
                <a:solidFill>
                  <a:srgbClr val="2D2240"/>
                </a:solidFill>
                <a:latin typeface="Segoe UI"/>
              </a:rPr>
              <a:t> Perceptual-cognitive adaptations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2D2240"/>
                </a:solidFill>
                <a:latin typeface="Segoe UI"/>
              </a:rPr>
              <a:t>THEME 3:</a:t>
            </a:r>
            <a:r>
              <a:rPr sz="1600">
                <a:solidFill>
                  <a:srgbClr val="2D2240"/>
                </a:solidFill>
                <a:latin typeface="Segoe UI"/>
              </a:rPr>
              <a:t> Futsal in talent development pathways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2D2240"/>
                </a:solidFill>
                <a:latin typeface="Segoe UI"/>
              </a:rPr>
              <a:t>➕ Plus:</a:t>
            </a:r>
            <a:r>
              <a:rPr sz="1600">
                <a:solidFill>
                  <a:srgbClr val="2D2240"/>
                </a:solidFill>
                <a:latin typeface="Segoe UI"/>
              </a:rPr>
              <a:t> What does NOT transfer and why?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→ Identifying research gaps is itself a contribution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943600"/>
            <a:ext cx="9418320" cy="457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0807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700" b="0">
                <a:solidFill>
                  <a:srgbClr val="7E57C2"/>
                </a:solidFill>
                <a:latin typeface="Segoe UI"/>
              </a:defRPr>
            </a:pPr>
            <a:r>
              <a:t>This paper maps the KNOWN — my LR fills the UNKNOWN.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