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600" b="1">
                <a:solidFill>
                  <a:srgbClr val="5B3A8C"/>
                </a:solidFill>
                <a:latin typeface="Segoe UI"/>
              </a:defRPr>
            </a:pPr>
            <a:r>
              <a:t>Technical &amp; Tactical Skill Transfer</a:t>
            </a:r>
            <a:br/>
            <a:r>
              <a:t>from Futsal to Soccer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7E57C2"/>
                </a:solidFill>
                <a:latin typeface="Segoe UI"/>
              </a:defRPr>
            </a:pPr>
            <a:r>
              <a:t>A Systematic Review &amp; Meta-Analysis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00400"/>
            <a:ext cx="1828800" cy="27432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999999"/>
                </a:solidFill>
                <a:latin typeface="Segoe UI"/>
              </a:defRPr>
            </a:pPr>
            <a:r>
              <a:t>Peña-Ardila (2026) · Perceptual and Motor Skills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30936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999999"/>
                </a:solidFill>
                <a:latin typeface="Segoe UI"/>
              </a:defRPr>
            </a:pPr>
            <a:r>
              <a:t>HONGXIAN AN · Presenting an Article · Week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Why Interesting?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2860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D2240"/>
                </a:solidFill>
                <a:latin typeface="Segoe UI"/>
              </a:defRPr>
            </a:pPr>
            <a:r>
              <a:t>60M+ futsal participants worldwide (FIFA)</a:t>
            </a:r>
          </a:p>
          <a:p>
            <a:pPr>
              <a:spcAft>
                <a:spcPts val="1000"/>
              </a:spcAft>
              <a:defRPr sz="2200">
                <a:solidFill>
                  <a:srgbClr val="2D2240"/>
                </a:solidFill>
                <a:latin typeface="Segoe UI"/>
              </a:defRPr>
            </a:pPr>
            <a:r>
              <a:t>Pelé · Ronaldinho · Neymar — futsal background</a:t>
            </a:r>
          </a:p>
          <a:p>
            <a:pPr>
              <a:spcAft>
                <a:spcPts val="1000"/>
              </a:spcAft>
              <a:defRPr sz="2200">
                <a:solidFill>
                  <a:srgbClr val="2D2240"/>
                </a:solidFill>
                <a:latin typeface="Segoe UI"/>
              </a:defRPr>
            </a:pPr>
            <a:r>
              <a:t>Donor sport: decades of belief, minimal evidence</a:t>
            </a:r>
          </a:p>
          <a:p>
            <a:pPr>
              <a:spcAft>
                <a:spcPts val="1000"/>
              </a:spcAft>
              <a:defRPr sz="2200">
                <a:solidFill>
                  <a:srgbClr val="2D2240"/>
                </a:solidFill>
                <a:latin typeface="Segoe UI"/>
              </a:defRPr>
            </a:pPr>
            <a:r>
              <a:t>First quantitative synthesis of this topic</a:t>
            </a:r>
          </a:p>
          <a:p>
            <a:pPr>
              <a:spcAft>
                <a:spcPts val="1000"/>
              </a:spcAft>
              <a:defRPr sz="2200">
                <a:solidFill>
                  <a:srgbClr val="2D2240"/>
                </a:solidFill>
                <a:latin typeface="Segoe UI"/>
              </a:defRPr>
            </a:pPr>
            <a:r>
              <a:t>Early diversification vs. specialization debate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2860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PRISMA 2020</a:t>
            </a:r>
          </a:p>
          <a:p>
            <a:pPr>
              <a:spcAft>
                <a:spcPts val="10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3 databases</a:t>
            </a:r>
          </a:p>
          <a:p>
            <a:pPr>
              <a:spcAft>
                <a:spcPts val="10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780 → 683 → 38 → 7 studies</a:t>
            </a:r>
          </a:p>
          <a:p>
            <a:pPr>
              <a:spcAft>
                <a:spcPts val="10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PICO(S) criteria</a:t>
            </a:r>
          </a:p>
          <a:p>
            <a:pPr>
              <a:spcAft>
                <a:spcPts val="10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Random-effects · Hedges' g · I²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19050" cy="475488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999999"/>
                </a:solidFill>
                <a:latin typeface="Segoe UI"/>
              </a:defRPr>
            </a:pPr>
            <a:r>
              <a:t>SMD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7373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600" b="1">
                <a:solidFill>
                  <a:srgbClr val="2E7D32"/>
                </a:solidFill>
                <a:latin typeface="Segoe UI"/>
              </a:defRPr>
            </a:pPr>
            <a:r>
              <a:t>1.43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5603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999999"/>
                </a:solidFill>
                <a:latin typeface="Segoe UI"/>
              </a:defRPr>
            </a:pPr>
            <a:r>
              <a:t>95% 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92608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E65100"/>
                </a:solidFill>
                <a:latin typeface="Segoe UI"/>
              </a:defRPr>
            </a:pPr>
            <a:r>
              <a:t>−0.16 ~ 3.03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74903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999999"/>
                </a:solidFill>
                <a:latin typeface="Segoe UI"/>
              </a:defRPr>
            </a:pPr>
            <a:r>
              <a:t>I²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11480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600" b="1">
                <a:solidFill>
                  <a:srgbClr val="7E57C2"/>
                </a:solidFill>
                <a:latin typeface="Segoe UI"/>
              </a:defRPr>
            </a:pPr>
            <a:r>
              <a:t>86.9%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999999"/>
                </a:solidFill>
                <a:latin typeface="Segoe UI"/>
              </a:defRPr>
            </a:pPr>
            <a: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949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600" b="1">
                <a:solidFill>
                  <a:srgbClr val="2D2240"/>
                </a:solidFill>
                <a:latin typeface="Segoe U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Three Main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2860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2E7D32"/>
                </a:solidFill>
                <a:latin typeface="Segoe UI"/>
              </a:defRPr>
            </a:pPr>
            <a:r>
              <a:t>✅  PASSING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6596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SMD = 1.43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134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Low-bounce ball → easier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6090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Transfers to soccer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017520"/>
            <a:ext cx="9601200" cy="63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E65100"/>
                </a:solidFill>
                <a:latin typeface="Segoe UI"/>
              </a:defRPr>
            </a:pPr>
            <a:r>
              <a:t>⚠️  SPEED &amp; AGILITY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7490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I² = 94.5%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09651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Field: futsal &gt; soccer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4398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Lab: futsal ≤ soccer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800600"/>
            <a:ext cx="9601200" cy="63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C62828"/>
                </a:solidFill>
                <a:latin typeface="Segoe UI"/>
              </a:defRPr>
            </a:pPr>
            <a:r>
              <a:t>❌  DRIBBLING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5321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Futsal: distance + velocity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87959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Soccer: defender 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622706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2D2240"/>
                </a:solidFill>
                <a:latin typeface="Segoe UI"/>
              </a:defRPr>
            </a:pPr>
            <a:r>
              <a:t>No automatic transfer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Additional Finding &amp;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2860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565C0"/>
                </a:solidFill>
                <a:latin typeface="Segoe UI"/>
              </a:defRPr>
            </a:pPr>
            <a:r>
              <a:t>🧠  Cognitive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Early futsal practice (6–15y)</a:t>
            </a:r>
          </a:p>
          <a:p>
            <a:pPr>
              <a:spcAft>
                <a:spcPts val="10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→ Adult decision-making quality ↑</a:t>
            </a:r>
          </a:p>
          <a:p>
            <a:pPr>
              <a:spcAft>
                <a:spcPts val="10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Machado et al. (2023, 2024)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371600"/>
            <a:ext cx="19050" cy="45720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E65100"/>
                </a:solidFill>
                <a:latin typeface="Segoe UI"/>
              </a:defRPr>
            </a:pPr>
            <a:r>
              <a:t>⚠️ 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92024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N = 7</a:t>
            </a:r>
          </a:p>
          <a:p>
            <a:pPr>
              <a:spcAft>
                <a:spcPts val="10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Cross-sectional</a:t>
            </a:r>
          </a:p>
          <a:p>
            <a:pPr>
              <a:spcAft>
                <a:spcPts val="10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No longitudinal</a:t>
            </a:r>
          </a:p>
          <a:p>
            <a:pPr>
              <a:spcAft>
                <a:spcPts val="10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Dose-response: unknown</a:t>
            </a:r>
          </a:p>
          <a:p>
            <a:pPr>
              <a:spcAft>
                <a:spcPts val="10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No negative transfer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My View as a Coach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2860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2E7D32"/>
                </a:solidFill>
                <a:latin typeface="Segoe UI"/>
              </a:defRPr>
            </a:pPr>
            <a:r>
              <a:t>✅  Actionable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Low-bounce ball training</a:t>
            </a:r>
          </a:p>
          <a:p>
            <a:pPr>
              <a:spcAft>
                <a:spcPts val="10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Small-sided constraints</a:t>
            </a:r>
          </a:p>
          <a:p>
            <a:pPr>
              <a:spcAft>
                <a:spcPts val="10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Early futsal exposure</a:t>
            </a:r>
          </a:p>
          <a:p>
            <a:pPr>
              <a:spcAft>
                <a:spcPts val="10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Field-based testing (RVS-T)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371600"/>
            <a:ext cx="19050" cy="45720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C62828"/>
                </a:solidFill>
                <a:latin typeface="Segoe UI"/>
              </a:defRPr>
            </a:pPr>
            <a:r>
              <a:t>❓  Unanswered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9202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Optimal age to start?</a:t>
            </a:r>
          </a:p>
          <a:p>
            <a:pPr>
              <a:spcAft>
                <a:spcPts val="10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When to transition out?</a:t>
            </a:r>
          </a:p>
          <a:p>
            <a:pPr>
              <a:spcAft>
                <a:spcPts val="10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Indoor only? Grass friction?</a:t>
            </a:r>
          </a:p>
          <a:p>
            <a:pPr>
              <a:spcAft>
                <a:spcPts val="10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Weaknesses of futsal → football?</a:t>
            </a:r>
          </a:p>
          <a:p>
            <a:pPr>
              <a:spcAft>
                <a:spcPts val="10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Negative transfer evidence?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303520"/>
            <a:ext cx="10332720" cy="64008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5B3A8C"/>
                </a:solidFill>
                <a:latin typeface="Segoe UI"/>
              </a:defRPr>
            </a:pPr>
            <a:r>
              <a:t>💡  Almost no research on NEGATIVE TRANSFER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2860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5B3A8C"/>
                </a:solidFill>
                <a:latin typeface="Segoe UI"/>
              </a:defRPr>
            </a:pPr>
            <a:r>
              <a:t>Main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D2240"/>
                </a:solidFill>
                <a:latin typeface="Segoe UI"/>
              </a:defRPr>
            </a:pPr>
            <a:r>
              <a:t>Futsal = proven donor sport — but skill-specific</a:t>
            </a:r>
          </a:p>
          <a:p>
            <a:pPr>
              <a:spcAft>
                <a:spcPts val="1000"/>
              </a:spcAft>
              <a:defRPr sz="1900">
                <a:solidFill>
                  <a:srgbClr val="2D2240"/>
                </a:solidFill>
                <a:latin typeface="Segoe UI"/>
              </a:defRPr>
            </a:pPr>
            <a:r>
              <a:t>Passing ✅ | Speed ⚠️ | Dribbling 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743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7E57C2"/>
                </a:solidFill>
                <a:latin typeface="Segoe UI"/>
              </a:defRPr>
            </a:pPr>
            <a:r>
              <a:t>→ My Literature Review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7E57C2"/>
                </a:solidFill>
                <a:latin typeface="Segoe UI"/>
              </a:defRPr>
            </a:pPr>
            <a:r>
              <a:t>This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Passing: SMD = 1.43</a:t>
            </a:r>
          </a:p>
          <a:p>
            <a:pPr>
              <a:spcAft>
                <a:spcPts val="10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Speed: context-dependent</a:t>
            </a:r>
          </a:p>
          <a:p>
            <a:pPr>
              <a:spcAft>
                <a:spcPts val="10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Dribbling: sport-specific</a:t>
            </a:r>
          </a:p>
          <a:p>
            <a:pPr>
              <a:spcAft>
                <a:spcPts val="10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No longitudinal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3200400"/>
            <a:ext cx="19050" cy="32004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3200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7E57C2"/>
                </a:solidFill>
                <a:latin typeface="Segoe UI"/>
              </a:defRPr>
            </a:pPr>
            <a:r>
              <a:t>My LR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6576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Theme 1: Technical transfer</a:t>
            </a:r>
          </a:p>
          <a:p>
            <a:pPr>
              <a:spcAft>
                <a:spcPts val="10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Theme 2: Perceptual-cognitive</a:t>
            </a:r>
          </a:p>
          <a:p>
            <a:pPr>
              <a:spcAft>
                <a:spcPts val="10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Theme 3: Talent development</a:t>
            </a:r>
          </a:p>
          <a:p>
            <a:pPr>
              <a:spcAft>
                <a:spcPts val="10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➕  What does NOT transfer?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