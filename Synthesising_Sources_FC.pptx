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1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Pre-sessional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1089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Synthesising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Hongxian 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97680"/>
            <a:ext cx="2743200" cy="36576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0124E"/>
                </a:solidFill>
                <a:latin typeface="Calibri"/>
              </a:defRPr>
            </a:pPr>
            <a:r>
              <a:t>From Sources to 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4846320" cy="274320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124E"/>
                </a:solidFill>
                <a:latin typeface="Calibri"/>
              </a:defRPr>
            </a:pPr>
            <a:r>
              <a:t>Basic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●  reference  ·  citation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●  paraphrase  /  quote  /  summarise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0000"/>
                </a:solidFill>
                <a:latin typeface="Calibri"/>
              </a:defRPr>
            </a:pPr>
            <a:r>
              <a:t>Enough?   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0124E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5120640" cy="274320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7830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124E"/>
                </a:solidFill>
                <a:latin typeface="Calibri"/>
              </a:defRPr>
            </a:pPr>
            <a:r>
              <a:t>Critical Synthesis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560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●  connections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0632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●  similarities  ·  differences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566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●  commentary  · 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081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0124E"/>
                </a:solidFill>
                <a:latin typeface="Calibri"/>
              </a:defRPr>
            </a:pPr>
            <a:r>
              <a:t>Foundation → Building.  Sources → Voice.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0124E"/>
                </a:solidFill>
                <a:latin typeface="Calibri"/>
              </a:defRPr>
            </a:pPr>
            <a:r>
              <a:t>The 3-Colour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3383280" cy="3291840"/>
          </a:xfrm>
          <a:prstGeom prst="rect">
            <a:avLst/>
          </a:prstGeom>
          <a:solidFill>
            <a:srgbClr val="FFF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①  Topic /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7992224000" y="237744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0124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280160"/>
            <a:ext cx="3383280" cy="3291840"/>
          </a:xfrm>
          <a:prstGeom prst="rect">
            <a:avLst/>
          </a:prstGeom>
          <a:solidFill>
            <a:srgbClr val="DB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②  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37744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0124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1280160"/>
            <a:ext cx="2560320" cy="329184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1554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③  Your</a:t>
            </a:r>
            <a:br/>
            <a:r>
              <a:t>    Voice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74320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999999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74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0124E"/>
                </a:solidFill>
                <a:latin typeface="Calibri"/>
              </a:defRPr>
            </a:pPr>
            <a:r>
              <a:t>Topic  →  Citations  →  Your synthesised argument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081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0124E"/>
                </a:solidFill>
                <a:latin typeface="Calibri"/>
              </a:defRPr>
            </a:pPr>
            <a:r>
              <a:t>Your voice leads.  Sources support.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0124E"/>
                </a:solidFill>
                <a:latin typeface="Calibri"/>
              </a:defRPr>
            </a:pPr>
            <a:r>
              <a:t>Apply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5029200" cy="320040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0124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688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High-fat diet  →  brain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Calibri"/>
              </a:defRPr>
            </a:pPr>
            <a:r>
              <a:t>Write a paragraph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319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0000"/>
                </a:solidFill>
                <a:latin typeface="Calibri"/>
              </a:defRPr>
            </a:pPr>
            <a:r>
              <a:t>⚠️  见 Additional materials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303520" cy="320040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0124E"/>
                </a:solidFill>
                <a:latin typeface="Calibri"/>
              </a:defRPr>
            </a:pPr>
            <a:r>
              <a:t>Synthesis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1A1A"/>
                </a:solidFill>
                <a:latin typeface="Calibri"/>
              </a:defRPr>
            </a:pPr>
            <a:r>
              <a:t>connections</a:t>
            </a:r>
            <a:br/>
            <a:r>
              <a:t>+ similarities · differences</a:t>
            </a:r>
            <a:br/>
            <a:r>
              <a:t>+ commentary · evaluation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749039"/>
            <a:ext cx="2743200" cy="45720"/>
          </a:xfrm>
          <a:prstGeom prst="rect">
            <a:avLst/>
          </a:prstGeom>
          <a:solidFill>
            <a:srgbClr val="301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8862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0124E"/>
                </a:solidFill>
                <a:latin typeface="Calibri"/>
              </a:defRPr>
            </a:pPr>
            <a:r>
              <a:t>=  Your 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081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0124E"/>
                </a:solidFill>
                <a:latin typeface="Calibri"/>
              </a:defRPr>
            </a:pPr>
            <a:r>
              <a:t>Voice + evidence = synthesis.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