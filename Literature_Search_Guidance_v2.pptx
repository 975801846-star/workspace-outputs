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PRE-SESSIONAL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Literature Search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4114800" cy="36576"/>
          </a:xfrm>
          <a:prstGeom prst="rect">
            <a:avLst/>
          </a:prstGeom>
          <a:solidFill>
            <a:srgbClr val="7C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Hongxian An  |  Loughborough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1615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02379"/>
                </a:solidFill>
                <a:latin typeface="Calibri"/>
              </a:defRPr>
            </a:pPr>
            <a:r>
              <a:t>Good research = ideas + evidence, not just opinions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502379"/>
                </a:solidFill>
                <a:latin typeface="Calibri"/>
              </a:defRPr>
            </a:pPr>
            <a:r>
              <a:t>Why Research?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●  Own ideas → not enough alone</a:t>
            </a:r>
          </a:p>
          <a:p>
            <a:pPr algn="l">
              <a:spcAft>
                <a:spcPts val="1000"/>
              </a:spcAft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●  Published sources → credibility</a:t>
            </a:r>
          </a:p>
          <a:p>
            <a:pPr algn="l">
              <a:spcAft>
                <a:spcPts val="1000"/>
              </a:spcAft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●  Evidence → argument becomes persuasive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371600"/>
            <a:ext cx="2011680" cy="2011680"/>
          </a:xfrm>
          <a:prstGeom prst="rect">
            <a:avLst/>
          </a:prstGeom>
          <a:solidFill>
            <a:srgbClr val="F5F0FA"/>
          </a:solidFill>
          <a:ln w="1905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latin typeface="Segoe UI Emoji"/>
              </a:defRPr>
            </a:pPr>
            <a:r>
              <a:t>🗣️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CC0000"/>
                </a:solidFill>
                <a:latin typeface="Calibri"/>
              </a:defRPr>
            </a:pPr>
            <a:r>
              <a:t>Opinion only = empty shelf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0000"/>
                </a:solidFill>
                <a:latin typeface="Calibri"/>
              </a:defRPr>
            </a:pPr>
            <a:r>
              <a:t>➡️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371600"/>
            <a:ext cx="2011680" cy="2011680"/>
          </a:xfrm>
          <a:prstGeom prst="rect">
            <a:avLst/>
          </a:prstGeom>
          <a:solidFill>
            <a:srgbClr val="F5F0FA"/>
          </a:solidFill>
          <a:ln w="1905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latin typeface="Segoe UI Emoji"/>
              </a:defRPr>
            </a:pPr>
            <a:r>
              <a:t>📚📊📋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8040"/>
                </a:solidFill>
                <a:latin typeface="Calibri"/>
              </a:defRPr>
            </a:pPr>
            <a:r>
              <a:t>Evidence = full shelf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02379"/>
                </a:solidFill>
                <a:latin typeface="Calibri"/>
              </a:defRPr>
            </a:pPr>
            <a:r>
              <a:t>Research → Plan → Write. Not a straight line — a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502379"/>
                </a:solidFill>
                <a:latin typeface="Calibri"/>
              </a:defRPr>
            </a:pPr>
            <a:r>
              <a:t>LR Coursework: 3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502379"/>
                </a:solidFill>
                <a:latin typeface="Calibri"/>
              </a:defRPr>
            </a:pPr>
            <a:r>
              <a:t>🔍 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Choose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Identify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Narrow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502379"/>
                </a:solidFill>
                <a:latin typeface="Calibri"/>
              </a:defRPr>
            </a:pPr>
            <a:r>
              <a:t>📋 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Read &amp; take notes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Identify themes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Fill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502379"/>
                </a:solidFill>
                <a:latin typeface="Calibri"/>
              </a:defRPr>
            </a:pPr>
            <a:r>
              <a:t>✍️ 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Write paragraph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Peer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→ Use feedback → redraft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02379"/>
                </a:solidFill>
                <a:latin typeface="Calibri"/>
              </a:defRPr>
            </a:pPr>
            <a:r>
              <a:t>Use the library, not random websites — quality over quantity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502379"/>
                </a:solidFill>
                <a:latin typeface="Calibri"/>
              </a:defRPr>
            </a:pPr>
            <a:r>
              <a:t>Is This Source Good?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1280160" cy="1280160"/>
          </a:xfrm>
          <a:prstGeom prst="ellipse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000">
                <a:latin typeface="Segoe UI Emoji"/>
              </a:defRPr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992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8040"/>
                </a:solidFill>
                <a:latin typeface="Calibri"/>
              </a:defRPr>
            </a:pPr>
            <a:r>
              <a:t>Relevant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8040"/>
                </a:solidFill>
                <a:latin typeface="Calibri"/>
              </a:defRPr>
            </a:pPr>
            <a:r>
              <a:t>Suits your topic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1645920"/>
            <a:ext cx="1280160" cy="1280160"/>
          </a:xfrm>
          <a:prstGeom prst="ellipse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000">
                <a:latin typeface="Segoe UI Emoji"/>
              </a:defRPr>
            </a:pPr>
            <a: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992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70C0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70C0"/>
                </a:solidFill>
                <a:latin typeface="Calibri"/>
              </a:defRPr>
            </a:pPr>
            <a:r>
              <a:t>Recent enough?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645920"/>
            <a:ext cx="1280160" cy="1280160"/>
          </a:xfrm>
          <a:prstGeom prst="ellipse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000">
                <a:latin typeface="Segoe UI Emoji"/>
              </a:defRPr>
            </a:pPr>
            <a: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9992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502379"/>
                </a:solidFill>
                <a:latin typeface="Calibri"/>
              </a:defRPr>
            </a:pPr>
            <a:r>
              <a:t>Reputable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502379"/>
                </a:solidFill>
                <a:latin typeface="Calibri"/>
              </a:defRPr>
            </a:pPr>
            <a:r>
              <a:t>Peer-reviewed? Academic?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0" y="1645920"/>
            <a:ext cx="1280160" cy="1280160"/>
          </a:xfrm>
          <a:prstGeom prst="ellipse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5000">
                <a:latin typeface="Segoe UI Emoj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9992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E07A00"/>
                </a:solidFill>
                <a:latin typeface="Calibri"/>
              </a:defRPr>
            </a:pPr>
            <a:r>
              <a:t>Accurate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E07A00"/>
                </a:solidFill>
                <a:latin typeface="Calibri"/>
              </a:defRPr>
            </a:pPr>
            <a:r>
              <a:t>Can you verify?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02379"/>
                </a:solidFill>
                <a:latin typeface="Calibri"/>
              </a:defRPr>
            </a:pPr>
            <a:r>
              <a:t>Analyse → Identify → Synonyms → Combine. Do NOT copy-paste your essay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502379"/>
                </a:solidFill>
                <a:latin typeface="Calibri"/>
              </a:defRPr>
            </a:pPr>
            <a:r>
              <a:t>How to Search: 4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Calibri"/>
              </a:defRPr>
            </a:pPr>
            <a:r>
              <a:t>Analyse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74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666666"/>
                </a:solidFill>
                <a:latin typeface="Calibri"/>
              </a:defRPr>
            </a:pPr>
            <a:r>
              <a:t>Break into key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Calibri"/>
              </a:defRPr>
            </a:pPr>
            <a:r>
              <a:t>Identify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666666"/>
                </a:solidFill>
                <a:latin typeface="Calibri"/>
              </a:defRPr>
            </a:pPr>
            <a:r>
              <a:t>Pull out main keywords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Calibri"/>
              </a:defRPr>
            </a:pPr>
            <a:r>
              <a:t>Find synonyms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666666"/>
                </a:solidFill>
                <a:latin typeface="Calibri"/>
              </a:defRPr>
            </a:pPr>
            <a:r>
              <a:t>For each keyword → alternatives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02379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Calibri"/>
              </a:defRPr>
            </a:pPr>
            <a:r>
              <a:t>Combine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666666"/>
                </a:solidFill>
                <a:latin typeface="Calibri"/>
              </a:defRPr>
            </a:pPr>
            <a:r>
              <a:t>AND / OR / "quotes" → search string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463040"/>
            <a:ext cx="3657600" cy="3840480"/>
          </a:xfrm>
          <a:prstGeom prst="rect">
            <a:avLst/>
          </a:prstGeom>
          <a:solidFill>
            <a:srgbClr val="F5F0FA"/>
          </a:solidFill>
          <a:ln w="19050">
            <a:solidFill>
              <a:srgbClr val="502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latin typeface="Segoe UI Emoji"/>
              </a:defRPr>
            </a:pPr>
            <a:r>
              <a:t>🔽</a:t>
            </a:r>
            <a:br/>
            <a:br/>
            <a:r>
              <a:t>  Broad topic</a:t>
            </a:r>
            <a:br/>
            <a:r>
              <a:t>    ↓</a:t>
            </a:r>
            <a:br/>
            <a:r>
              <a:t>  Keywords</a:t>
            </a:r>
            <a:br/>
            <a:r>
              <a:t>    ↓</a:t>
            </a:r>
            <a:br/>
            <a:r>
              <a:t>  Synonyms</a:t>
            </a:r>
            <a:br/>
            <a:r>
              <a:t>    ↓</a:t>
            </a:r>
            <a:br/>
            <a:r>
              <a:t>  📌 Precise search</a:t>
            </a:r>
            <a:br/>
            <a:r>
              <a:t>    ↓</a:t>
            </a:r>
            <a:br/>
            <a:r>
              <a:t>  📄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070C0"/>
                </a:solidFill>
                <a:latin typeface="Calibri"/>
              </a:defRPr>
            </a:pPr>
            <a:r>
              <a:t>The search funnel: broad → precise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02379"/>
                </a:solidFill>
                <a:latin typeface="Calibri"/>
              </a:defRPr>
            </a:pPr>
            <a:r>
              <a:t>A single search string ≠ a search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502379"/>
                </a:solidFill>
                <a:latin typeface="Calibri"/>
              </a:defRPr>
            </a:pPr>
            <a:r>
              <a:t>❌  Common Mistake: Search Like a Google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515600" cy="2011680"/>
          </a:xfrm>
          <a:prstGeom prst="rect">
            <a:avLst/>
          </a:prstGeom>
          <a:solidFill>
            <a:srgbClr val="FFF0F0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C0000"/>
                </a:solidFill>
                <a:latin typeface="Calibri"/>
              </a:defRPr>
            </a:pPr>
            <a:r>
              <a:t>What students often type: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CC0000"/>
                </a:solidFill>
                <a:latin typeface="Calibri"/>
              </a:defRPr>
            </a:pPr>
            <a:r>
              <a:t>"skill transfer from futsal to football"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CC0000"/>
                </a:solidFill>
                <a:latin typeface="Calibri"/>
              </a:defRPr>
            </a:pPr>
            <a:r>
              <a:t>Result: Too few results. Misses key studies using terms like "soccer", "small-sided games", "donor sport".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C0000"/>
                </a:solidFill>
                <a:latin typeface="Calibri"/>
              </a:defRPr>
            </a:pPr>
            <a:r>
              <a:t>Why this fails: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CC0000"/>
                </a:solidFill>
                <a:latin typeface="Calibri"/>
              </a:defRPr>
            </a:pPr>
            <a:r>
              <a:t>✘  No synonyms → researchers may use different words</a:t>
            </a:r>
          </a:p>
          <a:p>
            <a:pPr algn="l">
              <a:spcAft>
                <a:spcPts val="600"/>
              </a:spcAft>
              <a:defRPr sz="1600" b="1" i="0">
                <a:solidFill>
                  <a:srgbClr val="CC0000"/>
                </a:solidFill>
                <a:latin typeface="Calibri"/>
              </a:defRPr>
            </a:pPr>
            <a:r>
              <a:t>✘  All keywords jammed together → too narrow</a:t>
            </a:r>
          </a:p>
          <a:p>
            <a:pPr algn="l">
              <a:spcAft>
                <a:spcPts val="600"/>
              </a:spcAft>
              <a:defRPr sz="1600" b="1" i="0">
                <a:solidFill>
                  <a:srgbClr val="CC0000"/>
                </a:solidFill>
                <a:latin typeface="Calibri"/>
              </a:defRPr>
            </a:pPr>
            <a:r>
              <a:t>✘  No AND / OR → no control over logic</a:t>
            </a:r>
          </a:p>
          <a:p>
            <a:pPr algn="l">
              <a:spcAft>
                <a:spcPts val="600"/>
              </a:spcAft>
              <a:defRPr sz="1600" b="1" i="0">
                <a:solidFill>
                  <a:srgbClr val="CC0000"/>
                </a:solidFill>
                <a:latin typeface="Calibri"/>
              </a:defRPr>
            </a:pPr>
            <a:r>
              <a:t>✘  With quotes around everything → zero flexibility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02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502379"/>
                </a:solidFill>
                <a:latin typeface="Calibri"/>
              </a:defRPr>
            </a:pPr>
            <a:r>
              <a:t>Split keywords → find synonyms → combine with AND/OR → precision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50237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502379"/>
                </a:solidFill>
                <a:latin typeface="Calibri"/>
              </a:defRPr>
            </a:pPr>
            <a:r>
              <a:t>✅  Correct Approach: 4 Elements + Synonyms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Element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Calibri"/>
              </a:defRPr>
            </a:pPr>
            <a:r>
              <a:t>Keyword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Calibri"/>
              </a:defRPr>
            </a:pPr>
            <a:r>
              <a:t>Keyword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0000"/>
                </a:solidFill>
                <a:latin typeface="Calibri"/>
              </a:defRPr>
            </a:pPr>
            <a:r>
              <a:t>Keyword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10972800" cy="54864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39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Football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39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football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39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soccer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039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"11-a-side football"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79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Futsal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79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futsal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79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"small-sided games"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79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indoor football · SSG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19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19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19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319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passing · dribbling · shooting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593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02379"/>
                </a:solidFill>
                <a:latin typeface="Calibri"/>
              </a:defRPr>
            </a:pPr>
            <a:r>
              <a:t>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9593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"transfer of learning"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593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"cross-sport transfer"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9593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0C0"/>
                </a:solidFill>
                <a:latin typeface="Calibri"/>
              </a:defRPr>
            </a:pPr>
            <a:r>
              <a:t>"donor sport"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02379"/>
                </a:solidFill>
                <a:latin typeface="Calibri"/>
              </a:defRPr>
            </a:pPr>
            <a:r>
              <a:t>Combined: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074920"/>
            <a:ext cx="10515600" cy="502920"/>
          </a:xfrm>
          <a:prstGeom prst="rect">
            <a:avLst/>
          </a:prstGeom>
          <a:solidFill>
            <a:srgbClr val="F0FAF0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20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1">
                <a:solidFill>
                  <a:srgbClr val="008040"/>
                </a:solidFill>
                <a:latin typeface="Calibri"/>
              </a:defRPr>
            </a:pPr>
            <a:r>
              <a:t>(football OR soccer OR "11-a-side football") AND (futsal OR "small-sided games" OR SSG) AND (technical OR passing OR dribbling) AND ("transfer of learning" OR "cross-sport transfer" OR "donor sport")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