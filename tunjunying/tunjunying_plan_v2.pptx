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91695" cy="1828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D4A017"/>
                </a:solidFill>
                <a:latin typeface="Arial"/>
              </a:defRPr>
            </a:pPr>
            <a:r>
              <a:t>屯军营村 · 王支书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144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000" b="0">
                <a:solidFill>
                  <a:srgbClr val="FFFFFF"/>
                </a:solidFill>
                <a:latin typeface="Arial"/>
              </a:defRPr>
            </a:pPr>
            <a:r>
              <a:t>短视频账号策划方案 v2.0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66344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888888"/>
                </a:solidFill>
                <a:latin typeface="Arial"/>
              </a:defRPr>
            </a:pPr>
            <a:r>
              <a:t>延庆区 · 屯军营村  |  2026年6月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888888"/>
                </a:solidFill>
                <a:latin typeface="Arial"/>
              </a:defRPr>
            </a:pPr>
            <a:r>
              <a:t>足球专题版 · 8周24条脚本 · 三条栏目线全线推进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5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828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0" b="1">
                <a:solidFill>
                  <a:srgbClr val="FFFFFF"/>
                </a:solidFill>
                <a:latin typeface="Arial"/>
              </a:defRPr>
            </a:pPr>
            <a:r>
              <a:t>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为什么改版？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840480"/>
            <a:ext cx="36576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D5016"/>
                </a:solidFill>
                <a:latin typeface="Arial"/>
              </a:defRPr>
            </a:pPr>
            <a:r>
              <a:t>📌 改版原因：v1.0 问题 vs v2.0 解法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212080" cy="502920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21208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2D5016"/>
                </a:solidFill>
                <a:latin typeface="Arial"/>
              </a:defRPr>
            </a:pPr>
            <a:r>
              <a:t>⚠️ v1.0 存在的问题</a:t>
            </a:r>
          </a:p>
          <a:p>
            <a:pPr algn="l">
              <a:defRPr sz="8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❌ 定位泛化：8个方向太多，精力分散</a:t>
            </a:r>
          </a:p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❌ 人设模糊："村支书日常"缺乏记忆锚点</a:t>
            </a:r>
          </a:p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❌ 缺乏IP纵深：500年军屯历史未充分开发</a:t>
            </a:r>
          </a:p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❌ 变现路径缺失：仅有方向，无阶梯设计</a:t>
            </a:r>
          </a:p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❌ 内容同质化：与同类村支书账号无差异化</a:t>
            </a:r>
          </a:p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❌ 13条脚本结构松散，缺少栏目化运营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188720"/>
            <a:ext cx="5212080" cy="502920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35040" y="1188720"/>
            <a:ext cx="521208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37160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2D5016"/>
                </a:solidFill>
                <a:latin typeface="Arial"/>
              </a:defRPr>
            </a:pPr>
            <a:r>
              <a:t>✅ v2.0 足球专题解法</a:t>
            </a:r>
          </a:p>
          <a:p>
            <a:pPr algn="l">
              <a:defRPr sz="8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✅ 聚焦足球：以"冠军村足球队"为核心IP</a:t>
            </a:r>
          </a:p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✅ 人设鲜明：村支书 + 冠军教练 双重身份</a:t>
            </a:r>
          </a:p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✅ 深度开发："屯军营"=500年练兵场 → 绿茵战场</a:t>
            </a:r>
          </a:p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✅ 四阶梯变现：粉丝→带货→赛事→文旅</a:t>
            </a:r>
          </a:p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✅ 三条栏目线：🥇足球精神 🥈兵味文化 🥉体育政策</a:t>
            </a:r>
          </a:p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✅ 8周24条脚本：栏目化排布，每周二四六发布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6400800"/>
            <a:ext cx="10972800" cy="457200"/>
          </a:xfrm>
          <a:prstGeom prst="round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10515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FFFFFF"/>
                </a:solidFill>
                <a:latin typeface="Arial"/>
              </a:defRPr>
            </a:pPr>
            <a:r>
              <a:t>💡 核心逻辑：用足球作为超级符号，把军屯历史 + 乡村体育 + 政策解读 三条线拧成一股绳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5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828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三条新栏目线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840480"/>
            <a:ext cx="36576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D5016"/>
                </a:solidFill>
                <a:latin typeface="Arial"/>
              </a:defRPr>
            </a:pPr>
            <a:r>
              <a:t>🎯 三条新栏目线（上）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212080" cy="566928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21208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7548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2D5016"/>
                </a:solidFill>
                <a:latin typeface="Arial"/>
              </a:defRPr>
            </a:pPr>
            <a:r>
              <a:t>🥇 第一栏目：足球精神线</a:t>
            </a:r>
          </a:p>
          <a:p>
            <a:pPr algn="l">
              <a:spcBef>
                <a:spcPts val="800"/>
              </a:spcBef>
              <a:defRPr sz="1600" b="1">
                <a:solidFill>
                  <a:srgbClr val="D4A017"/>
                </a:solidFill>
                <a:latin typeface="Arial"/>
              </a:defRPr>
            </a:pPr>
            <a:r>
              <a:t>核心定位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Arial"/>
              </a:defRPr>
            </a:pPr>
            <a:r>
              <a:t>以王支书"冠军教练"身份为主线，记录屯军营足球队的训练、比赛、人物故事。用足球的热血、汗水、团队精神感染观众。</a:t>
            </a:r>
          </a:p>
          <a:p>
            <a:pPr algn="l">
              <a:defRPr sz="4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defRPr sz="1600" b="1">
                <a:solidFill>
                  <a:srgbClr val="D4A017"/>
                </a:solidFill>
                <a:latin typeface="Arial"/>
              </a:defRPr>
            </a:pPr>
            <a:r>
              <a:t>能拍什么</a:t>
            </a:r>
          </a:p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• 凌晨五点半的足球场（热血训练）</a:t>
            </a:r>
          </a:p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• 冠军荣誉室探秘（荣誉感）</a:t>
            </a:r>
          </a:p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• 比赛日全程跟拍（燃向）</a:t>
            </a:r>
          </a:p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• 村民评支书踢球（反差萌）</a:t>
            </a:r>
          </a:p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• 致在外打工的屯军营人（情感核弹）</a:t>
            </a:r>
          </a:p>
          <a:p>
            <a:pPr algn="l">
              <a:defRPr sz="4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800"/>
              </a:spcBef>
              <a:defRPr sz="1200" b="1">
                <a:solidFill>
                  <a:srgbClr val="333333"/>
                </a:solidFill>
                <a:latin typeface="Arial"/>
              </a:defRPr>
            </a:pPr>
            <a:r>
              <a:t>💬 差异化壁垒高，"冠军村"标签其他村学不来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097280"/>
            <a:ext cx="5212080" cy="566928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35040" y="1097280"/>
            <a:ext cx="521208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280160"/>
            <a:ext cx="47548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2D5016"/>
                </a:solidFill>
                <a:latin typeface="Arial"/>
              </a:defRPr>
            </a:pPr>
            <a:r>
              <a:t>🥈 第二栏目：兵味文化线</a:t>
            </a:r>
          </a:p>
          <a:p>
            <a:pPr algn="l">
              <a:spcBef>
                <a:spcPts val="800"/>
              </a:spcBef>
              <a:defRPr sz="1600" b="1">
                <a:solidFill>
                  <a:srgbClr val="D4A017"/>
                </a:solidFill>
                <a:latin typeface="Arial"/>
              </a:defRPr>
            </a:pPr>
            <a:r>
              <a:t>核心定位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Arial"/>
              </a:defRPr>
            </a:pPr>
            <a:r>
              <a:t>挖掘"屯军营"村名背后的500年军屯历史IP。从明朝长城驻军到今日绿茵球场，找到"守"的精神传承。</a:t>
            </a:r>
          </a:p>
          <a:p>
            <a:pPr algn="l">
              <a:defRPr sz="4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defRPr sz="1600" b="1">
                <a:solidFill>
                  <a:srgbClr val="D4A017"/>
                </a:solidFill>
                <a:latin typeface="Arial"/>
              </a:defRPr>
            </a:pPr>
            <a:r>
              <a:t>能拍什么</a:t>
            </a:r>
          </a:p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• 村名来历：500年前就是练兵场</a:t>
            </a:r>
          </a:p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• 抗美援朝老兵看我们踢球</a:t>
            </a:r>
          </a:p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• 三代人一颗球的传承</a:t>
            </a:r>
          </a:p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• 从长城脚下到绿茵场上</a:t>
            </a:r>
          </a:p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• 一亩地的账本 vs 一粒球的梦想</a:t>
            </a:r>
          </a:p>
          <a:p>
            <a:pPr algn="l">
              <a:defRPr sz="4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800"/>
              </a:spcBef>
              <a:defRPr sz="1200" b="1">
                <a:solidFill>
                  <a:srgbClr val="333333"/>
                </a:solidFill>
                <a:latin typeface="Arial"/>
              </a:defRPr>
            </a:pPr>
            <a:r>
              <a:t>💬 天然故事性极强，500年IP不是每个村都有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D5016"/>
                </a:solidFill>
                <a:latin typeface="Arial"/>
              </a:defRPr>
            </a:pPr>
            <a:r>
              <a:t>🎯 三条新栏目线（下）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212080" cy="438912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21208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7548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2D5016"/>
                </a:solidFill>
                <a:latin typeface="Arial"/>
              </a:defRPr>
            </a:pPr>
            <a:r>
              <a:t>🥉 第三栏目：体育政策线</a:t>
            </a:r>
          </a:p>
          <a:p>
            <a:pPr algn="l">
              <a:spcBef>
                <a:spcPts val="800"/>
              </a:spcBef>
              <a:defRPr sz="1600" b="1">
                <a:solidFill>
                  <a:srgbClr val="D4A017"/>
                </a:solidFill>
                <a:latin typeface="Arial"/>
              </a:defRPr>
            </a:pPr>
            <a:r>
              <a:t>核心定位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Arial"/>
              </a:defRPr>
            </a:pPr>
            <a:r>
              <a:t>用村民听得懂的大白话解读全民健身、体教融合、体育特长生等政策。王支书以自己的实战经验"现身说法"。</a:t>
            </a:r>
          </a:p>
          <a:p>
            <a:pPr algn="l">
              <a:defRPr sz="4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defRPr sz="1600" b="1">
                <a:solidFill>
                  <a:srgbClr val="D4A017"/>
                </a:solidFill>
                <a:latin typeface="Arial"/>
              </a:defRPr>
            </a:pPr>
            <a:r>
              <a:t>能拍什么</a:t>
            </a:r>
          </a:p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• 体育公园钱从哪来？（补贴申请攻略）</a:t>
            </a:r>
          </a:p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• 孩子踢球体测能加分吗？</a:t>
            </a:r>
          </a:p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• 成年人踢球到底有啥用？</a:t>
            </a:r>
          </a:p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• 体育特长生升学路径全解析</a:t>
            </a:r>
          </a:p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• 村里办比赛安全谁负责？</a:t>
            </a:r>
          </a:p>
          <a:p>
            <a:pPr algn="l">
              <a:defRPr sz="4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800"/>
              </a:spcBef>
              <a:defRPr sz="1200" b="1">
                <a:solidFill>
                  <a:srgbClr val="333333"/>
                </a:solidFill>
                <a:latin typeface="Arial"/>
              </a:defRPr>
            </a:pPr>
            <a:r>
              <a:t>💬 刚需内容，转发率高，天然涨粉利器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097280"/>
            <a:ext cx="5212080" cy="4389120"/>
          </a:xfrm>
          <a:prstGeom prst="round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280160"/>
            <a:ext cx="47548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D4A017"/>
                </a:solidFill>
                <a:latin typeface="Arial"/>
              </a:defRPr>
            </a:pPr>
            <a:r>
              <a:t>🔥 核心升级总结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103120"/>
            <a:ext cx="475488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</a:p>
          <a:p>
            <a:pPr algn="l">
              <a:spcBef>
                <a:spcPts val="400"/>
              </a:spcBef>
              <a:defRPr sz="1500" b="1">
                <a:solidFill>
                  <a:srgbClr val="FFFFFF"/>
                </a:solidFill>
                <a:latin typeface="Arial"/>
              </a:defRPr>
            </a:pPr>
            <a:r>
              <a:t>① 从8个泛方向 → 聚焦足球IP</a:t>
            </a:r>
          </a:p>
          <a:p>
            <a:pPr algn="l">
              <a:defRPr sz="1200" b="0">
                <a:solidFill>
                  <a:srgbClr val="F5E6C8"/>
                </a:solidFill>
                <a:latin typeface="Arial"/>
              </a:defRPr>
            </a:pPr>
            <a:r>
              <a:t>  解决"什么都想做，什么都做不深"</a:t>
            </a:r>
          </a:p>
          <a:p>
            <a:pPr algn="l">
              <a:defRPr sz="6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② 从13条松散脚本 → 24条栏目化</a:t>
            </a:r>
          </a:p>
          <a:p>
            <a:pPr algn="l">
              <a:defRPr sz="1200" b="0">
                <a:solidFill>
                  <a:srgbClr val="F5E6C8"/>
                </a:solidFill>
                <a:latin typeface="Arial"/>
              </a:defRPr>
            </a:pPr>
            <a:r>
              <a:t>  三大栏目线交替，每周二四六发布</a:t>
            </a:r>
          </a:p>
          <a:p>
            <a:pPr algn="l">
              <a:defRPr sz="6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③ 从无变现 → 四阶梯递进</a:t>
            </a:r>
          </a:p>
          <a:p>
            <a:pPr algn="l">
              <a:defRPr sz="1200" b="0">
                <a:solidFill>
                  <a:srgbClr val="F5E6C8"/>
                </a:solidFill>
                <a:latin typeface="Arial"/>
              </a:defRPr>
            </a:pPr>
            <a:r>
              <a:t>  粉丝积累→农产品带货→赛事IP→文旅融合</a:t>
            </a:r>
          </a:p>
          <a:p>
            <a:pPr algn="l">
              <a:defRPr sz="6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④ 从"又一个村支书" → "冠军村王支书"</a:t>
            </a:r>
          </a:p>
          <a:p>
            <a:pPr algn="l">
              <a:defRPr sz="1200" b="0">
                <a:solidFill>
                  <a:srgbClr val="F5E6C8"/>
                </a:solidFill>
                <a:latin typeface="Arial"/>
              </a:defRPr>
            </a:pPr>
            <a:r>
              <a:t>  唯一性标签，记忆成本极低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D5016"/>
                </a:solidFill>
                <a:latin typeface="Arial"/>
              </a:defRPr>
            </a:pPr>
            <a:r>
              <a:t>📊 v1.0 → v2.0 全方位对比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286000" cy="640080"/>
          </a:xfrm>
          <a:prstGeom prst="round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>
                <a:solidFill>
                  <a:srgbClr val="D4A017"/>
                </a:solidFill>
                <a:latin typeface="Arial"/>
              </a:defRPr>
            </a:pPr>
            <a:r>
              <a:t>维度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097280"/>
            <a:ext cx="4114800" cy="640080"/>
          </a:xfrm>
          <a:prstGeom prst="round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0" y="1188720"/>
            <a:ext cx="3931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>
                <a:solidFill>
                  <a:srgbClr val="D4A017"/>
                </a:solidFill>
                <a:latin typeface="Arial"/>
              </a:defRPr>
            </a:pPr>
            <a:r>
              <a:t>v1.0（内部讨论版）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097280"/>
            <a:ext cx="5029200" cy="640080"/>
          </a:xfrm>
          <a:prstGeom prst="round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18872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>
                <a:solidFill>
                  <a:srgbClr val="D4A017"/>
                </a:solidFill>
                <a:latin typeface="Arial"/>
              </a:defRPr>
            </a:pPr>
            <a:r>
              <a:t>v2.0（足球专题版）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37360"/>
            <a:ext cx="2286000" cy="64008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47088"/>
            <a:ext cx="2103120" cy="4206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2D5016"/>
                </a:solidFill>
                <a:latin typeface="Arial"/>
              </a:defRPr>
            </a:pPr>
            <a:r>
              <a:t>核心IP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1737360"/>
            <a:ext cx="4114800" cy="64008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1847088"/>
            <a:ext cx="393192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村支书日常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1737360"/>
            <a:ext cx="5029200" cy="64008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1847088"/>
            <a:ext cx="484632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冠军村足球队教练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377440"/>
            <a:ext cx="22860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487168"/>
            <a:ext cx="2103120" cy="4206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2D5016"/>
                </a:solidFill>
                <a:latin typeface="Arial"/>
              </a:defRPr>
            </a:pPr>
            <a:r>
              <a:t>栏目结构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2377440"/>
            <a:ext cx="41148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2487168"/>
            <a:ext cx="393192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8个泛方向 + 3条主线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2377440"/>
            <a:ext cx="50292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2487168"/>
            <a:ext cx="484632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3条栏目线（🥇🥈🥉）交替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017520"/>
            <a:ext cx="2286000" cy="64008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127248"/>
            <a:ext cx="2103120" cy="4206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2D5016"/>
                </a:solidFill>
                <a:latin typeface="Arial"/>
              </a:defRPr>
            </a:pPr>
            <a:r>
              <a:t>脚本数量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26080" y="3017520"/>
            <a:ext cx="4114800" cy="64008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0" y="3127248"/>
            <a:ext cx="393192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13条（5周）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23760" y="3017520"/>
            <a:ext cx="5029200" cy="64008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0" y="3127248"/>
            <a:ext cx="484632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24条（8周，涵盖3栏目）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657600"/>
            <a:ext cx="22860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767328"/>
            <a:ext cx="2103120" cy="4206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2D5016"/>
                </a:solidFill>
                <a:latin typeface="Arial"/>
              </a:defRPr>
            </a:pPr>
            <a:r>
              <a:t>差异点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26080" y="3657600"/>
            <a:ext cx="41148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17520" y="3767328"/>
            <a:ext cx="393192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同类账号可复制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23760" y="3657600"/>
            <a:ext cx="50292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0" y="3767328"/>
            <a:ext cx="484632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冠军村标签唯一，壁垒高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297680"/>
            <a:ext cx="2286000" cy="64008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407408"/>
            <a:ext cx="2103120" cy="4206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2D5016"/>
                </a:solidFill>
                <a:latin typeface="Arial"/>
              </a:defRPr>
            </a:pPr>
            <a:r>
              <a:t>情感锚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926080" y="4297680"/>
            <a:ext cx="4114800" cy="64008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0" y="4407408"/>
            <a:ext cx="393192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村支书的温度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23760" y="4297680"/>
            <a:ext cx="5029200" cy="64008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0" y="4407408"/>
            <a:ext cx="484632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足球的热血 + 军屯的传承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937760"/>
            <a:ext cx="22860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047488"/>
            <a:ext cx="2103120" cy="4206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2D5016"/>
                </a:solidFill>
                <a:latin typeface="Arial"/>
              </a:defRPr>
            </a:pPr>
            <a:r>
              <a:t>变现路径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926080" y="4937760"/>
            <a:ext cx="41148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17520" y="5047488"/>
            <a:ext cx="393192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未明确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223760" y="4937760"/>
            <a:ext cx="50292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0" y="5047488"/>
            <a:ext cx="484632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四阶梯清晰递进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577840"/>
            <a:ext cx="2286000" cy="64008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5687568"/>
            <a:ext cx="2103120" cy="4206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2D5016"/>
                </a:solidFill>
                <a:latin typeface="Arial"/>
              </a:defRPr>
            </a:pPr>
            <a:r>
              <a:t>记忆成本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926080" y="5577840"/>
            <a:ext cx="4114800" cy="64008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17520" y="5687568"/>
            <a:ext cx="393192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"又一个村支书"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223760" y="5577840"/>
            <a:ext cx="5029200" cy="64008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0" y="5687568"/>
            <a:ext cx="484632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"屯军营王支书 = 冠军教练"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6400800"/>
            <a:ext cx="10972800" cy="457200"/>
          </a:xfrm>
          <a:prstGeom prst="round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6446520"/>
            <a:ext cx="10515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FFFFF"/>
                </a:solidFill>
                <a:latin typeface="Arial"/>
              </a:defRPr>
            </a:pPr>
            <a:r>
              <a:t>🎯 改版目标：用足球切进乡村赛道，做"全网最有辨识度的村支书足球IP"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5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828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对标分析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840480"/>
            <a:ext cx="36576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D5016"/>
                </a:solidFill>
                <a:latin typeface="Arial"/>
              </a:defRPr>
            </a:pPr>
            <a:r>
              <a:t>🔍 四大对标账号 &amp; 竞品空白分析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303520" cy="265176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30352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2D5016"/>
                </a:solidFill>
                <a:latin typeface="Arial"/>
              </a:defRPr>
            </a:pPr>
            <a:r>
              <a:t>👤 烟消云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Arial"/>
              </a:defRPr>
            </a:pPr>
            <a:r>
              <a:t>定位：村支书日常Vlog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333333"/>
                </a:solidFill>
                <a:latin typeface="Arial"/>
              </a:defRPr>
            </a:pPr>
            <a:r>
              <a:t>亮点：接地气、方言、真实记录</a:t>
            </a:r>
          </a:p>
          <a:p>
            <a:pPr algn="l">
              <a:spcBef>
                <a:spcPts val="400"/>
              </a:spcBef>
              <a:defRPr sz="1300" b="1">
                <a:solidFill>
                  <a:srgbClr val="D4A017"/>
                </a:solidFill>
                <a:latin typeface="Arial"/>
              </a:defRPr>
            </a:pPr>
            <a:r>
              <a:t>⚠️ 竞品空白：粉丝体量大但足球内容为零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303520" cy="265176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1097280"/>
            <a:ext cx="530352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3444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2D5016"/>
                </a:solidFill>
                <a:latin typeface="Arial"/>
              </a:defRPr>
            </a:pPr>
            <a:r>
              <a:t>👤 范文栋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Arial"/>
              </a:defRPr>
            </a:pPr>
            <a:r>
              <a:t>定位：基层故事讲述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333333"/>
                </a:solidFill>
                <a:latin typeface="Arial"/>
              </a:defRPr>
            </a:pPr>
            <a:r>
              <a:t>亮点：情感叙事、人物挖掘</a:t>
            </a:r>
          </a:p>
          <a:p>
            <a:pPr algn="l">
              <a:spcBef>
                <a:spcPts val="400"/>
              </a:spcBef>
              <a:defRPr sz="1300" b="1">
                <a:solidFill>
                  <a:srgbClr val="D4A017"/>
                </a:solidFill>
                <a:latin typeface="Arial"/>
              </a:defRPr>
            </a:pPr>
            <a:r>
              <a:t>⚠️ 竞品空白：无体育/足球垂类内容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023360"/>
            <a:ext cx="5303520" cy="265176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023360"/>
            <a:ext cx="530352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16052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2D5016"/>
                </a:solidFill>
                <a:latin typeface="Arial"/>
              </a:defRPr>
            </a:pPr>
            <a:r>
              <a:t>👤 小江支书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Arial"/>
              </a:defRPr>
            </a:pPr>
            <a:r>
              <a:t>定位：小村故事+带货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333333"/>
                </a:solidFill>
                <a:latin typeface="Arial"/>
              </a:defRPr>
            </a:pPr>
            <a:r>
              <a:t>亮点：年轻化表达、农产品带货</a:t>
            </a:r>
          </a:p>
          <a:p>
            <a:pPr algn="l">
              <a:spcBef>
                <a:spcPts val="400"/>
              </a:spcBef>
              <a:defRPr sz="1300" b="1">
                <a:solidFill>
                  <a:srgbClr val="D4A017"/>
                </a:solidFill>
                <a:latin typeface="Arial"/>
              </a:defRPr>
            </a:pPr>
            <a:r>
              <a:t>⚠️ 竞品空白：缺少IP深度和历史厚度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023360"/>
            <a:ext cx="5303520" cy="265176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4023360"/>
            <a:ext cx="530352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16052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2D5016"/>
                </a:solidFill>
                <a:latin typeface="Arial"/>
              </a:defRPr>
            </a:pPr>
            <a:r>
              <a:t>👤 张爱军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Arial"/>
              </a:defRPr>
            </a:pPr>
            <a:r>
              <a:t>定位：乡村政策解读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333333"/>
                </a:solidFill>
                <a:latin typeface="Arial"/>
              </a:defRPr>
            </a:pPr>
            <a:r>
              <a:t>亮点：政策类内容专业</a:t>
            </a:r>
          </a:p>
          <a:p>
            <a:pPr algn="l">
              <a:spcBef>
                <a:spcPts val="400"/>
              </a:spcBef>
              <a:defRPr sz="1300" b="1">
                <a:solidFill>
                  <a:srgbClr val="D4A017"/>
                </a:solidFill>
                <a:latin typeface="Arial"/>
              </a:defRPr>
            </a:pPr>
            <a:r>
              <a:t>⚠️ 竞品空白：缺乏"运动感"和热血元素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6400800"/>
            <a:ext cx="10972800" cy="457200"/>
          </a:xfrm>
          <a:prstGeom prst="round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10515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FFFFF"/>
                </a:solidFill>
                <a:latin typeface="Arial"/>
              </a:defRPr>
            </a:pPr>
            <a:r>
              <a:t>💡 竞品空白结论：全网尚无"村支书 + 足球教练 + 军屯历史"三位一体的账号。这就是我们的位置。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5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828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变现路径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840480"/>
            <a:ext cx="36576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D5016"/>
                </a:solidFill>
                <a:latin typeface="Arial"/>
              </a:defRPr>
            </a:pPr>
            <a:r>
              <a:t>💰 四阶梯变现模型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0972800" cy="128016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73152" cy="12801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2D5016"/>
                </a:solidFill>
                <a:latin typeface="Arial"/>
              </a:defRPr>
            </a:pPr>
            <a:r>
              <a:t>🎯 第一阶梯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粉丝积累期（1-3个月）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188720"/>
            <a:ext cx="66751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• 抖音 + 视频号同步发布</a:t>
            </a:r>
            <a:br/>
            <a:r>
              <a:t>• 每周3条高频曝光</a:t>
            </a:r>
            <a:br/>
            <a:r>
              <a:t>• 目标：1万精准粉丝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14600"/>
            <a:ext cx="10972800" cy="1280160"/>
          </a:xfrm>
          <a:prstGeom prst="roundRect">
            <a:avLst/>
          </a:prstGeom>
          <a:solidFill>
            <a:srgbClr val="F5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514600"/>
            <a:ext cx="73152" cy="12801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2D5016"/>
                </a:solidFill>
                <a:latin typeface="Arial"/>
              </a:defRPr>
            </a:pPr>
            <a:r>
              <a:t>🛒 第二阶梯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1752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农产品带货（3-6个月）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606040"/>
            <a:ext cx="66751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• 延庆本地特产挂车</a:t>
            </a:r>
            <a:br/>
            <a:r>
              <a:t>• 足球相关周边（队服、护具）</a:t>
            </a:r>
            <a:br/>
            <a:r>
              <a:t>• 以信任驱动转化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31920"/>
            <a:ext cx="10972800" cy="128016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73152" cy="12801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02336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2D5016"/>
                </a:solidFill>
                <a:latin typeface="Arial"/>
              </a:defRPr>
            </a:pPr>
            <a:r>
              <a:t>🏆 第三阶梯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43484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赛事IP运营（6-12个月）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023360"/>
            <a:ext cx="66751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• 打造"冠军村联赛"品牌</a:t>
            </a:r>
            <a:br/>
            <a:r>
              <a:t>• 周边村主客场循环赛</a:t>
            </a:r>
            <a:br/>
            <a:r>
              <a:t>• 赛事赞助 + 门票 + 直播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349240"/>
            <a:ext cx="10972800" cy="1280160"/>
          </a:xfrm>
          <a:prstGeom prst="roundRect">
            <a:avLst/>
          </a:prstGeom>
          <a:solidFill>
            <a:srgbClr val="F5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5349240"/>
            <a:ext cx="73152" cy="12801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44068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2D5016"/>
                </a:solidFill>
                <a:latin typeface="Arial"/>
              </a:defRPr>
            </a:pPr>
            <a:r>
              <a:t>🏕 第四阶梯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8521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文体旅融合（12个月+）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440680"/>
            <a:ext cx="66751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• 冠军村足球夏令营</a:t>
            </a:r>
            <a:br/>
            <a:r>
              <a:t>• 长城+足球主题研学线路</a:t>
            </a:r>
            <a:br/>
            <a:r>
              <a:t>• 政府文旅项目合作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D5016"/>
                </a:solidFill>
                <a:latin typeface="Arial"/>
              </a:defRPr>
            </a:pPr>
            <a:r>
              <a:t>📈 变现路径明细 &amp; 关键信号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669280" cy="548640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66928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212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D5016"/>
                </a:solidFill>
                <a:latin typeface="Arial"/>
              </a:defRPr>
            </a:pPr>
            <a:r>
              <a:t>📊 各阶段运营指标参考</a:t>
            </a:r>
          </a:p>
          <a:p>
            <a:pPr algn="l">
              <a:spcBef>
                <a:spcPts val="1000"/>
              </a:spcBef>
              <a:defRPr sz="1500" b="1">
                <a:solidFill>
                  <a:srgbClr val="2D5016"/>
                </a:solidFill>
                <a:latin typeface="Arial"/>
              </a:defRPr>
            </a:pPr>
            <a:r>
              <a:t>▸ 粉丝积累期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333333"/>
                </a:solidFill>
                <a:latin typeface="Arial"/>
              </a:defRPr>
            </a:pPr>
            <a:r>
              <a:t>  1万粉 | 完播率&gt;30% | 评论&gt;50/条</a:t>
            </a:r>
          </a:p>
          <a:p>
            <a:pPr algn="l">
              <a:spcBef>
                <a:spcPts val="1000"/>
              </a:spcBef>
              <a:defRPr sz="1500" b="1">
                <a:solidFill>
                  <a:srgbClr val="2D5016"/>
                </a:solidFill>
                <a:latin typeface="Arial"/>
              </a:defRPr>
            </a:pPr>
            <a:r>
              <a:t>▸ 带货启动期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333333"/>
                </a:solidFill>
                <a:latin typeface="Arial"/>
              </a:defRPr>
            </a:pPr>
            <a:r>
              <a:t>  3万粉 | 转化率&gt;2% | 月GMV 5-10万</a:t>
            </a:r>
          </a:p>
          <a:p>
            <a:pPr algn="l">
              <a:spcBef>
                <a:spcPts val="1000"/>
              </a:spcBef>
              <a:defRPr sz="1500" b="1">
                <a:solidFill>
                  <a:srgbClr val="2D5016"/>
                </a:solidFill>
                <a:latin typeface="Arial"/>
              </a:defRPr>
            </a:pPr>
            <a:r>
              <a:t>▸ 赛事IP期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333333"/>
                </a:solidFill>
                <a:latin typeface="Arial"/>
              </a:defRPr>
            </a:pPr>
            <a:r>
              <a:t>  5万粉 | 赛事直播观看&gt;1万 | 赞助商入驻</a:t>
            </a:r>
          </a:p>
          <a:p>
            <a:pPr algn="l">
              <a:spcBef>
                <a:spcPts val="1000"/>
              </a:spcBef>
              <a:defRPr sz="1500" b="1">
                <a:solidFill>
                  <a:srgbClr val="2D5016"/>
                </a:solidFill>
                <a:latin typeface="Arial"/>
              </a:defRPr>
            </a:pPr>
            <a:r>
              <a:t>▸ 文旅融合期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333333"/>
                </a:solidFill>
                <a:latin typeface="Arial"/>
              </a:defRPr>
            </a:pPr>
            <a:r>
              <a:t>  10万粉 | 夏令营满员 | 政府文旅项目落地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097280"/>
            <a:ext cx="5029200" cy="548640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1097280"/>
            <a:ext cx="502920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28016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D5016"/>
                </a:solidFill>
                <a:latin typeface="Arial"/>
              </a:defRPr>
            </a:pPr>
            <a:r>
              <a:t>🚦 何时可以升级？变现信号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333333"/>
                </a:solidFill>
                <a:latin typeface="Arial"/>
              </a:defRPr>
            </a:pPr>
            <a:r>
              <a:t>✓ 粉丝群活跃度高，私信咨询增多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333333"/>
                </a:solidFill>
                <a:latin typeface="Arial"/>
              </a:defRPr>
            </a:pPr>
            <a:r>
              <a:t>✓ 单条视频稳定破万播放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333333"/>
                </a:solidFill>
                <a:latin typeface="Arial"/>
              </a:defRPr>
            </a:pPr>
            <a:r>
              <a:t>✓ 评论区出现"怎么买""在哪报名"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333333"/>
                </a:solidFill>
                <a:latin typeface="Arial"/>
              </a:defRPr>
            </a:pPr>
            <a:r>
              <a:t>✓ 周边村主动联系合作比赛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333333"/>
                </a:solidFill>
                <a:latin typeface="Arial"/>
              </a:defRPr>
            </a:pPr>
            <a:r>
              <a:t>✓ 镇/区文旅部门关注到账号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333333"/>
                </a:solidFill>
                <a:latin typeface="Arial"/>
              </a:defRPr>
            </a:pPr>
            <a:r>
              <a:t>✓ 出现自然增长的品牌合作邀约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333333"/>
                </a:solidFill>
                <a:latin typeface="Arial"/>
              </a:defRPr>
            </a:pPr>
            <a:r>
              <a:t>✓ 视频被官方媒体转发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5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828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八周执行计划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840480"/>
            <a:ext cx="36576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D5016"/>
                </a:solidFill>
                <a:latin typeface="Arial"/>
              </a:defRPr>
            </a:pPr>
            <a:r>
              <a:t>📅 八周执行计划 · 第1-4周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0972800" cy="128016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73152" cy="12801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7043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D5016"/>
                </a:solidFill>
                <a:latin typeface="Arial"/>
              </a:defRPr>
            </a:pPr>
            <a:r>
              <a:t>W1 亮相周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170432"/>
            <a:ext cx="5029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我是王支书，也是冠军教练</a:t>
            </a:r>
            <a:br/>
            <a:r>
              <a:t>🥈 屯军营，500年前就是练兵场</a:t>
            </a:r>
            <a:br/>
            <a:r>
              <a:t>🥉 体育公园，钱从哪来？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280160"/>
            <a:ext cx="29260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88888"/>
                </a:solidFill>
                <a:latin typeface="Arial"/>
              </a:defRPr>
            </a:pPr>
            <a:r>
              <a:t>立人设：村支书+冠军教练双重身份亮相，历史+政策+足球三线齐发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14600"/>
            <a:ext cx="109728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514600"/>
            <a:ext cx="73152" cy="12801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877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D5016"/>
                </a:solidFill>
                <a:latin typeface="Arial"/>
              </a:defRPr>
            </a:pPr>
            <a:r>
              <a:t>W2 情感周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587752"/>
            <a:ext cx="5029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我们的球场，从荒地到绿茵</a:t>
            </a:r>
            <a:br/>
            <a:r>
              <a:t>🥈 村里最老的老兵，看我们踢球</a:t>
            </a:r>
            <a:br/>
            <a:r>
              <a:t>🥉 孩子踢球，体测能加分吗？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697480"/>
            <a:ext cx="29260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88888"/>
                </a:solidFill>
                <a:latin typeface="Arial"/>
              </a:defRPr>
            </a:pPr>
            <a:r>
              <a:t>拉共鸣：球场建设故事+老兵情感+家长关心的体教融合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31920"/>
            <a:ext cx="10972800" cy="128016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73152" cy="12801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00507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D5016"/>
                </a:solidFill>
                <a:latin typeface="Arial"/>
              </a:defRPr>
            </a:pPr>
            <a:r>
              <a:t>W3 热血周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005072"/>
            <a:ext cx="5029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凌晨五点半的足球场</a:t>
            </a:r>
            <a:br/>
            <a:r>
              <a:t>🥈 王支书的战术板</a:t>
            </a:r>
            <a:br/>
            <a:r>
              <a:t>🥉 扭了脚别硬扛，村医教你看伤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114800"/>
            <a:ext cx="29260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88888"/>
                </a:solidFill>
                <a:latin typeface="Arial"/>
              </a:defRPr>
            </a:pPr>
            <a:r>
              <a:t>展实力：训练热血+战术军事化+实用健康科普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349240"/>
            <a:ext cx="109728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5349240"/>
            <a:ext cx="73152" cy="12801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42239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D5016"/>
                </a:solidFill>
                <a:latin typeface="Arial"/>
              </a:defRPr>
            </a:pPr>
            <a:r>
              <a:t>W4 人物周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5422392"/>
            <a:ext cx="5029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村民说：我们支书踢球比干活还拼</a:t>
            </a:r>
            <a:br/>
            <a:r>
              <a:t>🥈 城里人看不懂的农村足球规矩</a:t>
            </a:r>
            <a:br/>
            <a:r>
              <a:t>🥉 村里建球场，能申请多少补贴？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5532120"/>
            <a:ext cx="29260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88888"/>
                </a:solidFill>
                <a:latin typeface="Arial"/>
              </a:defRPr>
            </a:pPr>
            <a:r>
              <a:t>挖深度：他人视角证口碑+城乡反差+政策干货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D5016"/>
                </a:solidFill>
                <a:latin typeface="Arial"/>
              </a:defRPr>
            </a:pPr>
            <a:r>
              <a:t>📅 八周执行计划 · 第5-8周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0972800" cy="128016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73152" cy="12801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7043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D5016"/>
                </a:solidFill>
                <a:latin typeface="Arial"/>
              </a:defRPr>
            </a:pPr>
            <a:r>
              <a:t>W5 赛事周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170432"/>
            <a:ext cx="5029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我们拿遍了延庆的冠军</a:t>
            </a:r>
            <a:br/>
            <a:r>
              <a:t>🥈 一颗球，三代人</a:t>
            </a:r>
            <a:br/>
            <a:r>
              <a:t>🥉 成年人踢球，到底有啥用？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280160"/>
            <a:ext cx="29260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88888"/>
                </a:solidFill>
                <a:latin typeface="Arial"/>
              </a:defRPr>
            </a:pPr>
            <a:r>
              <a:t>秀成果：荣誉展示+代际传承+健康实证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14600"/>
            <a:ext cx="109728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514600"/>
            <a:ext cx="73152" cy="12801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877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D5016"/>
                </a:solidFill>
                <a:latin typeface="Arial"/>
              </a:defRPr>
            </a:pPr>
            <a:r>
              <a:t>W6 幕后周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587752"/>
            <a:ext cx="5029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一场比赛，从准备到结束</a:t>
            </a:r>
            <a:br/>
            <a:r>
              <a:t>🥈 村队开会，吵起来了</a:t>
            </a:r>
            <a:br/>
            <a:r>
              <a:t>🥉 体育特长生怎么走？一条路说清楚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697480"/>
            <a:ext cx="29260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88888"/>
                </a:solidFill>
                <a:latin typeface="Arial"/>
              </a:defRPr>
            </a:pPr>
            <a:r>
              <a:t>破壁感：比赛日全流程+真实冲突+升学路径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31920"/>
            <a:ext cx="10972800" cy="128016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73152" cy="12801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00507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D5016"/>
                </a:solidFill>
                <a:latin typeface="Arial"/>
              </a:defRPr>
            </a:pPr>
            <a:r>
              <a:t>W7 对抗周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005072"/>
            <a:ext cx="5029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今天这场，必须赢</a:t>
            </a:r>
            <a:br/>
            <a:r>
              <a:t>🥈 一亩地的账本 vs 一粒球的梦想</a:t>
            </a:r>
            <a:br/>
            <a:r>
              <a:t>🥉 村里办比赛，安全谁负责？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114800"/>
            <a:ext cx="29260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88888"/>
                </a:solidFill>
                <a:latin typeface="Arial"/>
              </a:defRPr>
            </a:pPr>
            <a:r>
              <a:t>造悬念：雨中决战+农民球员+赛事安全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349240"/>
            <a:ext cx="109728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5349240"/>
            <a:ext cx="73152" cy="12801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42239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D5016"/>
                </a:solidFill>
                <a:latin typeface="Arial"/>
              </a:defRPr>
            </a:pPr>
            <a:r>
              <a:t>W8 展望周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5422392"/>
            <a:ext cx="5029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致在外打工的屯军营人</a:t>
            </a:r>
            <a:br/>
            <a:r>
              <a:t>🥈 从长城脚下到绿茵场上</a:t>
            </a:r>
            <a:br/>
            <a:r>
              <a:t>🥉 我们的下一步：让冠军村被看见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5532120"/>
            <a:ext cx="29260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88888"/>
                </a:solidFill>
                <a:latin typeface="Arial"/>
              </a:defRPr>
            </a:pPr>
            <a:r>
              <a:t>铺未来：全村情感核弹+历史升华+发展规划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D5016"/>
                </a:solidFill>
                <a:latin typeface="Arial"/>
              </a:defRPr>
            </a:pPr>
            <a:r>
              <a:t>✨ 贯穿8周的三条"金线"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3566160" cy="548640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356616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2D5016"/>
                </a:solidFill>
                <a:latin typeface="Arial"/>
              </a:defRPr>
            </a:pPr>
            <a:r>
              <a:t>🥇 足球精神金线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888888"/>
                </a:solidFill>
                <a:latin typeface="Arial"/>
              </a:defRPr>
            </a:pPr>
            <a:r>
              <a:t>8条脚本，每周1条</a:t>
            </a:r>
          </a:p>
          <a:p>
            <a:pPr algn="l">
              <a:defRPr sz="4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333333"/>
                </a:solidFill>
                <a:latin typeface="Arial"/>
              </a:defRPr>
            </a:pPr>
            <a:r>
              <a:t>W1 我是王支书，也是冠军教练 (55s)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333333"/>
                </a:solidFill>
                <a:latin typeface="Arial"/>
              </a:defRPr>
            </a:pPr>
            <a:r>
              <a:t>W2 我们的球场，从荒地到绿茵 (55s)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333333"/>
                </a:solidFill>
                <a:latin typeface="Arial"/>
              </a:defRPr>
            </a:pPr>
            <a:r>
              <a:t>W3 凌晨五点半的足球场 (45s)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333333"/>
                </a:solidFill>
                <a:latin typeface="Arial"/>
              </a:defRPr>
            </a:pPr>
            <a:r>
              <a:t>W4 村民说：我们支书踢球比干活还拼 (55s)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333333"/>
                </a:solidFill>
                <a:latin typeface="Arial"/>
              </a:defRPr>
            </a:pPr>
            <a:r>
              <a:t>W5 我们拿遍了延庆的冠军 (60s)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333333"/>
                </a:solidFill>
                <a:latin typeface="Arial"/>
              </a:defRPr>
            </a:pPr>
            <a:r>
              <a:t>W6 一场比赛，从准备到结束 (60s)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333333"/>
                </a:solidFill>
                <a:latin typeface="Arial"/>
              </a:defRPr>
            </a:pPr>
            <a:r>
              <a:t>W7 今天这场，必须赢 (55s)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333333"/>
                </a:solidFill>
                <a:latin typeface="Arial"/>
              </a:defRPr>
            </a:pPr>
            <a:r>
              <a:t>W8 致在外打工的屯军营人 (65s)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59" y="1097280"/>
            <a:ext cx="3566160" cy="548640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23359" y="1097280"/>
            <a:ext cx="356616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39" y="12344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2D5016"/>
                </a:solidFill>
                <a:latin typeface="Arial"/>
              </a:defRPr>
            </a:pPr>
            <a:r>
              <a:t>🥈 兵味文化金线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888888"/>
                </a:solidFill>
                <a:latin typeface="Arial"/>
              </a:defRPr>
            </a:pPr>
            <a:r>
              <a:t>8条脚本，每周1条</a:t>
            </a:r>
          </a:p>
          <a:p>
            <a:pPr algn="l">
              <a:defRPr sz="4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333333"/>
                </a:solidFill>
                <a:latin typeface="Arial"/>
              </a:defRPr>
            </a:pPr>
            <a:r>
              <a:t>W1 屯军营，500年前就是练兵场 (60s)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333333"/>
                </a:solidFill>
                <a:latin typeface="Arial"/>
              </a:defRPr>
            </a:pPr>
            <a:r>
              <a:t>W2 村里最老的老兵，看我们踢球 (55s)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333333"/>
                </a:solidFill>
                <a:latin typeface="Arial"/>
              </a:defRPr>
            </a:pPr>
            <a:r>
              <a:t>W3 王支书的战术板 (50s)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333333"/>
                </a:solidFill>
                <a:latin typeface="Arial"/>
              </a:defRPr>
            </a:pPr>
            <a:r>
              <a:t>W4 城里人看不懂的农村足球规矩 (50s)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333333"/>
                </a:solidFill>
                <a:latin typeface="Arial"/>
              </a:defRPr>
            </a:pPr>
            <a:r>
              <a:t>W5 一颗球，三代人 (55s)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333333"/>
                </a:solidFill>
                <a:latin typeface="Arial"/>
              </a:defRPr>
            </a:pPr>
            <a:r>
              <a:t>W6 村队开会，吵起来了 (55s)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333333"/>
                </a:solidFill>
                <a:latin typeface="Arial"/>
              </a:defRPr>
            </a:pPr>
            <a:r>
              <a:t>W7 一亩地的账本 vs 一粒球的梦想 (55s)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333333"/>
                </a:solidFill>
                <a:latin typeface="Arial"/>
              </a:defRPr>
            </a:pPr>
            <a:r>
              <a:t>W8 从长城脚下到绿茵场上 (60s)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398" y="1097280"/>
            <a:ext cx="3566160" cy="548640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398" y="1097280"/>
            <a:ext cx="356616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8" y="12344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2D5016"/>
                </a:solidFill>
                <a:latin typeface="Arial"/>
              </a:defRPr>
            </a:pPr>
            <a:r>
              <a:t>🥉 体育政策金线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888888"/>
                </a:solidFill>
                <a:latin typeface="Arial"/>
              </a:defRPr>
            </a:pPr>
            <a:r>
              <a:t>8条脚本，每周1条</a:t>
            </a:r>
          </a:p>
          <a:p>
            <a:pPr algn="l">
              <a:defRPr sz="4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333333"/>
                </a:solidFill>
                <a:latin typeface="Arial"/>
              </a:defRPr>
            </a:pPr>
            <a:r>
              <a:t>W1 体育公园，钱从哪来？ (45s)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333333"/>
                </a:solidFill>
                <a:latin typeface="Arial"/>
              </a:defRPr>
            </a:pPr>
            <a:r>
              <a:t>W2 孩子踢球，体测能加分吗？ (40s)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333333"/>
                </a:solidFill>
                <a:latin typeface="Arial"/>
              </a:defRPr>
            </a:pPr>
            <a:r>
              <a:t>W3 扭了脚别硬扛，村医教你看伤 (40s)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333333"/>
                </a:solidFill>
                <a:latin typeface="Arial"/>
              </a:defRPr>
            </a:pPr>
            <a:r>
              <a:t>W4 村里建球场，能申请多少补贴？ (45s)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333333"/>
                </a:solidFill>
                <a:latin typeface="Arial"/>
              </a:defRPr>
            </a:pPr>
            <a:r>
              <a:t>W5 成年人踢球，到底有啥用？ (40s)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333333"/>
                </a:solidFill>
                <a:latin typeface="Arial"/>
              </a:defRPr>
            </a:pPr>
            <a:r>
              <a:t>W6 体育特长生怎么走？ (45s)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333333"/>
                </a:solidFill>
                <a:latin typeface="Arial"/>
              </a:defRPr>
            </a:pPr>
            <a:r>
              <a:t>W7 村里办比赛，安全谁负责？ (40s)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333333"/>
                </a:solidFill>
                <a:latin typeface="Arial"/>
              </a:defRPr>
            </a:pPr>
            <a:r>
              <a:t>W8 我们的下一步：让冠军村被看见 (50s)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5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828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装备与脚本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840480"/>
            <a:ext cx="36576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D5016"/>
                </a:solidFill>
                <a:latin typeface="Arial"/>
              </a:defRPr>
            </a:pPr>
            <a:r>
              <a:t>📷 三级拍摄装备清单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474720" cy="292608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4747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108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2D5016"/>
                </a:solidFill>
                <a:latin typeface="Arial"/>
              </a:defRPr>
            </a:pPr>
            <a:r>
              <a:t>🥇 入门级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3108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D4A017"/>
                </a:solidFill>
                <a:latin typeface="Arial"/>
              </a:defRPr>
            </a:pPr>
            <a:r>
              <a:t>¥800-1500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31089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iPhone 14+ / 安卓旗舰</a:t>
            </a:r>
            <a:br/>
            <a:r>
              <a:t>大疆 OM6 手机稳定器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88888"/>
                </a:solidFill>
                <a:latin typeface="Arial"/>
              </a:defRPr>
            </a:pPr>
            <a:r>
              <a:t>用途：日常Vlog、走访跟拍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39" y="1097280"/>
            <a:ext cx="3474720" cy="292608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39" y="1097280"/>
            <a:ext cx="34747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19" y="1280160"/>
            <a:ext cx="3108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2D5016"/>
                </a:solidFill>
                <a:latin typeface="Arial"/>
              </a:defRPr>
            </a:pPr>
            <a:r>
              <a:t>🥈 进阶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19" y="1737360"/>
            <a:ext cx="3108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D4A017"/>
                </a:solidFill>
                <a:latin typeface="Arial"/>
              </a:defRPr>
            </a:pPr>
            <a:r>
              <a:t>¥4000-8000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19" y="2194560"/>
            <a:ext cx="31089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DJI Pocket 3</a:t>
            </a:r>
            <a:br/>
            <a:r>
              <a:t>罗德 Wireless GO 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19" y="329184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88888"/>
                </a:solidFill>
                <a:latin typeface="Arial"/>
              </a:defRPr>
            </a:pPr>
            <a:r>
              <a:t>用途：画质升级、采访、讲解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8" y="1097280"/>
            <a:ext cx="3474720" cy="292608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78" y="1097280"/>
            <a:ext cx="34747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58" y="1280160"/>
            <a:ext cx="3108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2D5016"/>
                </a:solidFill>
                <a:latin typeface="Arial"/>
              </a:defRPr>
            </a:pPr>
            <a:r>
              <a:t>🥉 专业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58" y="1737360"/>
            <a:ext cx="3108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D4A017"/>
                </a:solidFill>
                <a:latin typeface="Arial"/>
              </a:defRPr>
            </a:pPr>
            <a:r>
              <a:t>¥8000-15000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58" y="2194560"/>
            <a:ext cx="31089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大疆 Mini 4 Pro</a:t>
            </a:r>
            <a:br/>
            <a:r>
              <a:t>补光灯 + 滑轨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58" y="329184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88888"/>
                </a:solidFill>
                <a:latin typeface="Arial"/>
              </a:defRPr>
            </a:pPr>
            <a:r>
              <a:t>用途：航拍、夜景、室内访谈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389120"/>
            <a:ext cx="10972800" cy="201168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D5016"/>
                </a:solidFill>
                <a:latin typeface="Arial"/>
              </a:defRPr>
            </a:pPr>
            <a:r>
              <a:t>💡 采购建议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029200"/>
            <a:ext cx="105156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先入门，出爆款后再升级。必买：手机稳定器 + 无线领夹麦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888888"/>
                </a:solidFill>
                <a:latin typeface="Arial"/>
              </a:defRPr>
            </a:pPr>
            <a:r>
              <a:t>村支书账号讲究"真实感"，手机拍反而更接地气。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888888"/>
                </a:solidFill>
                <a:latin typeface="Arial"/>
              </a:defRPr>
            </a:pPr>
            <a:r>
              <a:t>足球场景特殊需求：GoPro（防水防撞，雨天比赛拍摄）+ 无人机（球场全景 + 村庄航拍）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D5016"/>
                </a:solidFill>
                <a:latin typeface="Arial"/>
              </a:defRPr>
            </a:pPr>
            <a:r>
              <a:t>✍️ 脚本通用结构（30-90秒）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4864" cy="1188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2286000" cy="1188720"/>
          </a:xfrm>
          <a:prstGeom prst="round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1920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D4A017"/>
                </a:solidFill>
                <a:latin typeface="Arial"/>
              </a:defRPr>
            </a:pPr>
            <a:r>
              <a:t>🪝 黄金钩子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0-7秒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32588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Arial"/>
              </a:defRPr>
            </a:pPr>
            <a:r>
              <a:t>冲突 / 悬念 / 反常识 / 痛点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92024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888888"/>
                </a:solidFill>
                <a:latin typeface="Arial"/>
              </a:defRPr>
            </a:pPr>
            <a:r>
              <a:t>💡 前3秒定生死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60320"/>
            <a:ext cx="54864" cy="1188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2286000" cy="1188720"/>
          </a:xfrm>
          <a:prstGeom prst="round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97480"/>
            <a:ext cx="1920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D4A017"/>
                </a:solidFill>
                <a:latin typeface="Arial"/>
              </a:defRPr>
            </a:pPr>
            <a:r>
              <a:t>📖 核心内容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0040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7-60秒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69748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Arial"/>
              </a:defRPr>
            </a:pPr>
            <a:r>
              <a:t>三段式：是什么→为什么→怎么办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29184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888888"/>
                </a:solidFill>
                <a:latin typeface="Arial"/>
              </a:defRPr>
            </a:pPr>
            <a:r>
              <a:t>💡 信息密度高，节奏快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931920"/>
            <a:ext cx="54864" cy="1188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2286000" cy="1188720"/>
          </a:xfrm>
          <a:prstGeom prst="round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069080"/>
            <a:ext cx="1920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D4A017"/>
                </a:solidFill>
                <a:latin typeface="Arial"/>
              </a:defRPr>
            </a:pPr>
            <a:r>
              <a:t>💬 互动收尾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57200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最后5秒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406908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Arial"/>
              </a:defRPr>
            </a:pPr>
            <a:r>
              <a:t>提问引导评论 / 下集预告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466344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888888"/>
                </a:solidFill>
                <a:latin typeface="Arial"/>
              </a:defRPr>
            </a:pPr>
            <a:r>
              <a:t>💡 提高互动+关注转化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02920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D5016"/>
                </a:solidFill>
                <a:latin typeface="Arial"/>
              </a:defRPr>
            </a:pPr>
            <a:r>
              <a:t>三大栏目模板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486400"/>
            <a:ext cx="3566160" cy="118872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5778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2D5016"/>
                </a:solidFill>
                <a:latin typeface="Arial"/>
              </a:defRPr>
            </a:pPr>
            <a:r>
              <a:t>🥇 足球现场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94360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88888"/>
                </a:solidFill>
                <a:latin typeface="Arial"/>
              </a:defRPr>
            </a:pPr>
            <a:r>
              <a:t>热血纪实型 · 45-65s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2636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例：凌晨五点半的足球场</a:t>
            </a:r>
            <a:br/>
            <a:r>
              <a:t>雨中决赛全纪录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06239" y="5486400"/>
            <a:ext cx="3566160" cy="118872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19" y="55778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2D5016"/>
                </a:solidFill>
                <a:latin typeface="Arial"/>
              </a:defRPr>
            </a:pPr>
            <a:r>
              <a:t>🥈 兵味密码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19" y="594360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88888"/>
                </a:solidFill>
                <a:latin typeface="Arial"/>
              </a:defRPr>
            </a:pPr>
            <a:r>
              <a:t>文化故事型 · 50-60s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19" y="62636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例：500年前就是练兵场</a:t>
            </a:r>
            <a:br/>
            <a:r>
              <a:t>一颗球，三代人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55278" y="5486400"/>
            <a:ext cx="3566160" cy="118872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58" y="55778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2D5016"/>
                </a:solidFill>
                <a:latin typeface="Arial"/>
              </a:defRPr>
            </a:pPr>
            <a:r>
              <a:t>🥉 王支书跟你说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58" y="594360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88888"/>
                </a:solidFill>
                <a:latin typeface="Arial"/>
              </a:defRPr>
            </a:pPr>
            <a:r>
              <a:t>知识输出型 · 40-50s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58" y="62636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例：体育公园补贴怎么申请</a:t>
            </a:r>
            <a:br/>
            <a:r>
              <a:t>孩子踢球体测能加分吗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5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828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24条脚本总览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840480"/>
            <a:ext cx="36576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2D5016"/>
                </a:solidFill>
                <a:latin typeface="Arial"/>
              </a:defRPr>
            </a:pPr>
            <a:r>
              <a:t>📋 脚本清单 (1-6)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50292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411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#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914400"/>
            <a:ext cx="502920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960120"/>
            <a:ext cx="48463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脚本名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914400"/>
            <a:ext cx="256032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9601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栏目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0" y="914400"/>
            <a:ext cx="109728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0" y="960120"/>
            <a:ext cx="960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时长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829800" y="914400"/>
            <a:ext cx="109728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21240" y="960120"/>
            <a:ext cx="960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传播力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371600"/>
            <a:ext cx="50292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554480"/>
            <a:ext cx="411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2D5016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1371600"/>
            <a:ext cx="502920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155448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我是王支书，也是冠军教练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1371600"/>
            <a:ext cx="256032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155448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足球精神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0" y="1371600"/>
            <a:ext cx="109728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0" y="1554480"/>
            <a:ext cx="960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333333"/>
                </a:solidFill>
                <a:latin typeface="Arial"/>
              </a:defRPr>
            </a:pPr>
            <a:r>
              <a:t>55s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29800" y="1371600"/>
            <a:ext cx="109728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21240" y="1554480"/>
            <a:ext cx="960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D4A017"/>
                </a:solidFill>
                <a:latin typeface="Arial"/>
              </a:defRPr>
            </a:pPr>
            <a:r>
              <a:t>⭐⭐⭐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194560"/>
            <a:ext cx="5029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377440"/>
            <a:ext cx="411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2D5016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2194560"/>
            <a:ext cx="50292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237744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屯军营，500年前就是「练兵场」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2194560"/>
            <a:ext cx="25603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237744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兵味文化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0" y="2194560"/>
            <a:ext cx="10972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0" y="2377440"/>
            <a:ext cx="960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333333"/>
                </a:solidFill>
                <a:latin typeface="Arial"/>
              </a:defRPr>
            </a:pPr>
            <a:r>
              <a:t>60s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29800" y="2194560"/>
            <a:ext cx="10972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1240" y="2377440"/>
            <a:ext cx="960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D4A017"/>
                </a:solidFill>
                <a:latin typeface="Arial"/>
              </a:defRPr>
            </a:pPr>
            <a:r>
              <a:t>⭐⭐⭐⭐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017520"/>
            <a:ext cx="50292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3200400"/>
            <a:ext cx="411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2D5016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5840" y="3017520"/>
            <a:ext cx="502920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320040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体育公园，钱从哪来？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80760" y="3017520"/>
            <a:ext cx="256032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200" y="320040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体育政策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86800" y="3017520"/>
            <a:ext cx="109728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0" y="3200400"/>
            <a:ext cx="960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333333"/>
                </a:solidFill>
                <a:latin typeface="Arial"/>
              </a:defRPr>
            </a:pPr>
            <a:r>
              <a:t>45s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29800" y="3017520"/>
            <a:ext cx="109728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21240" y="3200400"/>
            <a:ext cx="960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D4A017"/>
                </a:solidFill>
                <a:latin typeface="Arial"/>
              </a:defRPr>
            </a:pPr>
            <a:r>
              <a:t>⭐⭐⭐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840480"/>
            <a:ext cx="5029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4023360"/>
            <a:ext cx="411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2D5016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5840" y="3840480"/>
            <a:ext cx="50292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7280" y="402336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我们的球场，从荒地到绿茵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80760" y="3840480"/>
            <a:ext cx="25603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72200" y="402336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足球精神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686800" y="3840480"/>
            <a:ext cx="10972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0" y="4023360"/>
            <a:ext cx="960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333333"/>
                </a:solidFill>
                <a:latin typeface="Arial"/>
              </a:defRPr>
            </a:pPr>
            <a:r>
              <a:t>55s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829800" y="3840480"/>
            <a:ext cx="10972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921240" y="4023360"/>
            <a:ext cx="960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D4A017"/>
                </a:solidFill>
                <a:latin typeface="Arial"/>
              </a:defRPr>
            </a:pPr>
            <a:r>
              <a:t>⭐⭐⭐⭐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4663440"/>
            <a:ext cx="50292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4846320"/>
            <a:ext cx="411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2D5016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05840" y="4663440"/>
            <a:ext cx="502920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97280" y="484632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村里最老的老兵，看我们踢球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80760" y="4663440"/>
            <a:ext cx="256032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72200" y="484632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兵味文化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686800" y="4663440"/>
            <a:ext cx="109728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778240" y="4846320"/>
            <a:ext cx="960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333333"/>
                </a:solidFill>
                <a:latin typeface="Arial"/>
              </a:defRPr>
            </a:pPr>
            <a:r>
              <a:t>55s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829800" y="4663440"/>
            <a:ext cx="109728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921240" y="4846320"/>
            <a:ext cx="960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D4A017"/>
                </a:solidFill>
                <a:latin typeface="Arial"/>
              </a:defRPr>
            </a:pPr>
            <a:r>
              <a:t>⭐⭐⭐⭐⭐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5486400"/>
            <a:ext cx="5029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8640" y="5669280"/>
            <a:ext cx="411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2D5016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05840" y="5486400"/>
            <a:ext cx="50292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97280" y="566928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孩子踢球，体测能加分吗？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080760" y="5486400"/>
            <a:ext cx="25603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72200" y="566928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体育政策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686800" y="5486400"/>
            <a:ext cx="10972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778240" y="5669280"/>
            <a:ext cx="960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333333"/>
                </a:solidFill>
                <a:latin typeface="Arial"/>
              </a:defRPr>
            </a:pPr>
            <a:r>
              <a:t>40s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829800" y="5486400"/>
            <a:ext cx="10972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921240" y="5669280"/>
            <a:ext cx="960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D4A017"/>
                </a:solidFill>
                <a:latin typeface="Arial"/>
              </a:defRPr>
            </a:pPr>
            <a:r>
              <a:t>⭐⭐⭐⭐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2D5016"/>
                </a:solidFill>
                <a:latin typeface="Arial"/>
              </a:defRPr>
            </a:pPr>
            <a:r>
              <a:t>📋 脚本清单 (7-12)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50292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411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#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914400"/>
            <a:ext cx="502920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960120"/>
            <a:ext cx="48463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脚本名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914400"/>
            <a:ext cx="256032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9601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栏目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0" y="914400"/>
            <a:ext cx="109728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0" y="960120"/>
            <a:ext cx="960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时长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829800" y="914400"/>
            <a:ext cx="109728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21240" y="960120"/>
            <a:ext cx="960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传播力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371600"/>
            <a:ext cx="50292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554480"/>
            <a:ext cx="411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2D5016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1371600"/>
            <a:ext cx="502920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155448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凌晨五点半的足球场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1371600"/>
            <a:ext cx="256032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155448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足球精神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0" y="1371600"/>
            <a:ext cx="109728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0" y="1554480"/>
            <a:ext cx="960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333333"/>
                </a:solidFill>
                <a:latin typeface="Arial"/>
              </a:defRPr>
            </a:pPr>
            <a:r>
              <a:t>45s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29800" y="1371600"/>
            <a:ext cx="109728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21240" y="1554480"/>
            <a:ext cx="960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D4A017"/>
                </a:solidFill>
                <a:latin typeface="Arial"/>
              </a:defRPr>
            </a:pPr>
            <a:r>
              <a:t>⭐⭐⭐⭐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194560"/>
            <a:ext cx="5029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377440"/>
            <a:ext cx="411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2D5016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2194560"/>
            <a:ext cx="50292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237744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王支书的战术板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2194560"/>
            <a:ext cx="25603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237744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兵味文化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0" y="2194560"/>
            <a:ext cx="10972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0" y="2377440"/>
            <a:ext cx="960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333333"/>
                </a:solidFill>
                <a:latin typeface="Arial"/>
              </a:defRPr>
            </a:pPr>
            <a:r>
              <a:t>50s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29800" y="2194560"/>
            <a:ext cx="10972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1240" y="2377440"/>
            <a:ext cx="960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D4A017"/>
                </a:solidFill>
                <a:latin typeface="Arial"/>
              </a:defRPr>
            </a:pPr>
            <a:r>
              <a:t>⭐⭐⭐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017520"/>
            <a:ext cx="50292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3200400"/>
            <a:ext cx="411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2D5016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5840" y="3017520"/>
            <a:ext cx="502920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320040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扭了脚别硬扛，村医教你看伤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80760" y="3017520"/>
            <a:ext cx="256032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200" y="320040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体育政策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86800" y="3017520"/>
            <a:ext cx="109728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0" y="3200400"/>
            <a:ext cx="960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333333"/>
                </a:solidFill>
                <a:latin typeface="Arial"/>
              </a:defRPr>
            </a:pPr>
            <a:r>
              <a:t>40s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29800" y="3017520"/>
            <a:ext cx="109728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21240" y="3200400"/>
            <a:ext cx="960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D4A017"/>
                </a:solidFill>
                <a:latin typeface="Arial"/>
              </a:defRPr>
            </a:pPr>
            <a:r>
              <a:t>⭐⭐⭐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840480"/>
            <a:ext cx="5029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4023360"/>
            <a:ext cx="411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2D5016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5840" y="3840480"/>
            <a:ext cx="50292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7280" y="402336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村民说：我们支书踢球比干活还拼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80760" y="3840480"/>
            <a:ext cx="25603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72200" y="402336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足球精神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686800" y="3840480"/>
            <a:ext cx="10972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0" y="4023360"/>
            <a:ext cx="960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333333"/>
                </a:solidFill>
                <a:latin typeface="Arial"/>
              </a:defRPr>
            </a:pPr>
            <a:r>
              <a:t>55s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829800" y="3840480"/>
            <a:ext cx="10972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921240" y="4023360"/>
            <a:ext cx="960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D4A017"/>
                </a:solidFill>
                <a:latin typeface="Arial"/>
              </a:defRPr>
            </a:pPr>
            <a:r>
              <a:t>⭐⭐⭐⭐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4663440"/>
            <a:ext cx="50292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4846320"/>
            <a:ext cx="411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2D5016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05840" y="4663440"/>
            <a:ext cx="502920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97280" y="484632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城里人看不懂的农村足球规矩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80760" y="4663440"/>
            <a:ext cx="256032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72200" y="484632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兵味文化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686800" y="4663440"/>
            <a:ext cx="109728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778240" y="4846320"/>
            <a:ext cx="960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333333"/>
                </a:solidFill>
                <a:latin typeface="Arial"/>
              </a:defRPr>
            </a:pPr>
            <a:r>
              <a:t>50s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829800" y="4663440"/>
            <a:ext cx="109728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921240" y="4846320"/>
            <a:ext cx="960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D4A017"/>
                </a:solidFill>
                <a:latin typeface="Arial"/>
              </a:defRPr>
            </a:pPr>
            <a:r>
              <a:t>⭐⭐⭐⭐⭐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5486400"/>
            <a:ext cx="5029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8640" y="5669280"/>
            <a:ext cx="411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2D5016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05840" y="5486400"/>
            <a:ext cx="50292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97280" y="566928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村里建球场，能申请多少补贴？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080760" y="5486400"/>
            <a:ext cx="25603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72200" y="566928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体育政策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686800" y="5486400"/>
            <a:ext cx="10972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778240" y="5669280"/>
            <a:ext cx="960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333333"/>
                </a:solidFill>
                <a:latin typeface="Arial"/>
              </a:defRPr>
            </a:pPr>
            <a:r>
              <a:t>45s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829800" y="5486400"/>
            <a:ext cx="10972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921240" y="5669280"/>
            <a:ext cx="960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D4A017"/>
                </a:solidFill>
                <a:latin typeface="Arial"/>
              </a:defRPr>
            </a:pPr>
            <a:r>
              <a:t>⭐⭐⭐⭐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2D5016"/>
                </a:solidFill>
                <a:latin typeface="Arial"/>
              </a:defRPr>
            </a:pPr>
            <a:r>
              <a:t>📋 脚本清单 (13-18)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50292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411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#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914400"/>
            <a:ext cx="502920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960120"/>
            <a:ext cx="48463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脚本名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914400"/>
            <a:ext cx="256032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9601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栏目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0" y="914400"/>
            <a:ext cx="109728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0" y="960120"/>
            <a:ext cx="960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时长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829800" y="914400"/>
            <a:ext cx="109728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21240" y="960120"/>
            <a:ext cx="960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传播力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371600"/>
            <a:ext cx="50292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554480"/>
            <a:ext cx="411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2D5016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1371600"/>
            <a:ext cx="502920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155448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我们拿遍了延庆的冠军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1371600"/>
            <a:ext cx="256032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155448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足球精神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0" y="1371600"/>
            <a:ext cx="109728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0" y="1554480"/>
            <a:ext cx="960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333333"/>
                </a:solidFill>
                <a:latin typeface="Arial"/>
              </a:defRPr>
            </a:pPr>
            <a:r>
              <a:t>60s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29800" y="1371600"/>
            <a:ext cx="109728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21240" y="1554480"/>
            <a:ext cx="960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D4A017"/>
                </a:solidFill>
                <a:latin typeface="Arial"/>
              </a:defRPr>
            </a:pPr>
            <a:r>
              <a:t>⭐⭐⭐⭐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194560"/>
            <a:ext cx="5029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377440"/>
            <a:ext cx="411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2D5016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2194560"/>
            <a:ext cx="50292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237744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一颗球，三代人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2194560"/>
            <a:ext cx="25603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237744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兵味文化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0" y="2194560"/>
            <a:ext cx="10972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0" y="2377440"/>
            <a:ext cx="960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333333"/>
                </a:solidFill>
                <a:latin typeface="Arial"/>
              </a:defRPr>
            </a:pPr>
            <a:r>
              <a:t>55s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29800" y="2194560"/>
            <a:ext cx="10972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1240" y="2377440"/>
            <a:ext cx="960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D4A017"/>
                </a:solidFill>
                <a:latin typeface="Arial"/>
              </a:defRPr>
            </a:pPr>
            <a:r>
              <a:t>⭐⭐⭐⭐⭐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017520"/>
            <a:ext cx="50292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3200400"/>
            <a:ext cx="411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2D5016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5840" y="3017520"/>
            <a:ext cx="502920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320040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成年人踢球，到底有啥用？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80760" y="3017520"/>
            <a:ext cx="256032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200" y="320040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体育政策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86800" y="3017520"/>
            <a:ext cx="109728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0" y="3200400"/>
            <a:ext cx="960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333333"/>
                </a:solidFill>
                <a:latin typeface="Arial"/>
              </a:defRPr>
            </a:pPr>
            <a:r>
              <a:t>40s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29800" y="3017520"/>
            <a:ext cx="109728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21240" y="3200400"/>
            <a:ext cx="960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D4A017"/>
                </a:solidFill>
                <a:latin typeface="Arial"/>
              </a:defRPr>
            </a:pPr>
            <a:r>
              <a:t>⭐⭐⭐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840480"/>
            <a:ext cx="5029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4023360"/>
            <a:ext cx="411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2D5016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5840" y="3840480"/>
            <a:ext cx="50292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7280" y="402336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一场比赛，从准备到结束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80760" y="3840480"/>
            <a:ext cx="25603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72200" y="402336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足球精神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686800" y="3840480"/>
            <a:ext cx="10972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0" y="4023360"/>
            <a:ext cx="960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333333"/>
                </a:solidFill>
                <a:latin typeface="Arial"/>
              </a:defRPr>
            </a:pPr>
            <a:r>
              <a:t>60s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829800" y="3840480"/>
            <a:ext cx="10972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921240" y="4023360"/>
            <a:ext cx="960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D4A017"/>
                </a:solidFill>
                <a:latin typeface="Arial"/>
              </a:defRPr>
            </a:pPr>
            <a:r>
              <a:t>⭐⭐⭐⭐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4663440"/>
            <a:ext cx="50292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4846320"/>
            <a:ext cx="411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2D5016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05840" y="4663440"/>
            <a:ext cx="502920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97280" y="484632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村队开会，吵起来了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80760" y="4663440"/>
            <a:ext cx="256032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72200" y="484632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兵味文化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686800" y="4663440"/>
            <a:ext cx="109728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778240" y="4846320"/>
            <a:ext cx="960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333333"/>
                </a:solidFill>
                <a:latin typeface="Arial"/>
              </a:defRPr>
            </a:pPr>
            <a:r>
              <a:t>55s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829800" y="4663440"/>
            <a:ext cx="109728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921240" y="4846320"/>
            <a:ext cx="960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D4A017"/>
                </a:solidFill>
                <a:latin typeface="Arial"/>
              </a:defRPr>
            </a:pPr>
            <a:r>
              <a:t>⭐⭐⭐⭐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5486400"/>
            <a:ext cx="5029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8640" y="5669280"/>
            <a:ext cx="411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2D5016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05840" y="5486400"/>
            <a:ext cx="50292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97280" y="566928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体育特长生怎么走？一条路说清楚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080760" y="5486400"/>
            <a:ext cx="25603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72200" y="566928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体育政策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686800" y="5486400"/>
            <a:ext cx="10972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778240" y="5669280"/>
            <a:ext cx="960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333333"/>
                </a:solidFill>
                <a:latin typeface="Arial"/>
              </a:defRPr>
            </a:pPr>
            <a:r>
              <a:t>45s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829800" y="5486400"/>
            <a:ext cx="10972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921240" y="5669280"/>
            <a:ext cx="960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D4A017"/>
                </a:solidFill>
                <a:latin typeface="Arial"/>
              </a:defRPr>
            </a:pPr>
            <a:r>
              <a:t>⭐⭐⭐⭐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2D5016"/>
                </a:solidFill>
                <a:latin typeface="Arial"/>
              </a:defRPr>
            </a:pPr>
            <a:r>
              <a:t>📋 脚本清单 (19-24)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50292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411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#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914400"/>
            <a:ext cx="502920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960120"/>
            <a:ext cx="48463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脚本名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914400"/>
            <a:ext cx="256032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9601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栏目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0" y="914400"/>
            <a:ext cx="109728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0" y="960120"/>
            <a:ext cx="960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时长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829800" y="914400"/>
            <a:ext cx="109728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21240" y="960120"/>
            <a:ext cx="960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传播力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371600"/>
            <a:ext cx="50292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554480"/>
            <a:ext cx="411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2D5016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1371600"/>
            <a:ext cx="502920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155448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今天这场，必须赢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1371600"/>
            <a:ext cx="256032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155448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足球精神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0" y="1371600"/>
            <a:ext cx="109728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0" y="1554480"/>
            <a:ext cx="960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333333"/>
                </a:solidFill>
                <a:latin typeface="Arial"/>
              </a:defRPr>
            </a:pPr>
            <a:r>
              <a:t>55s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29800" y="1371600"/>
            <a:ext cx="109728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21240" y="1554480"/>
            <a:ext cx="960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D4A017"/>
                </a:solidFill>
                <a:latin typeface="Arial"/>
              </a:defRPr>
            </a:pPr>
            <a:r>
              <a:t>⭐⭐⭐⭐⭐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194560"/>
            <a:ext cx="5029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377440"/>
            <a:ext cx="411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2D5016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2194560"/>
            <a:ext cx="50292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237744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一亩地的账本 vs 一粒球的梦想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2194560"/>
            <a:ext cx="25603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237744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兵味文化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0" y="2194560"/>
            <a:ext cx="10972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0" y="2377440"/>
            <a:ext cx="960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333333"/>
                </a:solidFill>
                <a:latin typeface="Arial"/>
              </a:defRPr>
            </a:pPr>
            <a:r>
              <a:t>55s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29800" y="2194560"/>
            <a:ext cx="10972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1240" y="2377440"/>
            <a:ext cx="960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D4A017"/>
                </a:solidFill>
                <a:latin typeface="Arial"/>
              </a:defRPr>
            </a:pPr>
            <a:r>
              <a:t>⭐⭐⭐⭐⭐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017520"/>
            <a:ext cx="50292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3200400"/>
            <a:ext cx="411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2D5016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5840" y="3017520"/>
            <a:ext cx="502920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320040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村里办比赛，安全谁负责？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80760" y="3017520"/>
            <a:ext cx="256032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200" y="320040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体育政策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86800" y="3017520"/>
            <a:ext cx="109728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0" y="3200400"/>
            <a:ext cx="960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333333"/>
                </a:solidFill>
                <a:latin typeface="Arial"/>
              </a:defRPr>
            </a:pPr>
            <a:r>
              <a:t>40s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29800" y="3017520"/>
            <a:ext cx="109728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21240" y="3200400"/>
            <a:ext cx="960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D4A017"/>
                </a:solidFill>
                <a:latin typeface="Arial"/>
              </a:defRPr>
            </a:pPr>
            <a:r>
              <a:t>⭐⭐⭐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840480"/>
            <a:ext cx="5029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4023360"/>
            <a:ext cx="411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2D5016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5840" y="3840480"/>
            <a:ext cx="50292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7280" y="402336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致在外打工的屯军营人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80760" y="3840480"/>
            <a:ext cx="25603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72200" y="402336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足球精神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686800" y="3840480"/>
            <a:ext cx="10972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0" y="4023360"/>
            <a:ext cx="960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333333"/>
                </a:solidFill>
                <a:latin typeface="Arial"/>
              </a:defRPr>
            </a:pPr>
            <a:r>
              <a:t>65s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829800" y="3840480"/>
            <a:ext cx="10972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921240" y="4023360"/>
            <a:ext cx="960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D4A017"/>
                </a:solidFill>
                <a:latin typeface="Arial"/>
              </a:defRPr>
            </a:pPr>
            <a:r>
              <a:t>⭐⭐⭐⭐⭐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4663440"/>
            <a:ext cx="50292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4846320"/>
            <a:ext cx="411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2D5016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05840" y="4663440"/>
            <a:ext cx="502920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97280" y="484632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从长城脚下到绿茵场上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80760" y="4663440"/>
            <a:ext cx="256032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72200" y="484632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兵味文化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686800" y="4663440"/>
            <a:ext cx="109728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778240" y="4846320"/>
            <a:ext cx="960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333333"/>
                </a:solidFill>
                <a:latin typeface="Arial"/>
              </a:defRPr>
            </a:pPr>
            <a:r>
              <a:t>60s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829800" y="4663440"/>
            <a:ext cx="109728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921240" y="4846320"/>
            <a:ext cx="960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D4A017"/>
                </a:solidFill>
                <a:latin typeface="Arial"/>
              </a:defRPr>
            </a:pPr>
            <a:r>
              <a:t>⭐⭐⭐⭐⭐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5486400"/>
            <a:ext cx="5029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8640" y="5669280"/>
            <a:ext cx="411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2D5016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05840" y="5486400"/>
            <a:ext cx="50292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97280" y="566928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我们的下一步：让冠军村被看见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080760" y="5486400"/>
            <a:ext cx="25603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72200" y="566928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体育政策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686800" y="5486400"/>
            <a:ext cx="10972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778240" y="5669280"/>
            <a:ext cx="960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333333"/>
                </a:solidFill>
                <a:latin typeface="Arial"/>
              </a:defRPr>
            </a:pPr>
            <a:r>
              <a:t>50s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829800" y="5486400"/>
            <a:ext cx="10972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921240" y="5669280"/>
            <a:ext cx="960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D4A017"/>
                </a:solidFill>
                <a:latin typeface="Arial"/>
              </a:defRPr>
            </a:pPr>
            <a:r>
              <a:t>⭐⭐⭐⭐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371600"/>
            <a:ext cx="9418320" cy="4114800"/>
          </a:xfrm>
          <a:prstGeom prst="round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64592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D4A017"/>
                </a:solidFill>
                <a:latin typeface="Arial"/>
              </a:defRPr>
            </a:pPr>
            <a:r>
              <a:t>🔥 爆款潜力 TOP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46888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🥇 #22 致在外打工的屯军营人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83464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F5E6C8"/>
                </a:solidFill>
                <a:latin typeface="Arial"/>
              </a:defRPr>
            </a:pPr>
            <a:r>
              <a:t>足球精神 · 65s · ⭐⭐⭐⭐⭐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06324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情感向，直击在外游子共鸣 —— 预计传播力最高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38328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🥈 #20 一亩地的账本 vs 一粒球的梦想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74904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F5E6C8"/>
                </a:solidFill>
                <a:latin typeface="Arial"/>
              </a:defRPr>
            </a:pPr>
            <a:r>
              <a:t>兵味文化 · 55s · ⭐⭐⭐⭐⭐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97764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最强乡村足球视觉符号 —— 破圈能力最强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29768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🥉 #11 城里人看不懂的农村足球规矩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66344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F5E6C8"/>
                </a:solidFill>
                <a:latin typeface="Arial"/>
              </a:defRPr>
            </a:pPr>
            <a:r>
              <a:t>兵味文化 · 50s · ⭐⭐⭐⭐⭐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89204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城乡反差天然流量密码 —— 分享率最高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5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828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0" b="1">
                <a:solidFill>
                  <a:srgbClr val="FFFFF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行动清单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840480"/>
            <a:ext cx="36576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D5016"/>
                </a:solidFill>
                <a:latin typeface="Arial"/>
              </a:defRPr>
            </a:pPr>
            <a:r>
              <a:t>✅ 立即行动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0972800" cy="59436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463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D5016"/>
                </a:solidFill>
                <a:latin typeface="Arial"/>
              </a:defRPr>
            </a:pPr>
            <a:r>
              <a:t>🔴 今天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298448"/>
            <a:ext cx="5943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完成对标账号分析：烟消云/范文栋/小江支书/张爱军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298448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D4A017"/>
                </a:solidFill>
                <a:latin typeface="Arial"/>
              </a:defRPr>
            </a:pPr>
            <a:r>
              <a:t>✅ 已完成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47088"/>
            <a:ext cx="1097280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56816"/>
            <a:ext cx="1463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D5016"/>
                </a:solidFill>
                <a:latin typeface="Arial"/>
              </a:defRPr>
            </a:pPr>
            <a:r>
              <a:t>🔴 今天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956816"/>
            <a:ext cx="5943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确定账号人设：村支书+冠军教练双重身份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956816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D4A017"/>
                </a:solidFill>
                <a:latin typeface="Arial"/>
              </a:defRPr>
            </a:pPr>
            <a:r>
              <a:t>✅ 已定调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505456"/>
            <a:ext cx="10972800" cy="59436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15184"/>
            <a:ext cx="1463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D5016"/>
                </a:solidFill>
                <a:latin typeface="Arial"/>
              </a:defRPr>
            </a:pPr>
            <a:r>
              <a:t>🟡 本周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615184"/>
            <a:ext cx="5943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用手机试拍脚本1（我是王支书，也是冠军教练），看镜头状态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615184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888888"/>
                </a:solidFill>
                <a:latin typeface="Arial"/>
              </a:defRPr>
            </a:pPr>
            <a:r>
              <a:t>→ 样片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63824"/>
            <a:ext cx="1097280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73552"/>
            <a:ext cx="1463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D5016"/>
                </a:solidFill>
                <a:latin typeface="Arial"/>
              </a:defRPr>
            </a:pPr>
            <a:r>
              <a:t>🟡 本周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273552"/>
            <a:ext cx="5943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盘村资源：老照片、老奖杯、愿出镜的老人和老兵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2735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888888"/>
                </a:solidFill>
                <a:latin typeface="Arial"/>
              </a:defRPr>
            </a:pPr>
            <a:r>
              <a:t>→ 资源清单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822192"/>
            <a:ext cx="10972800" cy="59436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931920"/>
            <a:ext cx="1463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D5016"/>
                </a:solidFill>
                <a:latin typeface="Arial"/>
              </a:defRPr>
            </a:pPr>
            <a:r>
              <a:t>🟡 本周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3931920"/>
            <a:ext cx="5943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注册抖音+视频号，账号名建议：屯军营村·王支书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9319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888888"/>
                </a:solidFill>
                <a:latin typeface="Arial"/>
              </a:defRPr>
            </a:pPr>
            <a:r>
              <a:t>→ 账号注册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480560"/>
            <a:ext cx="1097280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590288"/>
            <a:ext cx="1463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D5016"/>
                </a:solidFill>
                <a:latin typeface="Arial"/>
              </a:defRPr>
            </a:pPr>
            <a:r>
              <a:t>🟢 两周内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4590288"/>
            <a:ext cx="5943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拍完前3条（W1脚本①②③）→ 冷启动发布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590288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888888"/>
                </a:solidFill>
                <a:latin typeface="Arial"/>
              </a:defRPr>
            </a:pPr>
            <a:r>
              <a:t>→ 首发内容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138928"/>
            <a:ext cx="10972800" cy="59436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248656"/>
            <a:ext cx="1463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D5016"/>
                </a:solidFill>
                <a:latin typeface="Arial"/>
              </a:defRPr>
            </a:pPr>
            <a:r>
              <a:t>🟢 两周内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5248656"/>
            <a:ext cx="5943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搭建评论回复SOP：村民互动+政策咨询+足球讨论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5248656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888888"/>
                </a:solidFill>
                <a:latin typeface="Arial"/>
              </a:defRPr>
            </a:pPr>
            <a:r>
              <a:t>→ 运营手册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797296"/>
            <a:ext cx="1097280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907024"/>
            <a:ext cx="1463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D5016"/>
                </a:solidFill>
                <a:latin typeface="Arial"/>
              </a:defRPr>
            </a:pPr>
            <a:r>
              <a:t>🟢 一个月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5907024"/>
            <a:ext cx="5943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完成8周24条脚本首轮拍摄，进入稳定更新节奏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5907024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888888"/>
                </a:solidFill>
                <a:latin typeface="Arial"/>
              </a:defRPr>
            </a:pPr>
            <a:r>
              <a:t>→ 内容储备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91695" cy="1828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D4A017"/>
                </a:solidFill>
                <a:latin typeface="Arial"/>
              </a:defRPr>
            </a:pPr>
            <a:r>
              <a:t>屯军营，开拍！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144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FFFFFF"/>
                </a:solidFill>
                <a:latin typeface="Arial"/>
              </a:defRPr>
            </a:pPr>
            <a:r>
              <a:t>24条脚本已就绪，三条栏目线全线推进 —— 从长城脚下踢出来的冠军村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66344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888888"/>
                </a:solidFill>
                <a:latin typeface="Arial"/>
              </a:defRPr>
            </a:pPr>
            <a:r>
              <a:t>延庆区屯军营村 · 足球专题版 v2.0 · 2026年6月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888888"/>
                </a:solidFill>
                <a:latin typeface="Arial"/>
              </a:defRPr>
            </a:pPr>
            <a:r>
              <a:t>发布节奏：每周二/四/六 晚18:30  |  总时长约21分钟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