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12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54864"/>
          </a:xfrm>
          <a:prstGeom prst="rect">
            <a:avLst/>
          </a:prstGeom>
          <a:solidFill>
            <a:srgbClr val="7C3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FFFFFF"/>
                </a:solidFill>
              </a:rPr>
              <a:t>INTRODUCTION TOREADING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41832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</a:rPr>
              <a:t>Hongxian 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000000"/>
                </a:solidFill>
              </a:rPr>
              <a:t>What is an Abstract?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49680" y="1645920"/>
            <a:ext cx="2926080" cy="2560320"/>
          </a:xfrm>
          <a:prstGeom prst="round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41120" y="18288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4000">
                <a:solidFill>
                  <a:srgbClr val="000000"/>
                </a:solidFill>
              </a:rPr>
              <a:t>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1120" y="27432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000000"/>
                </a:solidFill>
              </a:rPr>
              <a:t>Concise</a:t>
            </a:r>
            <a:br/>
            <a:r>
              <a:rPr b="1">
                <a:solidFill>
                  <a:srgbClr val="000000"/>
                </a:solidFill>
              </a:rPr>
              <a:t>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1120" y="3566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400">
                <a:solidFill>
                  <a:srgbClr val="666666"/>
                </a:solidFill>
              </a:rPr>
              <a:t>Of whole paper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32960" y="1645920"/>
            <a:ext cx="2926080" cy="2560320"/>
          </a:xfrm>
          <a:prstGeom prst="round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24400" y="18288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4000">
                <a:solidFill>
                  <a:srgbClr val="000000"/>
                </a:solidFill>
              </a:rPr>
              <a:t>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4400" y="27432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000000"/>
                </a:solidFill>
              </a:rPr>
              <a:t>100–200</a:t>
            </a:r>
            <a:br/>
            <a:r>
              <a:rPr b="1">
                <a:solidFill>
                  <a:srgbClr val="000000"/>
                </a:solidFill>
              </a:rPr>
              <a:t>Words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4400" y="3566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400">
                <a:solidFill>
                  <a:srgbClr val="666666"/>
                </a:solidFill>
              </a:rPr>
              <a:t>Stands alone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6240" y="1645920"/>
            <a:ext cx="2926080" cy="2560320"/>
          </a:xfrm>
          <a:prstGeom prst="round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07680" y="18288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4000">
                <a:solidFill>
                  <a:srgbClr val="000000"/>
                </a:solidFill>
              </a:rPr>
              <a:t>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07680" y="27432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800">
                <a:solidFill>
                  <a:srgbClr val="000000"/>
                </a:solidFill>
              </a:rPr>
              <a:t>Key Results</a:t>
            </a:r>
            <a:br/>
            <a:r>
              <a:rPr b="1">
                <a:solidFill>
                  <a:srgbClr val="000000"/>
                </a:solidFill>
              </a:rPr>
              <a:t>Included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07680" y="3566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400">
                <a:solidFill>
                  <a:srgbClr val="666666"/>
                </a:solidFill>
              </a:rPr>
              <a:t>No abbreviations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666666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000000"/>
                </a:solidFill>
              </a:rPr>
              <a:t>7 Elements of an Abstract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666666"/>
                </a:solidFill>
              </a:rPr>
              <a:t>Not all abstracts include all 7 elements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666666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0000" y="1650000"/>
            <a:ext cx="144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/>
              <a:t>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0000" y="2430000"/>
            <a:ext cx="1440000" cy="1050000"/>
          </a:xfrm>
          <a:prstGeom prst="round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02379"/>
                </a:solidFill>
              </a:rPr>
              <a:t>Context</a:t>
            </a:r>
          </a:p>
          <a:p>
            <a:pPr algn="ctr">
              <a:spcBef>
                <a:spcPts val="400"/>
              </a:spcBef>
            </a:pPr>
            <a:r>
              <a:rPr sz="1000">
                <a:solidFill>
                  <a:srgbClr val="777777"/>
                </a:solidFill>
              </a:rPr>
              <a:t>Background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220000" y="2955000"/>
            <a:ext cx="140000" cy="0"/>
          </a:xfrm>
          <a:prstGeom prst="line">
            <a:avLst/>
          </a:prstGeom>
          <a:ln w="19050">
            <a:solidFill>
              <a:srgbClr val="5023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360000" y="1650000"/>
            <a:ext cx="144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/>
              <a:t>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60000" y="2430000"/>
            <a:ext cx="1440000" cy="1050000"/>
          </a:xfrm>
          <a:prstGeom prst="round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02379"/>
                </a:solidFill>
              </a:rPr>
              <a:t>Significance</a:t>
            </a:r>
          </a:p>
          <a:p>
            <a:pPr algn="ctr">
              <a:spcBef>
                <a:spcPts val="400"/>
              </a:spcBef>
            </a:pPr>
            <a:r>
              <a:rPr sz="1000">
                <a:solidFill>
                  <a:srgbClr val="777777"/>
                </a:solidFill>
              </a:rPr>
              <a:t>Why it matters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800000" y="2955000"/>
            <a:ext cx="140000" cy="0"/>
          </a:xfrm>
          <a:prstGeom prst="line">
            <a:avLst/>
          </a:prstGeom>
          <a:ln w="19050">
            <a:solidFill>
              <a:srgbClr val="5023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940000" y="1650000"/>
            <a:ext cx="144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/>
              <a:t>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40000" y="2430000"/>
            <a:ext cx="1440000" cy="1050000"/>
          </a:xfrm>
          <a:prstGeom prst="round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02379"/>
                </a:solidFill>
              </a:rPr>
              <a:t>Aims</a:t>
            </a:r>
          </a:p>
          <a:p>
            <a:pPr algn="ctr">
              <a:spcBef>
                <a:spcPts val="400"/>
              </a:spcBef>
            </a:pPr>
            <a:r>
              <a:rPr sz="1000">
                <a:solidFill>
                  <a:srgbClr val="777777"/>
                </a:solidFill>
              </a:rPr>
              <a:t>Research goal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80000" y="2955000"/>
            <a:ext cx="140000" cy="0"/>
          </a:xfrm>
          <a:prstGeom prst="line">
            <a:avLst/>
          </a:prstGeom>
          <a:ln w="19050">
            <a:solidFill>
              <a:srgbClr val="5023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520000" y="1650000"/>
            <a:ext cx="144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/>
              <a:t>🔬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20000" y="2430000"/>
            <a:ext cx="1440000" cy="1050000"/>
          </a:xfrm>
          <a:prstGeom prst="round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02379"/>
                </a:solidFill>
              </a:rPr>
              <a:t>Method</a:t>
            </a:r>
          </a:p>
          <a:p>
            <a:pPr algn="ctr">
              <a:spcBef>
                <a:spcPts val="400"/>
              </a:spcBef>
            </a:pPr>
            <a:r>
              <a:rPr sz="1000">
                <a:solidFill>
                  <a:srgbClr val="777777"/>
                </a:solidFill>
              </a:rPr>
              <a:t>How it was done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60000" y="2955000"/>
            <a:ext cx="140000" cy="0"/>
          </a:xfrm>
          <a:prstGeom prst="line">
            <a:avLst/>
          </a:prstGeom>
          <a:ln w="19050">
            <a:solidFill>
              <a:srgbClr val="5023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100000" y="1650000"/>
            <a:ext cx="144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/>
              <a:t>📊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00000" y="2430000"/>
            <a:ext cx="1440000" cy="1050000"/>
          </a:xfrm>
          <a:prstGeom prst="round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02379"/>
                </a:solidFill>
              </a:rPr>
              <a:t>Findings</a:t>
            </a:r>
          </a:p>
          <a:p>
            <a:pPr algn="ctr">
              <a:spcBef>
                <a:spcPts val="400"/>
              </a:spcBef>
            </a:pPr>
            <a:r>
              <a:rPr sz="1000">
                <a:solidFill>
                  <a:srgbClr val="777777"/>
                </a:solidFill>
              </a:rPr>
              <a:t>What was found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40000" y="2955000"/>
            <a:ext cx="140000" cy="0"/>
          </a:xfrm>
          <a:prstGeom prst="line">
            <a:avLst/>
          </a:prstGeom>
          <a:ln w="19050">
            <a:solidFill>
              <a:srgbClr val="5023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680000" y="1650000"/>
            <a:ext cx="144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/>
              <a:t>💬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0000" y="2430000"/>
            <a:ext cx="1440000" cy="1050000"/>
          </a:xfrm>
          <a:prstGeom prst="round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02379"/>
                </a:solidFill>
              </a:rPr>
              <a:t>Discussion</a:t>
            </a:r>
          </a:p>
          <a:p>
            <a:pPr algn="ctr">
              <a:spcBef>
                <a:spcPts val="400"/>
              </a:spcBef>
            </a:pPr>
            <a:r>
              <a:rPr sz="1000">
                <a:solidFill>
                  <a:srgbClr val="777777"/>
                </a:solidFill>
              </a:rPr>
              <a:t>What it means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120000" y="2955000"/>
            <a:ext cx="140000" cy="0"/>
          </a:xfrm>
          <a:prstGeom prst="line">
            <a:avLst/>
          </a:prstGeom>
          <a:ln w="19050">
            <a:solidFill>
              <a:srgbClr val="5023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0260000" y="1650000"/>
            <a:ext cx="144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/>
              <a:t>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260000" y="2430000"/>
            <a:ext cx="1440000" cy="1050000"/>
          </a:xfrm>
          <a:prstGeom prst="round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02379"/>
                </a:solidFill>
              </a:rPr>
              <a:t>Implications</a:t>
            </a:r>
          </a:p>
          <a:p>
            <a:pPr algn="ctr">
              <a:spcBef>
                <a:spcPts val="400"/>
              </a:spcBef>
            </a:pPr>
            <a:r>
              <a:rPr sz="1000">
                <a:solidFill>
                  <a:srgbClr val="777777"/>
                </a:solidFill>
              </a:rPr>
              <a:t>Real-world impact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000000"/>
                </a:solidFill>
              </a:rPr>
              <a:t>Reading Assessment: 6 Questions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4846320" cy="914400"/>
          </a:xfrm>
          <a:prstGeom prst="round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>
                <a:solidFill>
                  <a:srgbClr val="7C3A9E"/>
                </a:solidFill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55448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800">
                <a:solidFill>
                  <a:srgbClr val="000000"/>
                </a:solidFill>
              </a:rPr>
              <a:t>Significance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99339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666666"/>
                </a:solidFill>
              </a:rPr>
              <a:t>研究意义是什么？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560320"/>
            <a:ext cx="4846320" cy="914400"/>
          </a:xfrm>
          <a:prstGeom prst="round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>
                <a:solidFill>
                  <a:srgbClr val="502379"/>
                </a:solidFill>
              </a:rPr>
              <a:t>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6517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800">
                <a:solidFill>
                  <a:srgbClr val="000000"/>
                </a:solidFill>
              </a:rPr>
              <a:t>Main Aim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309067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666666"/>
                </a:solidFill>
              </a:rPr>
              <a:t>研究目的是什么？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657600"/>
            <a:ext cx="4846320" cy="914400"/>
          </a:xfrm>
          <a:prstGeom prst="round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74904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>
                <a:solidFill>
                  <a:srgbClr val="7C3A9E"/>
                </a:solidFill>
              </a:rPr>
              <a:t>Q3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4904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800">
                <a:solidFill>
                  <a:srgbClr val="000000"/>
                </a:solidFill>
              </a:rPr>
              <a:t>Method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1879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666666"/>
                </a:solidFill>
              </a:rPr>
              <a:t>研究怎么做的？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754880"/>
            <a:ext cx="4846320" cy="914400"/>
          </a:xfrm>
          <a:prstGeom prst="round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84632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>
                <a:solidFill>
                  <a:srgbClr val="502379"/>
                </a:solidFill>
              </a:rPr>
              <a:t>Q4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84632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800">
                <a:solidFill>
                  <a:srgbClr val="000000"/>
                </a:solidFill>
              </a:rPr>
              <a:t>Findings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528523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666666"/>
                </a:solidFill>
              </a:rPr>
              <a:t>发现了什么？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463040"/>
            <a:ext cx="4846320" cy="1383533"/>
          </a:xfrm>
          <a:prstGeom prst="round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64592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>
                <a:solidFill>
                  <a:srgbClr val="E86A17"/>
                </a:solidFill>
              </a:rPr>
              <a:t>Q5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164592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800">
                <a:solidFill>
                  <a:srgbClr val="000000"/>
                </a:solidFill>
              </a:rPr>
              <a:t>Vocabulary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08483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666666"/>
                </a:solidFill>
              </a:rPr>
              <a:t>定义 → 文中找对应词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24231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200">
                <a:solidFill>
                  <a:srgbClr val="666666"/>
                </a:solidFill>
              </a:rPr>
              <a:t>得分点：用自己的话改写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3108960"/>
            <a:ext cx="4846320" cy="1383533"/>
          </a:xfrm>
          <a:prstGeom prst="roundRect">
            <a:avLst/>
          </a:prstGeom>
          <a:solidFill>
            <a:srgbClr val="F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29184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>
                <a:solidFill>
                  <a:srgbClr val="2E864B"/>
                </a:solidFill>
              </a:rPr>
              <a:t>Q6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329184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800">
                <a:solidFill>
                  <a:srgbClr val="000000"/>
                </a:solidFill>
              </a:rPr>
              <a:t>Reference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73075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666666"/>
                </a:solidFill>
              </a:rPr>
              <a:t>"it" / "this" 指什么？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0" y="1645920"/>
            <a:ext cx="45720" cy="4114800"/>
          </a:xfrm>
          <a:prstGeom prst="rect">
            <a:avLst/>
          </a:prstGeom>
          <a:solidFill>
            <a:srgbClr val="7C3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931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FF0000"/>
                </a:solidFill>
              </a:rPr>
              <a:t>⚠ All answers must be PARAPHRASED — no copying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666666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000000"/>
                </a:solidFill>
              </a:rPr>
              <a:t>Sentence Functions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41120" y="1828800"/>
            <a:ext cx="1828800" cy="731520"/>
          </a:xfrm>
          <a:prstGeom prst="roundRect">
            <a:avLst/>
          </a:prstGeom>
          <a:solidFill>
            <a:srgbClr val="7C3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32560" y="27432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200">
                <a:solidFill>
                  <a:srgbClr val="666666"/>
                </a:solidFill>
              </a:rPr>
              <a:t>Background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69920" y="2194560"/>
            <a:ext cx="91440" cy="0"/>
          </a:xfrm>
          <a:prstGeom prst="line">
            <a:avLst/>
          </a:prstGeom>
          <a:ln w="27432">
            <a:solidFill>
              <a:srgbClr val="7C3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61360" y="1828800"/>
            <a:ext cx="1828800" cy="731520"/>
          </a:xfrm>
          <a:prstGeom prst="round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2800" y="27432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200">
                <a:solidFill>
                  <a:srgbClr val="666666"/>
                </a:solidFill>
              </a:rPr>
              <a:t>What they</a:t>
            </a:r>
            <a:br/>
            <a:r>
              <a:rPr b="1">
                <a:solidFill>
                  <a:srgbClr val="666666"/>
                </a:solidFill>
              </a:rPr>
              <a:t>did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90160" y="2194560"/>
            <a:ext cx="91440" cy="0"/>
          </a:xfrm>
          <a:prstGeom prst="line">
            <a:avLst/>
          </a:prstGeom>
          <a:ln w="27432">
            <a:solidFill>
              <a:srgbClr val="7C3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81600" y="1828800"/>
            <a:ext cx="1828800" cy="731520"/>
          </a:xfrm>
          <a:prstGeom prst="round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3040" y="27432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200">
                <a:solidFill>
                  <a:srgbClr val="666666"/>
                </a:solidFill>
              </a:rPr>
              <a:t>How they</a:t>
            </a:r>
            <a:br/>
            <a:r>
              <a:rPr b="1">
                <a:solidFill>
                  <a:srgbClr val="666666"/>
                </a:solidFill>
              </a:rPr>
              <a:t>did it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10400" y="2194560"/>
            <a:ext cx="91440" cy="0"/>
          </a:xfrm>
          <a:prstGeom prst="line">
            <a:avLst/>
          </a:prstGeom>
          <a:ln w="27432">
            <a:solidFill>
              <a:srgbClr val="7C3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101840" y="1828800"/>
            <a:ext cx="1828800" cy="731520"/>
          </a:xfrm>
          <a:prstGeom prst="roundRect">
            <a:avLst/>
          </a:prstGeom>
          <a:solidFill>
            <a:srgbClr val="2E8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Findings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93280" y="27432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200">
                <a:solidFill>
                  <a:srgbClr val="666666"/>
                </a:solidFill>
              </a:rPr>
              <a:t>What they</a:t>
            </a:r>
            <a:br/>
            <a:r>
              <a:rPr b="1">
                <a:solidFill>
                  <a:srgbClr val="666666"/>
                </a:solidFill>
              </a:rPr>
              <a:t>found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930640" y="2194560"/>
            <a:ext cx="91440" cy="0"/>
          </a:xfrm>
          <a:prstGeom prst="line">
            <a:avLst/>
          </a:prstGeom>
          <a:ln w="27432">
            <a:solidFill>
              <a:srgbClr val="7C3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022080" y="1828800"/>
            <a:ext cx="1828800" cy="731520"/>
          </a:xfrm>
          <a:prstGeom prst="roundRect">
            <a:avLst/>
          </a:prstGeom>
          <a:solidFill>
            <a:srgbClr val="7C3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Implication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13520" y="27432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200">
                <a:solidFill>
                  <a:srgbClr val="666666"/>
                </a:solidFill>
              </a:rPr>
              <a:t>Why it</a:t>
            </a:r>
            <a:br/>
            <a:r>
              <a:rPr b="1">
                <a:solidFill>
                  <a:srgbClr val="666666"/>
                </a:solidFill>
              </a:rPr>
              <a:t>matters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01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600">
                <a:solidFill>
                  <a:srgbClr val="000000"/>
                </a:solidFill>
              </a:rPr>
              <a:t>Each sentence = one function  →  decode systematically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666666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>
                <a:solidFill>
                  <a:srgbClr val="000000"/>
                </a:solidFill>
              </a:rPr>
              <a:t>Be Assessment-Ready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137160" cy="914400"/>
          </a:xfrm>
          <a:prstGeom prst="rect">
            <a:avLst/>
          </a:prstGeom>
          <a:solidFill>
            <a:srgbClr val="7C3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76320" y="146304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200">
                <a:solidFill>
                  <a:srgbClr val="000000"/>
                </a:solidFill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4630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800">
                <a:solidFill>
                  <a:srgbClr val="000000"/>
                </a:solidFill>
              </a:rPr>
              <a:t>Know abstract 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90195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666666"/>
                </a:solidFill>
              </a:rPr>
              <a:t>7 elements + functions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468880"/>
            <a:ext cx="137160" cy="9144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76320" y="256032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200">
                <a:solidFill>
                  <a:srgbClr val="000000"/>
                </a:solidFill>
              </a:rPr>
              <a:t>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560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800">
                <a:solidFill>
                  <a:srgbClr val="000000"/>
                </a:solidFill>
              </a:rPr>
              <a:t>Practice identifying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9992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666666"/>
                </a:solidFill>
              </a:rPr>
              <a:t>Sentence-level function labels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566160"/>
            <a:ext cx="137160" cy="914400"/>
          </a:xfrm>
          <a:prstGeom prst="rect">
            <a:avLst/>
          </a:prstGeom>
          <a:solidFill>
            <a:srgbClr val="502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76320" y="365760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200">
                <a:solidFill>
                  <a:srgbClr val="000000"/>
                </a:solidFill>
              </a:rPr>
              <a:t>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6576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800">
                <a:solidFill>
                  <a:srgbClr val="000000"/>
                </a:solidFill>
              </a:rPr>
              <a:t>Build vocabulary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40965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666666"/>
                </a:solidFill>
              </a:rPr>
              <a:t>Reporting verbs + connectors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663440"/>
            <a:ext cx="137160" cy="914400"/>
          </a:xfrm>
          <a:prstGeom prst="rect">
            <a:avLst/>
          </a:prstGeom>
          <a:solidFill>
            <a:srgbClr val="2E8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76320" y="475488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200">
                <a:solidFill>
                  <a:srgbClr val="000000"/>
                </a:solidFill>
              </a:rPr>
              <a:t>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754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800">
                <a:solidFill>
                  <a:srgbClr val="000000"/>
                </a:solidFill>
              </a:rPr>
              <a:t>Complete all materials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519379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400">
                <a:solidFill>
                  <a:srgbClr val="666666"/>
                </a:solidFill>
              </a:rPr>
              <a:t>Videos 1 &amp; 2 + activities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>
                <a:solidFill>
                  <a:srgbClr val="666666"/>
                </a:solidFill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