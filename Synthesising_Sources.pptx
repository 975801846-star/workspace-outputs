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1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Pre-sessional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Synthesising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Hongxian 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2743200" cy="36576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Intended 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Define synthesis &amp; distinguish it from summary</a:t>
            </a:r>
          </a:p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Identify 5 dimensions of critical synthesis</a:t>
            </a:r>
          </a:p>
          <a:p>
            <a:pPr algn="l">
              <a:defRPr sz="1400" b="1">
                <a:solidFill>
                  <a:srgbClr val="666666"/>
                </a:solidFill>
                <a:latin typeface="Calibri"/>
              </a:defRPr>
            </a:pPr>
            <a:r>
              <a:t>   connections · similarities · differences · commentary · evaluation</a:t>
            </a:r>
          </a:p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Recognise the 3-colour synthesis structure</a:t>
            </a:r>
          </a:p>
          <a:p>
            <a:pPr algn="l">
              <a:defRPr sz="1400" b="1">
                <a:solidFill>
                  <a:srgbClr val="666666"/>
                </a:solidFill>
                <a:latin typeface="Calibri"/>
              </a:defRPr>
            </a:pPr>
            <a:r>
              <a:t>   topic statement (yellow) → citations (blue) → writer's voice (green)</a:t>
            </a:r>
          </a:p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Apply synthesis in your own paragraph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26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Synthesis ≠ summary — it is weaving sources + your own argument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Use of Sources: The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029200" cy="109728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124E"/>
                </a:solidFill>
                <a:latin typeface="Calibri"/>
              </a:defRPr>
            </a:pPr>
            <a:r>
              <a:t>STEP 1  —  Basic Academic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Include a reference and citation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97480"/>
            <a:ext cx="5029200" cy="137160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124E"/>
                </a:solidFill>
                <a:latin typeface="Calibri"/>
              </a:defRPr>
            </a:pPr>
            <a:r>
              <a:t>STEP 2  —  Using Sources in Your Own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Paraphrase (restate in your own words)</a:t>
            </a:r>
          </a:p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Quote (use quotation marks, exact words)</a:t>
            </a:r>
          </a:p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Summarise (condense the main points)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97680"/>
            <a:ext cx="5029200" cy="12801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00"/>
                </a:solidFill>
                <a:latin typeface="Calibri"/>
              </a:defRPr>
            </a:pPr>
            <a:r>
              <a:t>STEP 3  —  Critical Synthesis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Make connections between sources</a:t>
            </a:r>
          </a:p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●  Add your own commentary &amp; evaluation</a:t>
            </a:r>
          </a:p>
          <a:p>
            <a:pPr algn="l">
              <a:defRPr sz="1400" b="1">
                <a:solidFill>
                  <a:srgbClr val="666666"/>
                </a:solidFill>
                <a:latin typeface="Calibri"/>
              </a:defRPr>
            </a:pPr>
            <a:r>
              <a:t>→  This is the goal of academic writing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124E"/>
                </a:solidFill>
                <a:latin typeface="Calibri"/>
              </a:defRPr>
            </a:pPr>
            <a:r>
              <a:t>"Is referencing + paraphrasing enough?"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❌  NO.</a:t>
            </a:r>
            <a:br/>
            <a:br/>
            <a:r>
              <a:t>Academic writing requires you to</a:t>
            </a:r>
            <a:br/>
            <a:r>
              <a:t>weave multiple sources together</a:t>
            </a:r>
            <a:br/>
            <a:r>
              <a:t>and contribute your own voice.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126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Reference + paraphrase is the foundation; synthesis is the building.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Critical Synthesis: 5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2011680" cy="25603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Link sources</a:t>
            </a:r>
            <a:br/>
            <a:r>
              <a:t>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371600"/>
            <a:ext cx="2011680" cy="25603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560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similarities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Identify common</a:t>
            </a:r>
            <a:br/>
            <a:r>
              <a:t>findings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371600"/>
            <a:ext cx="2011680" cy="25603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560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differences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Contrast opposing</a:t>
            </a:r>
            <a:br/>
            <a:r>
              <a:t>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371600"/>
            <a:ext cx="2011680" cy="25603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560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commentary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Add your own</a:t>
            </a:r>
            <a:br/>
            <a:r>
              <a:t>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371600"/>
            <a:ext cx="2011680" cy="25603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560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Judge quality &amp;</a:t>
            </a:r>
            <a:br/>
            <a:r>
              <a:t>relevance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0124E"/>
                </a:solidFill>
                <a:latin typeface="Calibri"/>
              </a:defRPr>
            </a:pPr>
            <a:r>
              <a:t>● sources → ● sources → ● sources  +  🧠 YOUR VOICE  =  SYNTHESIS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126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Synthesis = combining sources + adding your critical perspective.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Synthesis Example: The 3-Colour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3383280" cy="411480"/>
          </a:xfrm>
          <a:prstGeom prst="rect">
            <a:avLst/>
          </a:prstGeom>
          <a:solidFill>
            <a:srgbClr val="FFF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69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🟡  Topic / Context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051560"/>
            <a:ext cx="3383280" cy="411480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069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🔵  Citations from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051560"/>
            <a:ext cx="3383280" cy="41148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069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alibri"/>
              </a:defRPr>
            </a:pPr>
            <a:r>
              <a:t>🟢  Writer's own synthesised argument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691640"/>
            <a:ext cx="10789920" cy="594360"/>
          </a:xfrm>
          <a:prstGeom prst="rect">
            <a:avLst/>
          </a:prstGeom>
          <a:solidFill>
            <a:srgbClr val="FFF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190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Tattooed job applicants and employees might face discrimination in the workplace, and a body of literature has emerged demonstrating this much.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77440"/>
            <a:ext cx="10789920" cy="1508760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04872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Bekhor et al. (1995) found that managers were averse to employing visibly tattooed people in hospitality, beauty, retail and services. Swanger (2006) reports that 80%+ of HR managers expressed negative feelings toward tattoos on employees. Miller et al. (2009) found employees prefer not to work with tattooed co-workers when rewards are shared.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977639"/>
            <a:ext cx="10789920" cy="59436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050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In short, the cumulative evidence clearly suggests that HR managers and recruiters have held widely antagonistic views toward body 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Source: French et al. (2018) 'Are tattoos associated with employment and wage discrimination?', Human Relations, 72(5), pp. 962–987.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126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Notice: topic → evidence → argument. Your voice leads the conclusion.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Synthesis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10789920" cy="41148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124E"/>
                </a:solidFill>
                <a:latin typeface="Calibri"/>
              </a:defRPr>
            </a:pPr>
            <a:r>
              <a:t>📝  Hands-on Practice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defRPr sz="1600" b="1">
                <a:solidFill>
                  <a:srgbClr val="888888"/>
                </a:solidFill>
                <a:latin typeface="Calibri"/>
              </a:defRPr>
            </a:pPr>
            <a:r>
              <a:t>Topic for practice:</a:t>
            </a:r>
          </a:p>
          <a:p>
            <a:pPr algn="l">
              <a:defRPr sz="2200" b="1">
                <a:solidFill>
                  <a:srgbClr val="30124E"/>
                </a:solidFill>
                <a:latin typeface="Calibri"/>
              </a:defRPr>
            </a:pPr>
            <a:r>
              <a:t>"The negative impacts of a high-fat diet"</a:t>
            </a:r>
          </a:p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In this exercise you will:</a:t>
            </a:r>
          </a:p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Read source texts on the topic</a:t>
            </a:r>
          </a:p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Take structured notes</a:t>
            </a:r>
          </a:p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Write ONE synthesised paragraph</a:t>
            </a:r>
          </a:p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●  Compare with peers on Class Forum</a:t>
            </a:r>
          </a:p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defRPr sz="2000" b="1">
                <a:solidFill>
                  <a:srgbClr val="FF0000"/>
                </a:solidFill>
                <a:latin typeface="Calibri"/>
              </a:defRPr>
            </a:pPr>
            <a:r>
              <a:t>⚠️  建议大家在 Additional materials 里寻找完整的练习材料</a:t>
            </a:r>
          </a:p>
          <a:p>
            <a:pPr algn="l">
              <a:defRPr sz="1400" b="1">
                <a:solidFill>
                  <a:srgbClr val="888888"/>
                </a:solidFill>
                <a:latin typeface="Calibri"/>
              </a:defRPr>
            </a:pPr>
            <a:r>
              <a:t>    包括 source texts · model notes · sample paragraph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Practice is key — complete the full exercise in Additional Materials.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5303520" cy="201168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0124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71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124E"/>
                </a:solidFill>
                <a:latin typeface="Calibri"/>
              </a:defRPr>
            </a:pPr>
            <a:r>
              <a:t>Synthesis ≠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  <a:latin typeface="Calibri"/>
              </a:defRPr>
            </a:pPr>
            <a:r>
              <a:t>Synthesis connects sources</a:t>
            </a:r>
            <a:br/>
            <a:r>
              <a:t>and adds your critical voice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303520" cy="201168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0124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371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124E"/>
                </a:solidFill>
                <a:latin typeface="Calibri"/>
              </a:defRPr>
            </a:pPr>
            <a:r>
              <a:t>5 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01168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  <a:latin typeface="Calibri"/>
              </a:defRPr>
            </a:pPr>
            <a:r>
              <a:t>connections · similarities · differences</a:t>
            </a:r>
            <a:br/>
            <a:r>
              <a:t>commentary · evaluation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29000"/>
            <a:ext cx="5303520" cy="201168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0124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11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124E"/>
                </a:solidFill>
                <a:latin typeface="Calibri"/>
              </a:defRPr>
            </a:pPr>
            <a:r>
              <a:t>3-Colour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5196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  <a:latin typeface="Calibri"/>
              </a:defRPr>
            </a:pPr>
            <a:r>
              <a:t>yellow (topic) → blue (citations)</a:t>
            </a:r>
            <a:br/>
            <a:r>
              <a:t>→ green (your argument)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429000"/>
            <a:ext cx="5303520" cy="201168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520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0124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11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124E"/>
                </a:solidFill>
                <a:latin typeface="Calibri"/>
              </a:defRPr>
            </a:pPr>
            <a:r>
              <a:t>Practice &amp; Apply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25196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  <a:latin typeface="Calibri"/>
              </a:defRPr>
            </a:pPr>
            <a:r>
              <a:t>Writing Assessment requires</a:t>
            </a:r>
            <a:br/>
            <a:r>
              <a:t>synthesising 5 sources → 2 paragraphs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126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Start synthesising now — it is the core skill for your Writing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