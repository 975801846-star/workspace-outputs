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F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D4A017"/>
                </a:solidFill>
              </a:defRPr>
            </a:pPr>
            <a:r>
              <a:t>屯军营村 · 王健支书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FFFFFF"/>
                </a:solidFill>
              </a:defRPr>
            </a:pPr>
            <a:r>
              <a:t>短视频账号策划方案 v2.0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9184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AAAACC"/>
                </a:solidFill>
              </a:defRPr>
            </a:pPr>
            <a:r>
              <a:t>以足球为魂 · 以冠军为名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30352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66666"/>
                </a:solidFill>
              </a:defRPr>
            </a:pPr>
            <a:r>
              <a:t>2026年6月  |  24条脚本 · 8周执行计划 · 4阶变现路径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D5016"/>
                </a:solidFill>
              </a:defRPr>
            </a:pPr>
            <a:r>
              <a:t>01  为什么改版？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371600"/>
            <a:ext cx="5303520" cy="457200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tIns="177800"/>
          <a:lstStyle/>
          <a:p>
            <a:pPr algn="ctr">
              <a:defRPr sz="2000" b="1">
                <a:solidFill>
                  <a:srgbClr val="CC3333"/>
                </a:solidFill>
              </a:defRPr>
            </a:pPr>
            <a:r>
              <a:t>v1.0 的问题</a:t>
            </a:r>
          </a:p>
          <a:p>
            <a:pPr>
              <a:spcBef>
                <a:spcPts val="1000"/>
              </a:spcBef>
              <a:defRPr sz="1300">
                <a:solidFill>
                  <a:srgbClr val="333333"/>
                </a:solidFill>
              </a:defRPr>
            </a:pPr>
            <a:r>
              <a:t>• 内容太散——13条脚本覆盖6个方向，用户记不住</a:t>
            </a:r>
          </a:p>
          <a:p>
            <a:pPr>
              <a:spcBef>
                <a:spcPts val="1000"/>
              </a:spcBef>
              <a:defRPr sz="1300">
                <a:solidFill>
                  <a:srgbClr val="333333"/>
                </a:solidFill>
              </a:defRPr>
            </a:pPr>
            <a:r>
              <a:t>• 没有差异化——跟其他村支书号雷同</a:t>
            </a:r>
          </a:p>
          <a:p>
            <a:pPr>
              <a:spcBef>
                <a:spcPts val="1000"/>
              </a:spcBef>
              <a:defRPr sz="1300">
                <a:solidFill>
                  <a:srgbClr val="333333"/>
                </a:solidFill>
              </a:defRPr>
            </a:pPr>
            <a:r>
              <a:t>• 未发挥核心优势——足球和冠军</a:t>
            </a:r>
          </a:p>
          <a:p>
            <a:pPr>
              <a:spcBef>
                <a:spcPts val="1000"/>
              </a:spcBef>
              <a:defRPr sz="1300">
                <a:solidFill>
                  <a:srgbClr val="333333"/>
                </a:solidFill>
              </a:defRPr>
            </a:pPr>
            <a:r>
              <a:t>• 变现路径模糊，没跟内容绑定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1371600"/>
            <a:ext cx="5303520" cy="4572000"/>
          </a:xfrm>
          <a:prstGeom prst="roundRect">
            <a:avLst/>
          </a:prstGeom>
          <a:solidFill>
            <a:srgbClr val="E8F5E0"/>
          </a:solidFill>
          <a:ln w="25400">
            <a:solidFill>
              <a:srgbClr val="2D50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tIns="177800"/>
          <a:lstStyle/>
          <a:p>
            <a:pPr algn="ctr">
              <a:defRPr sz="2000" b="1">
                <a:solidFill>
                  <a:srgbClr val="2D5016"/>
                </a:solidFill>
              </a:defRPr>
            </a:pPr>
            <a:r>
              <a:t>v2.0 的解法</a:t>
            </a:r>
          </a:p>
          <a:p>
            <a:pPr>
              <a:spcBef>
                <a:spcPts val="1000"/>
              </a:spcBef>
              <a:defRPr sz="1300">
                <a:solidFill>
                  <a:srgbClr val="333333"/>
                </a:solidFill>
              </a:defRPr>
            </a:pPr>
            <a:r>
              <a:t>• 聚焦足球——24条脚本全部围绕足球展开</a:t>
            </a:r>
          </a:p>
          <a:p>
            <a:pPr>
              <a:spcBef>
                <a:spcPts val="1000"/>
              </a:spcBef>
              <a:defRPr sz="1300">
                <a:solidFill>
                  <a:srgbClr val="333333"/>
                </a:solidFill>
              </a:defRPr>
            </a:pPr>
            <a:r>
              <a:t>• 建立壁垒——冠军村IP，其他村无法复制</a:t>
            </a:r>
          </a:p>
          <a:p>
            <a:pPr>
              <a:spcBef>
                <a:spcPts val="1000"/>
              </a:spcBef>
              <a:defRPr sz="1300">
                <a:solidFill>
                  <a:srgbClr val="333333"/>
                </a:solidFill>
              </a:defRPr>
            </a:pPr>
            <a:r>
              <a:t>• 三条清晰栏目线，发布节奏固定</a:t>
            </a:r>
          </a:p>
          <a:p>
            <a:pPr>
              <a:spcBef>
                <a:spcPts val="1000"/>
              </a:spcBef>
              <a:defRPr sz="1300">
                <a:solidFill>
                  <a:srgbClr val="333333"/>
                </a:solidFill>
              </a:defRPr>
            </a:pPr>
            <a:r>
              <a:t>• 变现前置——阶梯式规划，逐级变现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6126480"/>
            <a:ext cx="11247120" cy="457200"/>
          </a:xfrm>
          <a:prstGeom prst="round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101600"/>
          <a:lstStyle/>
          <a:p>
            <a:pPr algn="ctr">
              <a:defRPr sz="1200" b="1">
                <a:solidFill>
                  <a:srgbClr val="D4A017"/>
                </a:solidFill>
              </a:defRPr>
            </a:pPr>
            <a:r>
              <a:t>核心转变：从「村支书的日常」→「一支球队在振兴一个村」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D5016"/>
                </a:solidFill>
              </a:defRPr>
            </a:pPr>
            <a:r>
              <a:t>01  框架变化一览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188720"/>
          <a:ext cx="1124712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572000"/>
                <a:gridCol w="4663440"/>
              </a:tblGrid>
              <a:tr h="62865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维度</a:t>
                      </a:r>
                    </a:p>
                  </a:txBody>
                  <a:tcPr>
                    <a:solidFill>
                      <a:srgbClr val="2D501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v1.0</a:t>
                      </a:r>
                    </a:p>
                  </a:txBody>
                  <a:tcPr>
                    <a:solidFill>
                      <a:srgbClr val="2D501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v2.0</a:t>
                      </a:r>
                    </a:p>
                  </a:txBody>
                  <a:tcPr>
                    <a:solidFill>
                      <a:srgbClr val="2D5016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核心人设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能干实事的村支书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热爱足球的冠军村书记</a:t>
                      </a:r>
                    </a:p>
                  </a:txBody>
                  <a:tcPr/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内容主线</a:t>
                      </a:r>
                    </a:p>
                  </a:txBody>
                  <a:tcPr>
                    <a:solidFill>
                      <a:srgbClr val="F9F7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日常+政策+文化</a:t>
                      </a:r>
                    </a:p>
                  </a:txBody>
                  <a:tcPr>
                    <a:solidFill>
                      <a:srgbClr val="F9F7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足球精神 + 兵味文化 + 体育政策</a:t>
                      </a:r>
                    </a:p>
                  </a:txBody>
                  <a:tcPr>
                    <a:solidFill>
                      <a:srgbClr val="F9F7F2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差异化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军屯历史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冠军村体育IP</a:t>
                      </a:r>
                    </a:p>
                  </a:txBody>
                  <a:tcPr/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脚本数量</a:t>
                      </a:r>
                    </a:p>
                  </a:txBody>
                  <a:tcPr>
                    <a:solidFill>
                      <a:srgbClr val="F9F7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13条（无周期规划）</a:t>
                      </a:r>
                    </a:p>
                  </a:txBody>
                  <a:tcPr>
                    <a:solidFill>
                      <a:srgbClr val="F9F7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24条（8周×3条/周）</a:t>
                      </a:r>
                    </a:p>
                  </a:txBody>
                  <a:tcPr>
                    <a:solidFill>
                      <a:srgbClr val="F9F7F2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栏目化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3栏目，时长分散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3栏目，每周固定节奏</a:t>
                      </a:r>
                    </a:p>
                  </a:txBody>
                  <a:tcPr/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变现路径</a:t>
                      </a:r>
                    </a:p>
                  </a:txBody>
                  <a:tcPr>
                    <a:solidFill>
                      <a:srgbClr val="F9F7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农产品带货</a:t>
                      </a:r>
                    </a:p>
                  </a:txBody>
                  <a:tcPr>
                    <a:solidFill>
                      <a:srgbClr val="F9F7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夏令营→赛事→研学→文旅</a:t>
                      </a:r>
                    </a:p>
                  </a:txBody>
                  <a:tcPr>
                    <a:solidFill>
                      <a:srgbClr val="F9F7F2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对标策略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无对标分析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4个对标号深度分析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D5016"/>
                </a:solidFill>
              </a:defRPr>
            </a:pPr>
            <a:r>
              <a:t>01  三条新栏目线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74320" y="1188720"/>
            <a:ext cx="3657600" cy="5029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77800"/>
          <a:lstStyle/>
          <a:p>
            <a:pPr algn="ctr">
              <a:spcAft>
                <a:spcPts val="800"/>
              </a:spcAft>
              <a:defRPr sz="1400" b="1">
                <a:solidFill>
                  <a:srgbClr val="2D5016"/>
                </a:solidFill>
              </a:defRPr>
            </a:pPr>
            <a:r>
              <a:t>冠军村的足球精神线 · 主力栏目</a:t>
            </a:r>
          </a:p>
          <a:p>
            <a:pPr>
              <a:spcAft>
                <a:spcPts val="200"/>
              </a:spcAft>
              <a:defRPr sz="1100">
                <a:solidFill>
                  <a:srgbClr val="666666"/>
                </a:solidFill>
              </a:defRPr>
            </a:pPr>
            <a:r>
              <a:t>发布：每周二、四</a:t>
            </a:r>
          </a:p>
          <a:p>
            <a:pPr>
              <a:spcAft>
                <a:spcPts val="200"/>
              </a:spcAft>
              <a:defRPr sz="1100">
                <a:solidFill>
                  <a:srgbClr val="666666"/>
                </a:solidFill>
              </a:defRPr>
            </a:pPr>
            <a:r>
              <a:t>训练日常 · 比赛纪实 · 球队故事 · 人物群像</a:t>
            </a:r>
          </a:p>
          <a:p>
            <a:pPr>
              <a:spcAft>
                <a:spcPts val="200"/>
              </a:spcAft>
              <a:defRPr sz="1100">
                <a:solidFill>
                  <a:srgbClr val="666666"/>
                </a:solidFill>
              </a:defRPr>
            </a:pPr>
          </a:p>
          <a:p>
            <a:pPr>
              <a:spcAft>
                <a:spcPts val="200"/>
              </a:spcAft>
              <a:defRPr sz="1100">
                <a:solidFill>
                  <a:srgbClr val="666666"/>
                </a:solidFill>
              </a:defRPr>
            </a:pPr>
            <a:r>
              <a:t>目的：建立「冠军村」IP认知，积累情感粉丝</a:t>
            </a:r>
          </a:p>
          <a:p>
            <a:pPr>
              <a:spcAft>
                <a:spcPts val="200"/>
              </a:spcAft>
              <a:defRPr sz="1100">
                <a:solidFill>
                  <a:srgbClr val="666666"/>
                </a:solidFill>
              </a:defRPr>
            </a:pPr>
            <a:r>
              <a:t>一句话：「屯军营，踢出来的冠军村」</a:t>
            </a:r>
          </a:p>
          <a:p>
            <a:pPr>
              <a:spcAft>
                <a:spcPts val="200"/>
              </a:spcAft>
              <a:defRPr sz="1100">
                <a:solidFill>
                  <a:srgbClr val="666666"/>
                </a:solidFill>
              </a:defRPr>
            </a:pPr>
            <a:r>
              <a:t>视觉锤：王健一脚射门，球网抖动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188720"/>
            <a:ext cx="3657600" cy="4572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206240" y="1188720"/>
            <a:ext cx="3657600" cy="5029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77800"/>
          <a:lstStyle/>
          <a:p>
            <a:pPr algn="ctr">
              <a:spcAft>
                <a:spcPts val="800"/>
              </a:spcAft>
              <a:defRPr sz="1400" b="1">
                <a:solidFill>
                  <a:srgbClr val="2D5016"/>
                </a:solidFill>
              </a:defRPr>
            </a:pPr>
            <a:r>
              <a:t>屯军营兵味文化线</a:t>
            </a:r>
          </a:p>
          <a:p>
            <a:pPr>
              <a:spcAft>
                <a:spcPts val="200"/>
              </a:spcAft>
              <a:defRPr sz="1100">
                <a:solidFill>
                  <a:srgbClr val="666666"/>
                </a:solidFill>
              </a:defRPr>
            </a:pPr>
            <a:r>
              <a:t>发布：每周四、六</a:t>
            </a:r>
          </a:p>
          <a:p>
            <a:pPr>
              <a:spcAft>
                <a:spcPts val="200"/>
              </a:spcAft>
              <a:defRPr sz="1100">
                <a:solidFill>
                  <a:srgbClr val="666666"/>
                </a:solidFill>
              </a:defRPr>
            </a:pPr>
            <a:r>
              <a:t>军屯历史 · 老兵故事 · 古今对话 · 乡村规矩</a:t>
            </a:r>
          </a:p>
          <a:p>
            <a:pPr>
              <a:spcAft>
                <a:spcPts val="200"/>
              </a:spcAft>
              <a:defRPr sz="1100">
                <a:solidFill>
                  <a:srgbClr val="666666"/>
                </a:solidFill>
              </a:defRPr>
            </a:pPr>
          </a:p>
          <a:p>
            <a:pPr>
              <a:spcAft>
                <a:spcPts val="200"/>
              </a:spcAft>
              <a:defRPr sz="1100">
                <a:solidFill>
                  <a:srgbClr val="666666"/>
                </a:solidFill>
              </a:defRPr>
            </a:pPr>
            <a:r>
              <a:t>目的：赋予足球文化厚度，强化壁垒</a:t>
            </a:r>
          </a:p>
          <a:p>
            <a:pPr>
              <a:spcAft>
                <a:spcPts val="200"/>
              </a:spcAft>
              <a:defRPr sz="1100">
                <a:solidFill>
                  <a:srgbClr val="666666"/>
                </a:solidFill>
              </a:defRPr>
            </a:pPr>
            <a:r>
              <a:t>一句话：「500年前练兵场，今天冠军村」</a:t>
            </a:r>
          </a:p>
          <a:p>
            <a:pPr>
              <a:spcAft>
                <a:spcPts val="200"/>
              </a:spcAft>
              <a:defRPr sz="1100">
                <a:solidFill>
                  <a:srgbClr val="666666"/>
                </a:solidFill>
              </a:defRPr>
            </a:pPr>
            <a:r>
              <a:t>视觉锤：长城+球场同框</a:t>
            </a:r>
          </a:p>
        </p:txBody>
      </p:sp>
      <p:sp>
        <p:nvSpPr>
          <p:cNvPr id="6" name="Rectangle 5"/>
          <p:cNvSpPr/>
          <p:nvPr/>
        </p:nvSpPr>
        <p:spPr>
          <a:xfrm>
            <a:off x="4206240" y="1188720"/>
            <a:ext cx="3657600" cy="4572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1188720"/>
            <a:ext cx="3657600" cy="5029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77800"/>
          <a:lstStyle/>
          <a:p>
            <a:pPr algn="ctr">
              <a:spcAft>
                <a:spcPts val="800"/>
              </a:spcAft>
              <a:defRPr sz="1400" b="1">
                <a:solidFill>
                  <a:srgbClr val="2D5016"/>
                </a:solidFill>
              </a:defRPr>
            </a:pPr>
            <a:r>
              <a:t>体育政策白话解读</a:t>
            </a:r>
          </a:p>
          <a:p>
            <a:pPr>
              <a:spcAft>
                <a:spcPts val="200"/>
              </a:spcAft>
              <a:defRPr sz="1100">
                <a:solidFill>
                  <a:srgbClr val="666666"/>
                </a:solidFill>
              </a:defRPr>
            </a:pPr>
            <a:r>
              <a:t>发布：每周六、一</a:t>
            </a:r>
          </a:p>
          <a:p>
            <a:pPr>
              <a:spcAft>
                <a:spcPts val="200"/>
              </a:spcAft>
              <a:defRPr sz="1100">
                <a:solidFill>
                  <a:srgbClr val="666666"/>
                </a:solidFill>
              </a:defRPr>
            </a:pPr>
            <a:r>
              <a:t>运动健康 · 升学政策 · 场地申请 · 赛事安全</a:t>
            </a:r>
          </a:p>
          <a:p>
            <a:pPr>
              <a:spcAft>
                <a:spcPts val="200"/>
              </a:spcAft>
              <a:defRPr sz="1100">
                <a:solidFill>
                  <a:srgbClr val="666666"/>
                </a:solidFill>
              </a:defRPr>
            </a:pPr>
          </a:p>
          <a:p>
            <a:pPr>
              <a:spcAft>
                <a:spcPts val="200"/>
              </a:spcAft>
              <a:defRPr sz="1100">
                <a:solidFill>
                  <a:srgbClr val="666666"/>
                </a:solidFill>
              </a:defRPr>
            </a:pPr>
            <a:r>
              <a:t>目的：实用价值+涨粉，建立专业信任</a:t>
            </a:r>
          </a:p>
          <a:p>
            <a:pPr>
              <a:spcAft>
                <a:spcPts val="200"/>
              </a:spcAft>
              <a:defRPr sz="1100">
                <a:solidFill>
                  <a:srgbClr val="666666"/>
                </a:solidFill>
              </a:defRPr>
            </a:pPr>
            <a:r>
              <a:t>一句话：「政策看不懂？王支书说给你听」</a:t>
            </a:r>
          </a:p>
          <a:p>
            <a:pPr>
              <a:spcAft>
                <a:spcPts val="200"/>
              </a:spcAft>
              <a:defRPr sz="1100">
                <a:solidFill>
                  <a:srgbClr val="666666"/>
                </a:solidFill>
              </a:defRPr>
            </a:pPr>
            <a:r>
              <a:t>视觉锤：王健掰手指+字幕弹出</a:t>
            </a:r>
          </a:p>
        </p:txBody>
      </p:sp>
      <p:sp>
        <p:nvSpPr>
          <p:cNvPr id="8" name="Rectangle 7"/>
          <p:cNvSpPr/>
          <p:nvPr/>
        </p:nvSpPr>
        <p:spPr>
          <a:xfrm>
            <a:off x="8138160" y="1188720"/>
            <a:ext cx="3657600" cy="4572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5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0" b="1">
                <a:solidFill>
                  <a:srgbClr val="FFFFFF"/>
                </a:solidFill>
              </a:defRPr>
            </a:pPr>
            <a: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D4A017"/>
                </a:solidFill>
              </a:defRPr>
            </a:pPr>
            <a:r>
              <a:t>对标分析：四个村支书账号 × 盈利逻辑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D5016"/>
                </a:solidFill>
              </a:defRPr>
            </a:pPr>
            <a:r>
              <a:t>02  四个核心对标账号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188720"/>
          <a:ext cx="1161288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828800"/>
                <a:gridCol w="1828800"/>
                <a:gridCol w="2743200"/>
                <a:gridCol w="3017520"/>
              </a:tblGrid>
              <a:tr h="64008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账号</a:t>
                      </a:r>
                    </a:p>
                  </a:txBody>
                  <a:tcPr>
                    <a:solidFill>
                      <a:srgbClr val="2D501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类型</a:t>
                      </a:r>
                    </a:p>
                  </a:txBody>
                  <a:tcPr>
                    <a:solidFill>
                      <a:srgbClr val="2D501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数据</a:t>
                      </a:r>
                    </a:p>
                  </a:txBody>
                  <a:tcPr>
                    <a:solidFill>
                      <a:srgbClr val="2D501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核心盈利模式</a:t>
                      </a:r>
                    </a:p>
                  </a:txBody>
                  <a:tcPr>
                    <a:solidFill>
                      <a:srgbClr val="2D501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关键启示</a:t>
                      </a:r>
                    </a:p>
                  </a:txBody>
                  <a:tcPr>
                    <a:solidFill>
                      <a:srgbClr val="2D5016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烟消云（驻村书记）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个人故事+带货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791作品·6865万赞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农产品橱窗带货</a:t>
                      </a:r>
                      <a:br/>
                      <a:r>
                        <a:t>个人IP商务合作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军旅背景=信任</a:t>
                      </a:r>
                      <a:br/>
                      <a:r>
                        <a:t>日更高频=算法优势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点亮乡村-范文栋</a:t>
                      </a:r>
                    </a:p>
                  </a:txBody>
                  <a:tcPr>
                    <a:solidFill>
                      <a:srgbClr val="F9F7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基建+直播</a:t>
                      </a:r>
                    </a:p>
                  </a:txBody>
                  <a:tcPr>
                    <a:solidFill>
                      <a:srgbClr val="F9F7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72作品·244万赞</a:t>
                      </a:r>
                    </a:p>
                  </a:txBody>
                  <a:tcPr>
                    <a:solidFill>
                      <a:srgbClr val="F9F7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直播助农打赏</a:t>
                      </a:r>
                      <a:br/>
                      <a:r>
                        <a:t>政府项目合作</a:t>
                      </a:r>
                    </a:p>
                  </a:txBody>
                  <a:tcPr>
                    <a:solidFill>
                      <a:srgbClr val="F9F7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「安路灯」=IP符号</a:t>
                      </a:r>
                      <a:br/>
                      <a:r>
                        <a:t>极简定位=极强记忆</a:t>
                      </a:r>
                    </a:p>
                  </a:txBody>
                  <a:tcPr>
                    <a:solidFill>
                      <a:srgbClr val="F9F7F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小江支书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正能量+文化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34作品·77万赞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少而精人设沉淀</a:t>
                      </a:r>
                      <a:br/>
                      <a:r>
                        <a:t>长期信任变现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34条=高粘性</a:t>
                      </a:r>
                      <a:br/>
                      <a:r>
                        <a:t>质量 &gt; 数量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八甲村书记张爱军</a:t>
                      </a:r>
                    </a:p>
                  </a:txBody>
                  <a:tcPr>
                    <a:solidFill>
                      <a:srgbClr val="F9F7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特产锚点</a:t>
                      </a:r>
                    </a:p>
                  </a:txBody>
                  <a:tcPr>
                    <a:solidFill>
                      <a:srgbClr val="F9F7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105作品·678万赞</a:t>
                      </a:r>
                    </a:p>
                  </a:txBody>
                  <a:tcPr>
                    <a:solidFill>
                      <a:srgbClr val="F9F7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苹果品牌溢价</a:t>
                      </a:r>
                      <a:br/>
                      <a:r>
                        <a:t>产地旅游导流</a:t>
                      </a:r>
                    </a:p>
                  </a:txBody>
                  <a:tcPr>
                    <a:solidFill>
                      <a:srgbClr val="F9F7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「苹果第一镇」=产品锚</a:t>
                      </a:r>
                      <a:br/>
                      <a:r>
                        <a:t>不需要解释就懂</a:t>
                      </a:r>
                    </a:p>
                  </a:txBody>
                  <a:tcPr>
                    <a:solidFill>
                      <a:srgbClr val="F9F7F2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274320" y="4572000"/>
            <a:ext cx="11612880" cy="457200"/>
          </a:xfrm>
          <a:prstGeom prst="round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101600"/>
          <a:lstStyle/>
          <a:p>
            <a:pPr algn="ctr">
              <a:defRPr sz="1200" b="1">
                <a:solidFill>
                  <a:srgbClr val="D4A017"/>
                </a:solidFill>
              </a:defRPr>
            </a:pPr>
            <a:r>
              <a:t>四个对标号共同点：都靠农产品/直播变现 → 天花板=带货GMV    我们的差异：变现靠「IP」→ 天花板=赛事+研学+体育旅游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5303520"/>
            <a:ext cx="5577840" cy="12801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77800"/>
          <a:lstStyle/>
          <a:p>
            <a:pPr algn="ctr">
              <a:spcAft>
                <a:spcPts val="800"/>
              </a:spcAft>
              <a:defRPr sz="1400" b="1">
                <a:solidFill>
                  <a:srgbClr val="2D5016"/>
                </a:solidFill>
              </a:defRPr>
            </a:pPr>
            <a:r>
              <a:t>竞品做不了的事</a:t>
            </a:r>
          </a:p>
          <a:p>
            <a:pPr>
              <a:spcAft>
                <a:spcPts val="200"/>
              </a:spcAft>
              <a:defRPr sz="1100">
                <a:solidFill>
                  <a:srgbClr val="666666"/>
                </a:solidFill>
              </a:defRPr>
            </a:pPr>
            <a:r>
              <a:t>没有村级体育公园 · 没有冠军球队</a:t>
            </a:r>
          </a:p>
          <a:p>
            <a:pPr>
              <a:spcAft>
                <a:spcPts val="200"/>
              </a:spcAft>
              <a:defRPr sz="1100">
                <a:solidFill>
                  <a:srgbClr val="666666"/>
                </a:solidFill>
              </a:defRPr>
            </a:pPr>
            <a:r>
              <a:t>没有500年军屯IP · 没有书记+教练复合人设</a:t>
            </a:r>
          </a:p>
          <a:p>
            <a:pPr>
              <a:spcAft>
                <a:spcPts val="200"/>
              </a:spcAft>
              <a:defRPr sz="1100">
                <a:solidFill>
                  <a:srgbClr val="666666"/>
                </a:solidFill>
              </a:defRPr>
            </a:pPr>
            <a:r>
              <a:t>没有围绕体育的多元化变现空间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5303520"/>
            <a:ext cx="5577840" cy="4572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17920" y="5303520"/>
            <a:ext cx="5669280" cy="12801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77800"/>
          <a:lstStyle/>
          <a:p>
            <a:pPr algn="ctr">
              <a:spcAft>
                <a:spcPts val="800"/>
              </a:spcAft>
              <a:defRPr sz="1400" b="1">
                <a:solidFill>
                  <a:srgbClr val="2D5016"/>
                </a:solidFill>
              </a:defRPr>
            </a:pPr>
            <a:r>
              <a:t>我们独有的事</a:t>
            </a:r>
          </a:p>
          <a:p>
            <a:pPr>
              <a:spcAft>
                <a:spcPts val="200"/>
              </a:spcAft>
              <a:defRPr sz="1100">
                <a:solidFill>
                  <a:srgbClr val="666666"/>
                </a:solidFill>
              </a:defRPr>
            </a:pPr>
            <a:r>
              <a:t>延庆首个村级体育公园 · 多条冠军奖杯</a:t>
            </a:r>
          </a:p>
          <a:p>
            <a:pPr>
              <a:spcAft>
                <a:spcPts val="200"/>
              </a:spcAft>
              <a:defRPr sz="1100">
                <a:solidFill>
                  <a:srgbClr val="666666"/>
                </a:solidFill>
              </a:defRPr>
            </a:pPr>
            <a:r>
              <a:t>军屯文化+足球精神=不可复制IP</a:t>
            </a:r>
          </a:p>
          <a:p>
            <a:pPr>
              <a:spcAft>
                <a:spcPts val="200"/>
              </a:spcAft>
              <a:defRPr sz="1100">
                <a:solidFill>
                  <a:srgbClr val="666666"/>
                </a:solidFill>
              </a:defRPr>
            </a:pPr>
            <a:r>
              <a:t>足球→赛事→研学→文旅阶梯变现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5303520"/>
            <a:ext cx="5669280" cy="4572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D5016"/>
                </a:solidFill>
              </a:defRPr>
            </a:pPr>
            <a:r>
              <a:t>02  对标盈利逻辑拆解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74320" y="1188720"/>
            <a:ext cx="2743200" cy="5029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77800"/>
          <a:lstStyle/>
          <a:p>
            <a:pPr algn="ctr">
              <a:spcAft>
                <a:spcPts val="800"/>
              </a:spcAft>
              <a:defRPr sz="1400" b="1">
                <a:solidFill>
                  <a:srgbClr val="2D5016"/>
                </a:solidFill>
              </a:defRPr>
            </a:pPr>
            <a:r>
              <a:t>烟消云 · 高频带货型</a:t>
            </a:r>
          </a:p>
          <a:p>
            <a:pPr>
              <a:spcAft>
                <a:spcPts val="200"/>
              </a:spcAft>
              <a:defRPr sz="1100">
                <a:solidFill>
                  <a:srgbClr val="666666"/>
                </a:solidFill>
              </a:defRPr>
            </a:pPr>
            <a:r>
              <a:t>模式：内容引流→IP信任→橱窗带货</a:t>
            </a:r>
          </a:p>
          <a:p>
            <a:pPr>
              <a:spcAft>
                <a:spcPts val="200"/>
              </a:spcAft>
              <a:defRPr sz="1100">
                <a:solidFill>
                  <a:srgbClr val="666666"/>
                </a:solidFill>
              </a:defRPr>
            </a:pPr>
            <a:r>
              <a:t>优势：791条，高频输出</a:t>
            </a:r>
          </a:p>
          <a:p>
            <a:pPr>
              <a:spcAft>
                <a:spcPts val="200"/>
              </a:spcAft>
              <a:defRPr sz="1100">
                <a:solidFill>
                  <a:srgbClr val="666666"/>
                </a:solidFill>
              </a:defRPr>
            </a:pPr>
            <a:r>
              <a:t>局限：个人精力瓶颈</a:t>
            </a:r>
          </a:p>
          <a:p>
            <a:pPr>
              <a:spcAft>
                <a:spcPts val="200"/>
              </a:spcAft>
              <a:defRPr sz="1100">
                <a:solidFill>
                  <a:srgbClr val="666666"/>
                </a:solidFill>
              </a:defRPr>
            </a:pPr>
            <a:r>
              <a:t>启示：要高频，但不能只靠一人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188720"/>
            <a:ext cx="2743200" cy="4572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200400" y="1188720"/>
            <a:ext cx="2743200" cy="5029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77800"/>
          <a:lstStyle/>
          <a:p>
            <a:pPr algn="ctr">
              <a:spcAft>
                <a:spcPts val="800"/>
              </a:spcAft>
              <a:defRPr sz="1400" b="1">
                <a:solidFill>
                  <a:srgbClr val="2D5016"/>
                </a:solidFill>
              </a:defRPr>
            </a:pPr>
            <a:r>
              <a:t>范文栋 · 一动作IP型</a:t>
            </a:r>
          </a:p>
          <a:p>
            <a:pPr>
              <a:spcAft>
                <a:spcPts val="200"/>
              </a:spcAft>
              <a:defRPr sz="1100">
                <a:solidFill>
                  <a:srgbClr val="666666"/>
                </a:solidFill>
              </a:defRPr>
            </a:pPr>
            <a:r>
              <a:t>模式：公益IP→政府背书→直播变现</a:t>
            </a:r>
          </a:p>
          <a:p>
            <a:pPr>
              <a:spcAft>
                <a:spcPts val="200"/>
              </a:spcAft>
              <a:defRPr sz="1100">
                <a:solidFill>
                  <a:srgbClr val="666666"/>
                </a:solidFill>
              </a:defRPr>
            </a:pPr>
            <a:r>
              <a:t>优势：「安路灯」标签极强</a:t>
            </a:r>
          </a:p>
          <a:p>
            <a:pPr>
              <a:spcAft>
                <a:spcPts val="200"/>
              </a:spcAft>
              <a:defRPr sz="1100">
                <a:solidFill>
                  <a:srgbClr val="666666"/>
                </a:solidFill>
              </a:defRPr>
            </a:pPr>
            <a:r>
              <a:t>局限：公益属性影响商业空间</a:t>
            </a:r>
          </a:p>
          <a:p>
            <a:pPr>
              <a:spcAft>
                <a:spcPts val="200"/>
              </a:spcAft>
              <a:defRPr sz="1100">
                <a:solidFill>
                  <a:srgbClr val="666666"/>
                </a:solidFill>
              </a:defRPr>
            </a:pPr>
            <a:r>
              <a:t>启示：需要一个标志动作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0" y="1188720"/>
            <a:ext cx="2743200" cy="4572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126480" y="1188720"/>
            <a:ext cx="2743200" cy="5029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77800"/>
          <a:lstStyle/>
          <a:p>
            <a:pPr algn="ctr">
              <a:spcAft>
                <a:spcPts val="800"/>
              </a:spcAft>
              <a:defRPr sz="1400" b="1">
                <a:solidFill>
                  <a:srgbClr val="2D5016"/>
                </a:solidFill>
              </a:defRPr>
            </a:pPr>
            <a:r>
              <a:t>小江支书 · 少而精型</a:t>
            </a:r>
          </a:p>
          <a:p>
            <a:pPr>
              <a:spcAft>
                <a:spcPts val="200"/>
              </a:spcAft>
              <a:defRPr sz="1100">
                <a:solidFill>
                  <a:srgbClr val="666666"/>
                </a:solidFill>
              </a:defRPr>
            </a:pPr>
            <a:r>
              <a:t>模式：少而精→人格信任→长期变现</a:t>
            </a:r>
          </a:p>
          <a:p>
            <a:pPr>
              <a:spcAft>
                <a:spcPts val="200"/>
              </a:spcAft>
              <a:defRPr sz="1100">
                <a:solidFill>
                  <a:srgbClr val="666666"/>
                </a:solidFill>
              </a:defRPr>
            </a:pPr>
            <a:r>
              <a:t>优势：34条获高粘性，转化率极高</a:t>
            </a:r>
          </a:p>
          <a:p>
            <a:pPr>
              <a:spcAft>
                <a:spcPts val="200"/>
              </a:spcAft>
              <a:defRPr sz="1100">
                <a:solidFill>
                  <a:srgbClr val="666666"/>
                </a:solidFill>
              </a:defRPr>
            </a:pPr>
            <a:r>
              <a:t>局限：变现路径不清晰</a:t>
            </a:r>
          </a:p>
          <a:p>
            <a:pPr>
              <a:spcAft>
                <a:spcPts val="200"/>
              </a:spcAft>
              <a:defRPr sz="1100">
                <a:solidFill>
                  <a:srgbClr val="666666"/>
                </a:solidFill>
              </a:defRPr>
            </a:pPr>
            <a:r>
              <a:t>启示：不求日更，每条精品</a:t>
            </a:r>
          </a:p>
        </p:txBody>
      </p:sp>
      <p:sp>
        <p:nvSpPr>
          <p:cNvPr id="8" name="Rectangle 7"/>
          <p:cNvSpPr/>
          <p:nvPr/>
        </p:nvSpPr>
        <p:spPr>
          <a:xfrm>
            <a:off x="6126480" y="1188720"/>
            <a:ext cx="2743200" cy="4572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52560" y="1188720"/>
            <a:ext cx="2743200" cy="5029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77800"/>
          <a:lstStyle/>
          <a:p>
            <a:pPr algn="ctr">
              <a:spcAft>
                <a:spcPts val="800"/>
              </a:spcAft>
              <a:defRPr sz="1400" b="1">
                <a:solidFill>
                  <a:srgbClr val="2D5016"/>
                </a:solidFill>
              </a:defRPr>
            </a:pPr>
            <a:r>
              <a:t>张爱军 · 产品锚型</a:t>
            </a:r>
          </a:p>
          <a:p>
            <a:pPr>
              <a:spcAft>
                <a:spcPts val="200"/>
              </a:spcAft>
              <a:defRPr sz="1100">
                <a:solidFill>
                  <a:srgbClr val="666666"/>
                </a:solidFill>
              </a:defRPr>
            </a:pPr>
            <a:r>
              <a:t>模式：特产锚点→品类绑定→产地溢价</a:t>
            </a:r>
          </a:p>
          <a:p>
            <a:pPr>
              <a:spcAft>
                <a:spcPts val="200"/>
              </a:spcAft>
              <a:defRPr sz="1100">
                <a:solidFill>
                  <a:srgbClr val="666666"/>
                </a:solidFill>
              </a:defRPr>
            </a:pPr>
            <a:r>
              <a:t>优势：「苹果」认知零成本</a:t>
            </a:r>
          </a:p>
          <a:p>
            <a:pPr>
              <a:spcAft>
                <a:spcPts val="200"/>
              </a:spcAft>
              <a:defRPr sz="1100">
                <a:solidFill>
                  <a:srgbClr val="666666"/>
                </a:solidFill>
              </a:defRPr>
            </a:pPr>
            <a:r>
              <a:t>局限：品类太窄扩展难</a:t>
            </a:r>
          </a:p>
          <a:p>
            <a:pPr>
              <a:spcAft>
                <a:spcPts val="200"/>
              </a:spcAft>
              <a:defRPr sz="1100">
                <a:solidFill>
                  <a:srgbClr val="666666"/>
                </a:solidFill>
              </a:defRPr>
            </a:pPr>
            <a:r>
              <a:t>启示：「冠军村」就是我们的苹果</a:t>
            </a:r>
          </a:p>
        </p:txBody>
      </p:sp>
      <p:sp>
        <p:nvSpPr>
          <p:cNvPr id="10" name="Rectangle 9"/>
          <p:cNvSpPr/>
          <p:nvPr/>
        </p:nvSpPr>
        <p:spPr>
          <a:xfrm>
            <a:off x="9052560" y="1188720"/>
            <a:ext cx="2743200" cy="4572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5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0" b="1">
                <a:solidFill>
                  <a:srgbClr val="FFFFFF"/>
                </a:solidFill>
              </a:defRPr>
            </a:pPr>
            <a: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D4A017"/>
                </a:solidFill>
              </a:defRPr>
            </a:pPr>
            <a:r>
              <a:t>怎么盈利？四阶梯变现路径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D5016"/>
                </a:solidFill>
              </a:defRPr>
            </a:pPr>
            <a:r>
              <a:t>03  四阶梯变现路径</a:t>
            </a:r>
          </a:p>
        </p:txBody>
      </p:sp>
      <p:sp>
        <p:nvSpPr>
          <p:cNvPr id="3" name="Oval 2"/>
          <p:cNvSpPr/>
          <p:nvPr/>
        </p:nvSpPr>
        <p:spPr>
          <a:xfrm>
            <a:off x="1097280" y="1371600"/>
            <a:ext cx="640080" cy="640080"/>
          </a:xfrm>
          <a:prstGeom prst="ellipse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21945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2D5016"/>
                </a:solidFill>
              </a:defRPr>
            </a:pPr>
            <a:r>
              <a:t>内容期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25603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66666"/>
                </a:solidFill>
              </a:defRPr>
            </a:pPr>
            <a:r>
              <a:t>月1-3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3017520"/>
            <a:ext cx="2743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00" b="0">
                <a:solidFill>
                  <a:srgbClr val="333333"/>
                </a:solidFill>
              </a:defRPr>
            </a:pPr>
            <a:r>
              <a:t>零变现 · 纯涨粉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51206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D4A017"/>
                </a:solidFill>
              </a:defRPr>
            </a:pPr>
            <a:r>
              <a:t>目标：1万粉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51760" y="15544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D4A017"/>
                </a:solidFill>
              </a:defRPr>
            </a:pPr>
            <a:r>
              <a:t>→</a:t>
            </a:r>
          </a:p>
        </p:txBody>
      </p:sp>
      <p:sp>
        <p:nvSpPr>
          <p:cNvPr id="9" name="Oval 8"/>
          <p:cNvSpPr/>
          <p:nvPr/>
        </p:nvSpPr>
        <p:spPr>
          <a:xfrm>
            <a:off x="4023360" y="1371600"/>
            <a:ext cx="640080" cy="640080"/>
          </a:xfrm>
          <a:prstGeom prst="ellipse">
            <a:avLst/>
          </a:prstGeom>
          <a:solidFill>
            <a:srgbClr val="4A7C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2400" b="1">
                <a:solidFill>
                  <a:srgbClr val="0F1F0F"/>
                </a:solidFill>
              </a:defRPr>
            </a:pPr>
            <a: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21945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4A7C28"/>
                </a:solidFill>
              </a:defRPr>
            </a:pPr>
            <a:r>
              <a:t>赛事期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25603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66666"/>
                </a:solidFill>
              </a:defRPr>
            </a:pPr>
            <a:r>
              <a:t>月3-6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3017520"/>
            <a:ext cx="2743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00" b="0">
                <a:solidFill>
                  <a:srgbClr val="333333"/>
                </a:solidFill>
              </a:defRPr>
            </a:pPr>
            <a:r>
              <a:t>邀请赛报名费</a:t>
            </a:r>
          </a:p>
          <a:p>
            <a:pPr>
              <a:spcAft>
                <a:spcPts val="300"/>
              </a:spcAft>
              <a:defRPr sz="1100" b="0">
                <a:solidFill>
                  <a:srgbClr val="333333"/>
                </a:solidFill>
              </a:defRPr>
            </a:pPr>
            <a:r>
              <a:t>体育局合作</a:t>
            </a:r>
          </a:p>
          <a:p>
            <a:pPr>
              <a:spcAft>
                <a:spcPts val="300"/>
              </a:spcAft>
              <a:defRPr sz="1100" b="0">
                <a:solidFill>
                  <a:srgbClr val="333333"/>
                </a:solidFill>
              </a:defRPr>
            </a:pPr>
            <a:r>
              <a:t>场边广告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0" y="51206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D4A017"/>
                </a:solidFill>
              </a:defRPr>
            </a:pPr>
            <a:r>
              <a:t>目标：5万粉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77840" y="15544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D4A017"/>
                </a:solidFill>
              </a:defRPr>
            </a:pPr>
            <a:r>
              <a:t>→</a:t>
            </a:r>
          </a:p>
        </p:txBody>
      </p:sp>
      <p:sp>
        <p:nvSpPr>
          <p:cNvPr id="15" name="Oval 14"/>
          <p:cNvSpPr/>
          <p:nvPr/>
        </p:nvSpPr>
        <p:spPr>
          <a:xfrm>
            <a:off x="6949440" y="1371600"/>
            <a:ext cx="640080" cy="640080"/>
          </a:xfrm>
          <a:prstGeom prst="ellipse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2400" b="1">
                <a:solidFill>
                  <a:srgbClr val="0F1F0F"/>
                </a:solidFill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0" y="21945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D4A017"/>
                </a:solidFill>
              </a:defRPr>
            </a:pPr>
            <a:r>
              <a:t>研学期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25603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66666"/>
                </a:solidFill>
              </a:defRPr>
            </a:pPr>
            <a:r>
              <a:t>月6-9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0" y="3017520"/>
            <a:ext cx="2743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00" b="0">
                <a:solidFill>
                  <a:srgbClr val="333333"/>
                </a:solidFill>
              </a:defRPr>
            </a:pPr>
            <a:r>
              <a:t>夏令营收入</a:t>
            </a:r>
          </a:p>
          <a:p>
            <a:pPr>
              <a:spcAft>
                <a:spcPts val="300"/>
              </a:spcAft>
              <a:defRPr sz="1100" b="0">
                <a:solidFill>
                  <a:srgbClr val="333333"/>
                </a:solidFill>
              </a:defRPr>
            </a:pPr>
            <a:r>
              <a:t>企业团建</a:t>
            </a:r>
          </a:p>
          <a:p>
            <a:pPr>
              <a:spcAft>
                <a:spcPts val="300"/>
              </a:spcAft>
              <a:defRPr sz="1100" b="0">
                <a:solidFill>
                  <a:srgbClr val="333333"/>
                </a:solidFill>
              </a:defRPr>
            </a:pPr>
            <a:r>
              <a:t>培训课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0" y="51206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D4A017"/>
                </a:solidFill>
              </a:defRPr>
            </a:pPr>
            <a:r>
              <a:t>目标：10万粉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20" y="15544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D4A017"/>
                </a:solidFill>
              </a:defRPr>
            </a:pPr>
            <a:r>
              <a:t>→</a:t>
            </a:r>
          </a:p>
        </p:txBody>
      </p:sp>
      <p:sp>
        <p:nvSpPr>
          <p:cNvPr id="21" name="Oval 20"/>
          <p:cNvSpPr/>
          <p:nvPr/>
        </p:nvSpPr>
        <p:spPr>
          <a:xfrm>
            <a:off x="9875520" y="1371600"/>
            <a:ext cx="640080" cy="640080"/>
          </a:xfrm>
          <a:prstGeom prst="ellipse">
            <a:avLst/>
          </a:prstGeom>
          <a:solidFill>
            <a:srgbClr val="FFA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2400" b="1">
                <a:solidFill>
                  <a:srgbClr val="0F1F0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52560" y="21945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AA00"/>
                </a:solidFill>
              </a:defRPr>
            </a:pPr>
            <a:r>
              <a:t>文旅期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52560" y="25603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66666"/>
                </a:solidFill>
              </a:defRPr>
            </a:pPr>
            <a:r>
              <a:t>月9-12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52560" y="3017520"/>
            <a:ext cx="2743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00" b="0">
                <a:solidFill>
                  <a:srgbClr val="333333"/>
                </a:solidFill>
              </a:defRPr>
            </a:pPr>
            <a:r>
              <a:t>体育旅游</a:t>
            </a:r>
          </a:p>
          <a:p>
            <a:pPr>
              <a:spcAft>
                <a:spcPts val="300"/>
              </a:spcAft>
              <a:defRPr sz="1100" b="0">
                <a:solidFill>
                  <a:srgbClr val="333333"/>
                </a:solidFill>
              </a:defRPr>
            </a:pPr>
            <a:r>
              <a:t>品牌赞助</a:t>
            </a:r>
          </a:p>
          <a:p>
            <a:pPr>
              <a:spcAft>
                <a:spcPts val="300"/>
              </a:spcAft>
              <a:defRPr sz="1100" b="0">
                <a:solidFill>
                  <a:srgbClr val="333333"/>
                </a:solidFill>
              </a:defRPr>
            </a:pPr>
            <a:r>
              <a:t>直播带货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52560" y="51206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D4A017"/>
                </a:solidFill>
              </a:defRPr>
            </a:pPr>
            <a:r>
              <a:t>目标：20万粉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74320" y="5760720"/>
            <a:ext cx="11612880" cy="457200"/>
          </a:xfrm>
          <a:prstGeom prst="round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101600"/>
          <a:lstStyle/>
          <a:p>
            <a:pPr algn="ctr">
              <a:defRPr sz="1200" b="1">
                <a:solidFill>
                  <a:srgbClr val="D4A017"/>
                </a:solidFill>
              </a:defRPr>
            </a:pPr>
            <a:r>
              <a:t>盈利逻辑：足球内容建信任 → 赛事聚人气 → 研学教育变现 → 最终成为延庆体育旅游IP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D5016"/>
                </a:solidFill>
              </a:defRPr>
            </a:pPr>
            <a:r>
              <a:t>03  各阶段盈利明细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188720"/>
          <a:ext cx="1161288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3200400"/>
                <a:gridCol w="2560320"/>
                <a:gridCol w="2560320"/>
              </a:tblGrid>
              <a:tr h="73152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阶段</a:t>
                      </a:r>
                    </a:p>
                  </a:txBody>
                  <a:tcPr>
                    <a:solidFill>
                      <a:srgbClr val="2D501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时间</a:t>
                      </a:r>
                    </a:p>
                  </a:txBody>
                  <a:tcPr>
                    <a:solidFill>
                      <a:srgbClr val="2D501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变现方式</a:t>
                      </a:r>
                    </a:p>
                  </a:txBody>
                  <a:tcPr>
                    <a:solidFill>
                      <a:srgbClr val="2D501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预估收入</a:t>
                      </a:r>
                    </a:p>
                  </a:txBody>
                  <a:tcPr>
                    <a:solidFill>
                      <a:srgbClr val="2D501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启动条件</a:t>
                      </a:r>
                    </a:p>
                  </a:txBody>
                  <a:tcPr>
                    <a:solidFill>
                      <a:srgbClr val="2D5016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内容期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月1-3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零变现，纯涨粉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¥0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开始拍摄即可</a:t>
                      </a:r>
                    </a:p>
                  </a:txBody>
                  <a:tcPr/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赛事期</a:t>
                      </a:r>
                    </a:p>
                  </a:txBody>
                  <a:tcPr>
                    <a:solidFill>
                      <a:srgbClr val="F9F7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月3-6</a:t>
                      </a:r>
                    </a:p>
                  </a:txBody>
                  <a:tcPr>
                    <a:solidFill>
                      <a:srgbClr val="F9F7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邀请赛报名费</a:t>
                      </a:r>
                      <a:br/>
                      <a:r>
                        <a:t>体育局补贴</a:t>
                      </a:r>
                      <a:br/>
                      <a:r>
                        <a:t>场边广告位</a:t>
                      </a:r>
                    </a:p>
                  </a:txBody>
                  <a:tcPr>
                    <a:solidFill>
                      <a:srgbClr val="F9F7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¥3000-8000/场</a:t>
                      </a:r>
                      <a:br/>
                      <a:r>
                        <a:t>¥5000-20000</a:t>
                      </a:r>
                      <a:br/>
                      <a:r>
                        <a:t>¥2000-5000</a:t>
                      </a:r>
                    </a:p>
                  </a:txBody>
                  <a:tcPr>
                    <a:solidFill>
                      <a:srgbClr val="F9F7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粉丝≥1万</a:t>
                      </a:r>
                      <a:br/>
                      <a:r>
                        <a:t>3个合作村</a:t>
                      </a:r>
                    </a:p>
                  </a:txBody>
                  <a:tcPr>
                    <a:solidFill>
                      <a:srgbClr val="F9F7F2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研学期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月6-9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青少年足球夏令营</a:t>
                      </a:r>
                      <a:br/>
                      <a:r>
                        <a:t>企业团建</a:t>
                      </a:r>
                      <a:br/>
                      <a:r>
                        <a:t>退役球员培训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¥1500-3000/人</a:t>
                      </a:r>
                      <a:br/>
                      <a:r>
                        <a:t>¥5000-15000/场</a:t>
                      </a:r>
                      <a:br/>
                      <a:r>
                        <a:t>¥500-1000/课时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粉丝≥5万</a:t>
                      </a:r>
                      <a:br/>
                      <a:r>
                        <a:t>有接待能力</a:t>
                      </a:r>
                    </a:p>
                  </a:txBody>
                  <a:tcPr/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文旅期</a:t>
                      </a:r>
                    </a:p>
                  </a:txBody>
                  <a:tcPr>
                    <a:solidFill>
                      <a:srgbClr val="F9F7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月9-12</a:t>
                      </a:r>
                    </a:p>
                  </a:txBody>
                  <a:tcPr>
                    <a:solidFill>
                      <a:srgbClr val="F9F7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体育旅游线路</a:t>
                      </a:r>
                      <a:br/>
                      <a:r>
                        <a:t>运动品牌赞助</a:t>
                      </a:r>
                      <a:br/>
                      <a:r>
                        <a:t>直播带货</a:t>
                      </a:r>
                    </a:p>
                  </a:txBody>
                  <a:tcPr>
                    <a:solidFill>
                      <a:srgbClr val="F9F7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按人次分成</a:t>
                      </a:r>
                      <a:br/>
                      <a:r>
                        <a:t>¥10000-50000/年</a:t>
                      </a:r>
                      <a:br/>
                      <a:r>
                        <a:t>¥2000-5000/场</a:t>
                      </a:r>
                    </a:p>
                  </a:txBody>
                  <a:tcPr>
                    <a:solidFill>
                      <a:srgbClr val="F9F7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粉丝≥10万</a:t>
                      </a:r>
                      <a:br/>
                      <a:r>
                        <a:t>文旅局合作</a:t>
                      </a:r>
                    </a:p>
                  </a:txBody>
                  <a:tcPr>
                    <a:solidFill>
                      <a:srgbClr val="F9F7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D5016"/>
                </a:solidFill>
              </a:defRPr>
            </a:pPr>
            <a:r>
              <a:t>03  前期（月1-3）怎么做？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74320" y="1188720"/>
            <a:ext cx="3566160" cy="5029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77800"/>
          <a:lstStyle/>
          <a:p>
            <a:pPr algn="ctr">
              <a:spcAft>
                <a:spcPts val="800"/>
              </a:spcAft>
              <a:defRPr sz="1400" b="1">
                <a:solidFill>
                  <a:srgbClr val="2D5016"/>
                </a:solidFill>
              </a:defRPr>
            </a:pPr>
            <a:r>
              <a:t>内容策略</a:t>
            </a:r>
          </a:p>
          <a:p>
            <a:pPr>
              <a:spcAft>
                <a:spcPts val="200"/>
              </a:spcAft>
              <a:defRPr sz="1100">
                <a:solidFill>
                  <a:srgbClr val="666666"/>
                </a:solidFill>
              </a:defRPr>
            </a:pPr>
            <a:r>
              <a:t>每周3条，雷打不动</a:t>
            </a:r>
          </a:p>
          <a:p>
            <a:pPr>
              <a:spcAft>
                <a:spcPts val="200"/>
              </a:spcAft>
              <a:defRPr sz="1100">
                <a:solidFill>
                  <a:srgbClr val="666666"/>
                </a:solidFill>
              </a:defRPr>
            </a:pPr>
            <a:r>
              <a:t>前4周不求爆款，求人设统一</a:t>
            </a:r>
          </a:p>
          <a:p>
            <a:pPr>
              <a:spcAft>
                <a:spcPts val="200"/>
              </a:spcAft>
              <a:defRPr sz="1100">
                <a:solidFill>
                  <a:srgbClr val="666666"/>
                </a:solidFill>
              </a:defRPr>
            </a:pPr>
            <a:r>
              <a:t>王健出镜率 ≥ 80%</a:t>
            </a:r>
          </a:p>
          <a:p>
            <a:pPr>
              <a:spcAft>
                <a:spcPts val="200"/>
              </a:spcAft>
              <a:defRPr sz="1100">
                <a:solidFill>
                  <a:srgbClr val="666666"/>
                </a:solidFill>
              </a:defRPr>
            </a:pPr>
            <a:r>
              <a:t>评论区100%回复</a:t>
            </a:r>
          </a:p>
          <a:p>
            <a:pPr>
              <a:spcAft>
                <a:spcPts val="200"/>
              </a:spcAft>
              <a:defRPr sz="1100">
                <a:solidFill>
                  <a:srgbClr val="666666"/>
                </a:solidFill>
              </a:defRPr>
            </a:pPr>
            <a:r>
              <a:t>固定发布时间：18:30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188720"/>
            <a:ext cx="3566160" cy="4572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114800" y="1188720"/>
            <a:ext cx="3566160" cy="5029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77800"/>
          <a:lstStyle/>
          <a:p>
            <a:pPr algn="ctr">
              <a:spcAft>
                <a:spcPts val="800"/>
              </a:spcAft>
              <a:defRPr sz="1400" b="1">
                <a:solidFill>
                  <a:srgbClr val="2D5016"/>
                </a:solidFill>
              </a:defRPr>
            </a:pPr>
            <a:r>
              <a:t>设备策略</a:t>
            </a:r>
          </a:p>
          <a:p>
            <a:pPr>
              <a:spcAft>
                <a:spcPts val="200"/>
              </a:spcAft>
              <a:defRPr sz="1100">
                <a:solidFill>
                  <a:srgbClr val="666666"/>
                </a:solidFill>
              </a:defRPr>
            </a:pPr>
            <a:r>
              <a:t>先用手机+稳定器（已有）</a:t>
            </a:r>
          </a:p>
          <a:p>
            <a:pPr>
              <a:spcAft>
                <a:spcPts val="200"/>
              </a:spcAft>
              <a:defRPr sz="1100">
                <a:solidFill>
                  <a:srgbClr val="666666"/>
                </a:solidFill>
              </a:defRPr>
            </a:pPr>
            <a:r>
              <a:t>必买：无线领夹麦</a:t>
            </a:r>
          </a:p>
          <a:p>
            <a:pPr>
              <a:spcAft>
                <a:spcPts val="200"/>
              </a:spcAft>
              <a:defRPr sz="1100">
                <a:solidFill>
                  <a:srgbClr val="666666"/>
                </a:solidFill>
              </a:defRPr>
            </a:pPr>
            <a:r>
              <a:t>航拍：借/租，不急于买</a:t>
            </a:r>
          </a:p>
          <a:p>
            <a:pPr>
              <a:spcAft>
                <a:spcPts val="200"/>
              </a:spcAft>
              <a:defRPr sz="1100">
                <a:solidFill>
                  <a:srgbClr val="666666"/>
                </a:solidFill>
              </a:defRPr>
            </a:pPr>
            <a:r>
              <a:t>花在内容上的时间 &gt; 设备上的钱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0" y="1188720"/>
            <a:ext cx="3566160" cy="4572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955279" y="1188720"/>
            <a:ext cx="3566160" cy="5029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77800"/>
          <a:lstStyle/>
          <a:p>
            <a:pPr algn="ctr">
              <a:spcAft>
                <a:spcPts val="800"/>
              </a:spcAft>
              <a:defRPr sz="1400" b="1">
                <a:solidFill>
                  <a:srgbClr val="2D5016"/>
                </a:solidFill>
              </a:defRPr>
            </a:pPr>
            <a:r>
              <a:t>数据 &amp; 迭代</a:t>
            </a:r>
          </a:p>
          <a:p>
            <a:pPr>
              <a:spcAft>
                <a:spcPts val="200"/>
              </a:spcAft>
              <a:defRPr sz="1100">
                <a:solidFill>
                  <a:srgbClr val="666666"/>
                </a:solidFill>
              </a:defRPr>
            </a:pPr>
            <a:r>
              <a:t>周复盘：完播率+互动率+涨粉</a:t>
            </a:r>
          </a:p>
          <a:p>
            <a:pPr>
              <a:spcAft>
                <a:spcPts val="200"/>
              </a:spcAft>
              <a:defRPr sz="1100">
                <a:solidFill>
                  <a:srgbClr val="666666"/>
                </a:solidFill>
              </a:defRPr>
            </a:pPr>
            <a:r>
              <a:t>找到自己的爆款因子</a:t>
            </a:r>
          </a:p>
          <a:p>
            <a:pPr>
              <a:spcAft>
                <a:spcPts val="200"/>
              </a:spcAft>
              <a:defRPr sz="1100">
                <a:solidFill>
                  <a:srgbClr val="666666"/>
                </a:solidFill>
              </a:defRPr>
            </a:pPr>
            <a:r>
              <a:t>每周刷4个对标账号</a:t>
            </a:r>
          </a:p>
          <a:p>
            <a:pPr>
              <a:spcAft>
                <a:spcPts val="200"/>
              </a:spcAft>
              <a:defRPr sz="1100">
                <a:solidFill>
                  <a:srgbClr val="666666"/>
                </a:solidFill>
              </a:defRPr>
            </a:pPr>
            <a:r>
              <a:t>第4周做一次方向微调</a:t>
            </a:r>
          </a:p>
        </p:txBody>
      </p:sp>
      <p:sp>
        <p:nvSpPr>
          <p:cNvPr id="8" name="Rectangle 7"/>
          <p:cNvSpPr/>
          <p:nvPr/>
        </p:nvSpPr>
        <p:spPr>
          <a:xfrm>
            <a:off x="7955279" y="1188720"/>
            <a:ext cx="3566160" cy="4572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D5016"/>
                </a:solidFill>
              </a:defRPr>
            </a:pPr>
            <a:r>
              <a:t>03  什么时候可以开始变现？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74320" y="1188720"/>
            <a:ext cx="3566160" cy="3200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77800"/>
          <a:lstStyle/>
          <a:p>
            <a:pPr algn="ctr">
              <a:spcAft>
                <a:spcPts val="800"/>
              </a:spcAft>
              <a:defRPr sz="1400" b="1">
                <a:solidFill>
                  <a:srgbClr val="2D5016"/>
                </a:solidFill>
              </a:defRPr>
            </a:pPr>
            <a:r>
              <a:t>🚦 信号一：粉丝过万</a:t>
            </a:r>
          </a:p>
          <a:p>
            <a:pPr>
              <a:spcAft>
                <a:spcPts val="200"/>
              </a:spcAft>
              <a:defRPr sz="1100">
                <a:solidFill>
                  <a:srgbClr val="666666"/>
                </a:solidFill>
              </a:defRPr>
            </a:pPr>
            <a:r>
              <a:t>开始接村际邀请赛</a:t>
            </a:r>
          </a:p>
          <a:p>
            <a:pPr>
              <a:spcAft>
                <a:spcPts val="200"/>
              </a:spcAft>
              <a:defRPr sz="1100">
                <a:solidFill>
                  <a:srgbClr val="666666"/>
                </a:solidFill>
              </a:defRPr>
            </a:pPr>
            <a:r>
              <a:t>邀请赛报名费 + 体育局合作</a:t>
            </a:r>
          </a:p>
          <a:p>
            <a:pPr>
              <a:spcAft>
                <a:spcPts val="200"/>
              </a:spcAft>
              <a:defRPr sz="1100">
                <a:solidFill>
                  <a:srgbClr val="666666"/>
                </a:solidFill>
              </a:defRPr>
            </a:pPr>
            <a:r>
              <a:t>前提：至少3期视频互动率 &gt; 5%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188720"/>
            <a:ext cx="3566160" cy="4572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114800" y="1188720"/>
            <a:ext cx="3566160" cy="3200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77800"/>
          <a:lstStyle/>
          <a:p>
            <a:pPr algn="ctr">
              <a:spcAft>
                <a:spcPts val="800"/>
              </a:spcAft>
              <a:defRPr sz="1400" b="1">
                <a:solidFill>
                  <a:srgbClr val="2D5016"/>
                </a:solidFill>
              </a:defRPr>
            </a:pPr>
            <a:r>
              <a:t>🚦 信号二：出现「野生」咨询</a:t>
            </a:r>
          </a:p>
          <a:p>
            <a:pPr>
              <a:spcAft>
                <a:spcPts val="200"/>
              </a:spcAft>
              <a:defRPr sz="1100">
                <a:solidFill>
                  <a:srgbClr val="666666"/>
                </a:solidFill>
              </a:defRPr>
            </a:pPr>
            <a:r>
              <a:t>评论区有人问：</a:t>
            </a:r>
          </a:p>
          <a:p>
            <a:pPr>
              <a:spcAft>
                <a:spcPts val="200"/>
              </a:spcAft>
              <a:defRPr sz="1100">
                <a:solidFill>
                  <a:srgbClr val="666666"/>
                </a:solidFill>
              </a:defRPr>
            </a:pPr>
            <a:r>
              <a:t>「能来踢球吗」「有夏令营吗」</a:t>
            </a:r>
          </a:p>
          <a:p>
            <a:pPr>
              <a:spcAft>
                <a:spcPts val="200"/>
              </a:spcAft>
              <a:defRPr sz="1100">
                <a:solidFill>
                  <a:srgbClr val="666666"/>
                </a:solidFill>
              </a:defRPr>
            </a:pPr>
            <a:r>
              <a:t>这时候 → 马上推出体验产品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0" y="1188720"/>
            <a:ext cx="3566160" cy="4572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955279" y="1188720"/>
            <a:ext cx="3566160" cy="3200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77800"/>
          <a:lstStyle/>
          <a:p>
            <a:pPr algn="ctr">
              <a:spcAft>
                <a:spcPts val="800"/>
              </a:spcAft>
              <a:defRPr sz="1400" b="1">
                <a:solidFill>
                  <a:srgbClr val="2D5016"/>
                </a:solidFill>
              </a:defRPr>
            </a:pPr>
            <a:r>
              <a:t>🚦 信号三：被官方注意到</a:t>
            </a:r>
          </a:p>
          <a:p>
            <a:pPr>
              <a:spcAft>
                <a:spcPts val="200"/>
              </a:spcAft>
              <a:defRPr sz="1100">
                <a:solidFill>
                  <a:srgbClr val="666666"/>
                </a:solidFill>
              </a:defRPr>
            </a:pPr>
            <a:r>
              <a:t>区体育局/文旅局主动联系</a:t>
            </a:r>
          </a:p>
          <a:p>
            <a:pPr>
              <a:spcAft>
                <a:spcPts val="200"/>
              </a:spcAft>
              <a:defRPr sz="1100">
                <a:solidFill>
                  <a:srgbClr val="666666"/>
                </a:solidFill>
              </a:defRPr>
            </a:pPr>
            <a:r>
              <a:t>或本地媒体报道</a:t>
            </a:r>
          </a:p>
          <a:p>
            <a:pPr>
              <a:spcAft>
                <a:spcPts val="200"/>
              </a:spcAft>
              <a:defRPr sz="1100">
                <a:solidFill>
                  <a:srgbClr val="666666"/>
                </a:solidFill>
              </a:defRPr>
            </a:pPr>
            <a:r>
              <a:t>这时候 → 申请政府文旅扶持资金</a:t>
            </a:r>
          </a:p>
        </p:txBody>
      </p:sp>
      <p:sp>
        <p:nvSpPr>
          <p:cNvPr id="8" name="Rectangle 7"/>
          <p:cNvSpPr/>
          <p:nvPr/>
        </p:nvSpPr>
        <p:spPr>
          <a:xfrm>
            <a:off x="7955279" y="1188720"/>
            <a:ext cx="3566160" cy="4572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74320" y="5029200"/>
            <a:ext cx="11612880" cy="640080"/>
          </a:xfrm>
          <a:prstGeom prst="round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101600"/>
          <a:lstStyle/>
          <a:p>
            <a:pPr algn="ctr">
              <a:defRPr sz="1200" b="1">
                <a:solidFill>
                  <a:srgbClr val="D4A017"/>
                </a:solidFill>
              </a:defRPr>
            </a:pPr>
            <a:r>
              <a:t>预计时间线：内容期3个月 → 赛事变现第4个月 → 研学变现第7个月 → 文旅变现第10个月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" y="5943600"/>
            <a:ext cx="11612880" cy="7315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77800"/>
          <a:lstStyle/>
          <a:p>
            <a:pPr algn="ctr">
              <a:spcAft>
                <a:spcPts val="800"/>
              </a:spcAft>
              <a:defRPr sz="1400" b="1">
                <a:solidFill>
                  <a:srgbClr val="2D5016"/>
                </a:solidFill>
              </a:defRPr>
            </a:pPr>
            <a:r>
              <a:t>内容 → 变现 地图</a:t>
            </a:r>
          </a:p>
          <a:p>
            <a:pPr>
              <a:spcAft>
                <a:spcPts val="200"/>
              </a:spcAft>
              <a:defRPr sz="1100">
                <a:solidFill>
                  <a:srgbClr val="666666"/>
                </a:solidFill>
              </a:defRPr>
            </a:pPr>
            <a:r>
              <a:t>足球精神线→赛事IP→冠军村品牌  |  兵味文化线→文化赋能→研学团建  |  体育政策线→专业信任→政府合作  |  评论区互动→需求洞察→产品迭代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5943600"/>
            <a:ext cx="11612880" cy="4572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5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0" b="1">
                <a:solidFill>
                  <a:srgbClr val="FFFFFF"/>
                </a:solidFill>
              </a:defRPr>
            </a:pPr>
            <a: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D4A017"/>
                </a:solidFill>
              </a:defRPr>
            </a:pPr>
            <a:r>
              <a:t>执行清单 · 八周节奏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D5016"/>
                </a:solidFill>
              </a:defRPr>
            </a:pPr>
            <a:r>
              <a:t>04  八周执行节奏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188720"/>
          <a:ext cx="1161288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371600"/>
                <a:gridCol w="4114800"/>
                <a:gridCol w="5029200"/>
              </a:tblGrid>
              <a:tr h="55880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周</a:t>
                      </a:r>
                    </a:p>
                  </a:txBody>
                  <a:tcPr>
                    <a:solidFill>
                      <a:srgbClr val="2D501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主题</a:t>
                      </a:r>
                    </a:p>
                  </a:txBody>
                  <a:tcPr>
                    <a:solidFill>
                      <a:srgbClr val="2D501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足球精神线内容</a:t>
                      </a:r>
                    </a:p>
                  </a:txBody>
                  <a:tcPr>
                    <a:solidFill>
                      <a:srgbClr val="2D501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关键产出</a:t>
                      </a:r>
                    </a:p>
                  </a:txBody>
                  <a:tcPr>
                    <a:solidFill>
                      <a:srgbClr val="2D5016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W1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亮相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自我介绍+冠军教练身份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第一条视频发布</a:t>
                      </a:r>
                    </a:p>
                  </a:txBody>
                  <a:tcPr/>
                </a:tc>
              </a:tr>
              <a:tr h="5588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W2</a:t>
                      </a:r>
                    </a:p>
                  </a:txBody>
                  <a:tcPr>
                    <a:solidFill>
                      <a:srgbClr val="F9F7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情感</a:t>
                      </a:r>
                    </a:p>
                  </a:txBody>
                  <a:tcPr>
                    <a:solidFill>
                      <a:srgbClr val="F9F7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球场建设回忆</a:t>
                      </a:r>
                    </a:p>
                  </a:txBody>
                  <a:tcPr>
                    <a:solidFill>
                      <a:srgbClr val="F9F7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老照片素材备齐</a:t>
                      </a:r>
                    </a:p>
                  </a:txBody>
                  <a:tcPr>
                    <a:solidFill>
                      <a:srgbClr val="F9F7F2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W3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热血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凌晨训练+战术板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体现专业度</a:t>
                      </a:r>
                    </a:p>
                  </a:txBody>
                  <a:tcPr/>
                </a:tc>
              </a:tr>
              <a:tr h="5588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W4</a:t>
                      </a:r>
                    </a:p>
                  </a:txBody>
                  <a:tcPr>
                    <a:solidFill>
                      <a:srgbClr val="F9F7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人物</a:t>
                      </a:r>
                    </a:p>
                  </a:txBody>
                  <a:tcPr>
                    <a:solidFill>
                      <a:srgbClr val="F9F7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村民评价+城乡反差</a:t>
                      </a:r>
                    </a:p>
                  </a:txBody>
                  <a:tcPr>
                    <a:solidFill>
                      <a:srgbClr val="F9F7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真实口碑传播</a:t>
                      </a:r>
                    </a:p>
                  </a:txBody>
                  <a:tcPr>
                    <a:solidFill>
                      <a:srgbClr val="F9F7F2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W5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成果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冠军奖杯+三代人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展示硬实力</a:t>
                      </a:r>
                    </a:p>
                  </a:txBody>
                  <a:tcPr/>
                </a:tc>
              </a:tr>
              <a:tr h="5588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W6</a:t>
                      </a:r>
                    </a:p>
                  </a:txBody>
                  <a:tcPr>
                    <a:solidFill>
                      <a:srgbClr val="F9F7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幕后</a:t>
                      </a:r>
                    </a:p>
                  </a:txBody>
                  <a:tcPr>
                    <a:solidFill>
                      <a:srgbClr val="F9F7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比赛全流程+更衣室</a:t>
                      </a:r>
                    </a:p>
                  </a:txBody>
                  <a:tcPr>
                    <a:solidFill>
                      <a:srgbClr val="F9F7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破壁内容</a:t>
                      </a:r>
                    </a:p>
                  </a:txBody>
                  <a:tcPr>
                    <a:solidFill>
                      <a:srgbClr val="F9F7F2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W7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对抗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雨战+农民球员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情绪高潮</a:t>
                      </a:r>
                    </a:p>
                  </a:txBody>
                  <a:tcPr/>
                </a:tc>
              </a:tr>
              <a:tr h="5588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W8</a:t>
                      </a:r>
                    </a:p>
                  </a:txBody>
                  <a:tcPr>
                    <a:solidFill>
                      <a:srgbClr val="F9F7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展望</a:t>
                      </a:r>
                    </a:p>
                  </a:txBody>
                  <a:tcPr>
                    <a:solidFill>
                      <a:srgbClr val="F9F7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致游子+长城+未来规划</a:t>
                      </a:r>
                    </a:p>
                  </a:txBody>
                  <a:tcPr>
                    <a:solidFill>
                      <a:srgbClr val="F9F7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品牌收束</a:t>
                      </a:r>
                    </a:p>
                  </a:txBody>
                  <a:tcPr>
                    <a:solidFill>
                      <a:srgbClr val="F9F7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F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D4A017"/>
                </a:solidFill>
              </a:defRPr>
            </a:pPr>
            <a:r>
              <a:t>屯军营，开拍！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FFFFFF"/>
                </a:solidFill>
              </a:defRPr>
            </a:pPr>
            <a:r>
              <a:t>24条脚本已就绪 · 8周执行计划 · 4阶变现路径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1148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66666"/>
                </a:solidFill>
              </a:defRPr>
            </a:pPr>
            <a:r>
              <a:t>策划 &amp; 脚本 by OpenClaw · 2026年6月 · v2.0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