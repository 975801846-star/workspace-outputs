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1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Pre-sessional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Synthesising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Hongxian 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97680"/>
            <a:ext cx="2743200" cy="36576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0124E"/>
                </a:solidFill>
                <a:latin typeface="Calibri"/>
              </a:defRPr>
            </a:pPr>
            <a:r>
              <a:t>From Sources to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4846320" cy="27432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Basic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●  reference  ·  citation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●  paraphrase  /  quote  /  summarise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0000"/>
                </a:solidFill>
                <a:latin typeface="Calibri"/>
              </a:defRPr>
            </a:pPr>
            <a:r>
              <a:t>Enough?   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468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0124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120640" cy="27432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7830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124E"/>
                </a:solidFill>
                <a:latin typeface="Calibri"/>
              </a:defRPr>
            </a:pPr>
            <a:r>
              <a:t>Critical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●  connections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63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●  similarities  ·  differences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566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●  commentary  · 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1081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Foundation → Building.  Sources → Voice.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0124E"/>
                </a:solidFill>
                <a:latin typeface="Calibri"/>
              </a:defRPr>
            </a:pPr>
            <a:r>
              <a:t>The 3-Colour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3383280" cy="1417320"/>
          </a:xfrm>
          <a:prstGeom prst="rect">
            <a:avLst/>
          </a:prstGeom>
          <a:solidFill>
            <a:srgbClr val="FFF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①  Topic /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799222400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0124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43000"/>
            <a:ext cx="3383280" cy="1417320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②  Citations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0124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60" y="1143000"/>
            <a:ext cx="2560320" cy="141732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4630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③  Your Voice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34640"/>
            <a:ext cx="10789920" cy="457200"/>
          </a:xfrm>
          <a:prstGeom prst="rect">
            <a:avLst/>
          </a:prstGeom>
          <a:solidFill>
            <a:srgbClr val="FFF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529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Tattooed applicants face discrimination in the workplace 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83280"/>
            <a:ext cx="10789920" cy="1188720"/>
          </a:xfrm>
          <a:prstGeom prst="rect">
            <a:avLst/>
          </a:prstGeom>
          <a:solidFill>
            <a:srgbClr val="DB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0156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Bekhor et al. (1995): managers averse to tattooed employees</a:t>
            </a:r>
            <a:br/>
            <a:r>
              <a:t>Swanger (2006): 80%+ HR managers — negative feelings</a:t>
            </a:r>
            <a:br/>
            <a:r>
              <a:t>Miller et al. (2009): co-workers avoid tattooed teammates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663440"/>
            <a:ext cx="1078992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817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→  HR managers hold widely antagonistic views toward body art.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French et al. (2018), Human Relations, 72(5)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081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Your voice leads.  Sources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0124E"/>
                </a:solidFill>
                <a:latin typeface="Calibri"/>
              </a:defRPr>
            </a:pPr>
            <a:r>
              <a:t>Apply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5029200" cy="32004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0124E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High-fat diet  →  brain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Write a paragraph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0000"/>
                </a:solidFill>
                <a:latin typeface="Calibri"/>
              </a:defRPr>
            </a:pPr>
            <a:r>
              <a:t>⚠️  见 Additional materials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303520" cy="32004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0124E"/>
                </a:solidFill>
                <a:latin typeface="Calibri"/>
              </a:defRPr>
            </a:pPr>
            <a:r>
              <a:t>Synthesis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774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Calibri"/>
              </a:defRPr>
            </a:pPr>
            <a:r>
              <a:t>connections</a:t>
            </a:r>
            <a:br/>
            <a:r>
              <a:t>+ similarities · differences</a:t>
            </a:r>
            <a:br/>
            <a:r>
              <a:t>+ commentary · evaluation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749039"/>
            <a:ext cx="2743200" cy="45720"/>
          </a:xfrm>
          <a:prstGeom prst="rect">
            <a:avLst/>
          </a:prstGeom>
          <a:solidFill>
            <a:srgbClr val="301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8862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0124E"/>
                </a:solidFill>
                <a:latin typeface="Calibri"/>
              </a:defRPr>
            </a:pPr>
            <a:r>
              <a:t>=  Your 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081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Voice + evidence = synthesis.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0124E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3429000" cy="32004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0124E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124E"/>
                </a:solidFill>
                <a:latin typeface="Calibri"/>
              </a:defRPr>
            </a:pPr>
            <a:r>
              <a:t>Sources →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603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Cite + paraphrase</a:t>
            </a:r>
            <a:br/>
            <a:r>
              <a:t>→ Connect + evaluate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3429000" cy="32004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0124E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124E"/>
                </a:solidFill>
                <a:latin typeface="Calibri"/>
              </a:defRPr>
            </a:pPr>
            <a:r>
              <a:t>3-Colour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603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Topic  →  Citations</a:t>
            </a:r>
            <a:br/>
            <a:r>
              <a:t>→  Your Voice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463040"/>
            <a:ext cx="3429000" cy="320040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645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0124E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39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0124E"/>
                </a:solidFill>
                <a:latin typeface="Calibri"/>
              </a:defRPr>
            </a:pPr>
            <a:r>
              <a:t>Your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25603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Weave evidence</a:t>
            </a:r>
            <a:br/>
            <a:r>
              <a:t>Lead with argument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081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124E"/>
                </a:solidFill>
                <a:latin typeface="Calibri"/>
              </a:defRPr>
            </a:pPr>
            <a:r>
              <a:t>Synthesis = your voice + evidence, woven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