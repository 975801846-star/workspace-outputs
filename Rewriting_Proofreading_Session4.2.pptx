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12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7C3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PRE-SESSIONAL PROGRAMME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Rewriting &amp; Proofreading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572000"/>
            <a:ext cx="4114800" cy="36576"/>
          </a:xfrm>
          <a:prstGeom prst="rect">
            <a:avLst/>
          </a:prstGeom>
          <a:solidFill>
            <a:srgbClr val="7C3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846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Session 4.2  |  Loughborough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502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02379"/>
                </a:solidFill>
                <a:latin typeface="Calibri"/>
              </a:defRPr>
            </a:pPr>
            <a:r>
              <a:t>Your assignment → edit → rewrite → proofread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60175" y="635508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02379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502379"/>
                </a:solidFill>
                <a:latin typeface="Calibri"/>
              </a:defRPr>
            </a:pPr>
            <a:r>
              <a:t>Intended Learning Outcomes</a:t>
            </a:r>
          </a:p>
        </p:txBody>
      </p:sp>
      <p:sp>
        <p:nvSpPr>
          <p:cNvPr id="7" name="Oval 6"/>
          <p:cNvSpPr/>
          <p:nvPr/>
        </p:nvSpPr>
        <p:spPr>
          <a:xfrm>
            <a:off x="10820095" y="274320"/>
            <a:ext cx="731520" cy="73152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200"/>
              </a:spcAft>
              <a:defRPr sz="2000" b="1">
                <a:solidFill>
                  <a:srgbClr val="000000"/>
                </a:solidFill>
                <a:latin typeface="Calibri"/>
              </a:defRPr>
            </a:pPr>
            <a:r>
              <a:t>●  Use general feedback to improve coursework</a:t>
            </a:r>
          </a:p>
          <a:p>
            <a:pPr>
              <a:spcAft>
                <a:spcPts val="3200"/>
              </a:spcAft>
              <a:defRPr sz="2000" b="1">
                <a:solidFill>
                  <a:srgbClr val="000000"/>
                </a:solidFill>
                <a:latin typeface="Calibri"/>
              </a:defRPr>
            </a:pPr>
            <a:r>
              <a:t>●  Rewrite work to avoid plagiarism</a:t>
            </a:r>
          </a:p>
          <a:p>
            <a:pPr>
              <a:spcAft>
                <a:spcPts val="3200"/>
              </a:spcAft>
              <a:defRPr sz="2000" b="1">
                <a:solidFill>
                  <a:srgbClr val="000000"/>
                </a:solidFill>
                <a:latin typeface="Calibri"/>
              </a:defRPr>
            </a:pPr>
            <a:r>
              <a:t>●  Understand Turnitin similarity reports</a:t>
            </a:r>
          </a:p>
          <a:p>
            <a:pPr>
              <a:spcAft>
                <a:spcPts val="3200"/>
              </a:spcAft>
              <a:defRPr sz="2000" b="1">
                <a:solidFill>
                  <a:srgbClr val="000000"/>
                </a:solidFill>
                <a:latin typeface="Calibri"/>
              </a:defRPr>
            </a:pPr>
            <a:r>
              <a:t>●  Apply proofreading strategies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502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02379"/>
                </a:solidFill>
                <a:latin typeface="Calibri"/>
              </a:defRPr>
            </a:pPr>
            <a:r>
              <a:t>Paraphrase ≠ change a few words — it means rethinking the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60175" y="635508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02379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502379"/>
                </a:solidFill>
                <a:latin typeface="Calibri"/>
              </a:defRPr>
            </a:pPr>
            <a:r>
              <a:t>Rewriting to Avoid Plagiarism</a:t>
            </a:r>
          </a:p>
        </p:txBody>
      </p:sp>
      <p:sp>
        <p:nvSpPr>
          <p:cNvPr id="7" name="Oval 6"/>
          <p:cNvSpPr/>
          <p:nvPr/>
        </p:nvSpPr>
        <p:spPr>
          <a:xfrm>
            <a:off x="10820095" y="274320"/>
            <a:ext cx="731520" cy="73152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200"/>
              </a:spcAft>
              <a:defRPr sz="2000" b="1">
                <a:solidFill>
                  <a:srgbClr val="000000"/>
                </a:solidFill>
                <a:latin typeface="Calibri"/>
              </a:defRPr>
            </a:pPr>
            <a:r>
              <a:t>●  Turnitin checks similarity — not "plagiarism"</a:t>
            </a:r>
          </a:p>
          <a:p>
            <a:pPr>
              <a:spcAft>
                <a:spcPts val="3200"/>
              </a:spcAft>
              <a:defRPr sz="2000" b="1">
                <a:solidFill>
                  <a:srgbClr val="000000"/>
                </a:solidFill>
                <a:latin typeface="Calibri"/>
              </a:defRPr>
            </a:pPr>
            <a:r>
              <a:t>●  Highlighted text = matched source, not cited correctly</a:t>
            </a:r>
          </a:p>
          <a:p>
            <a:pPr>
              <a:spcAft>
                <a:spcPts val="3200"/>
              </a:spcAft>
              <a:defRPr sz="2000" b="1">
                <a:solidFill>
                  <a:srgbClr val="000000"/>
                </a:solidFill>
                <a:latin typeface="Calibri"/>
              </a:defRPr>
            </a:pPr>
            <a:r>
              <a:t>●  Limited paraphrase ≠ genuine rewrite</a:t>
            </a:r>
          </a:p>
          <a:p>
            <a:pPr>
              <a:spcAft>
                <a:spcPts val="3200"/>
              </a:spcAft>
              <a:defRPr sz="2000" b="1">
                <a:solidFill>
                  <a:srgbClr val="000000"/>
                </a:solidFill>
                <a:latin typeface="Calibri"/>
              </a:defRPr>
            </a:pPr>
            <a:r>
              <a:t>●  Copy-paste + citation ≠ acceptable academic writing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502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02379"/>
                </a:solidFill>
                <a:latin typeface="Calibri"/>
              </a:defRPr>
            </a:pPr>
            <a:r>
              <a:t>Pink highlights + missing citations = academic integrity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60175" y="635508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02379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502379"/>
                </a:solidFill>
                <a:latin typeface="Calibri"/>
              </a:defRPr>
            </a:pPr>
            <a:r>
              <a:t>Turnitin Report: What to Look For</a:t>
            </a:r>
          </a:p>
        </p:txBody>
      </p:sp>
      <p:sp>
        <p:nvSpPr>
          <p:cNvPr id="7" name="Oval 6"/>
          <p:cNvSpPr/>
          <p:nvPr/>
        </p:nvSpPr>
        <p:spPr>
          <a:xfrm>
            <a:off x="10820095" y="274320"/>
            <a:ext cx="731520" cy="73152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200"/>
              </a:spcAft>
              <a:defRPr sz="2000" b="1">
                <a:solidFill>
                  <a:srgbClr val="000000"/>
                </a:solidFill>
                <a:latin typeface="Calibri"/>
              </a:defRPr>
            </a:pPr>
            <a:r>
              <a:t>●  Pink/red highlights → text matches a published source</a:t>
            </a:r>
          </a:p>
          <a:p>
            <a:pPr>
              <a:spcAft>
                <a:spcPts val="3200"/>
              </a:spcAft>
              <a:defRPr sz="2000" b="1">
                <a:solidFill>
                  <a:srgbClr val="000000"/>
                </a:solidFill>
                <a:latin typeface="Calibri"/>
              </a:defRPr>
            </a:pPr>
            <a:r>
              <a:t>●  Numbered tags [1] → specific matched source ID</a:t>
            </a:r>
          </a:p>
          <a:p>
            <a:pPr>
              <a:spcAft>
                <a:spcPts val="3200"/>
              </a:spcAft>
              <a:defRPr sz="2000" b="1">
                <a:solidFill>
                  <a:srgbClr val="000000"/>
                </a:solidFill>
                <a:latin typeface="Calibri"/>
              </a:defRPr>
            </a:pPr>
            <a:r>
              <a:t>●  Missing or incorrect in-text citations</a:t>
            </a:r>
          </a:p>
          <a:p>
            <a:pPr>
              <a:spcAft>
                <a:spcPts val="3200"/>
              </a:spcAft>
              <a:defRPr sz="2000" b="1">
                <a:solidFill>
                  <a:srgbClr val="000000"/>
                </a:solidFill>
                <a:latin typeface="Calibri"/>
              </a:defRPr>
            </a:pPr>
            <a:r>
              <a:t>●  Near-identical wording → insufficient paraphrase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502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02379"/>
                </a:solidFill>
                <a:latin typeface="Calibri"/>
              </a:defRPr>
            </a:pPr>
            <a:r>
              <a:t>If it reads like the original, it IS the original — rewrite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60175" y="635508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02379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502379"/>
                </a:solidFill>
                <a:latin typeface="Calibri"/>
              </a:defRPr>
            </a:pPr>
            <a:r>
              <a:t>Common Mistakes in Student Writing</a:t>
            </a:r>
          </a:p>
        </p:txBody>
      </p:sp>
      <p:sp>
        <p:nvSpPr>
          <p:cNvPr id="7" name="Oval 6"/>
          <p:cNvSpPr/>
          <p:nvPr/>
        </p:nvSpPr>
        <p:spPr>
          <a:xfrm>
            <a:off x="10820095" y="274320"/>
            <a:ext cx="731520" cy="73152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200"/>
              </a:spcAft>
              <a:defRPr sz="2000" b="1">
                <a:solidFill>
                  <a:srgbClr val="000000"/>
                </a:solidFill>
                <a:latin typeface="Calibri"/>
              </a:defRPr>
            </a:pPr>
            <a:r>
              <a:t>●  Using source information without correct citation</a:t>
            </a:r>
          </a:p>
          <a:p>
            <a:pPr>
              <a:spcAft>
                <a:spcPts val="3200"/>
              </a:spcAft>
              <a:defRPr sz="2000" b="1">
                <a:solidFill>
                  <a:srgbClr val="000000"/>
                </a:solidFill>
                <a:latin typeface="Calibri"/>
              </a:defRPr>
            </a:pPr>
            <a:r>
              <a:t>●  Changing only a few words → still matches original</a:t>
            </a:r>
          </a:p>
          <a:p>
            <a:pPr>
              <a:spcAft>
                <a:spcPts val="3200"/>
              </a:spcAft>
              <a:defRPr sz="2000" b="1">
                <a:solidFill>
                  <a:srgbClr val="000000"/>
                </a:solidFill>
                <a:latin typeface="Calibri"/>
              </a:defRPr>
            </a:pPr>
            <a:r>
              <a:t>●  Copying sentence structure → structural plagiarism</a:t>
            </a:r>
          </a:p>
          <a:p>
            <a:pPr>
              <a:spcAft>
                <a:spcPts val="3200"/>
              </a:spcAft>
              <a:defRPr sz="2000" b="1">
                <a:solidFill>
                  <a:srgbClr val="000000"/>
                </a:solidFill>
                <a:latin typeface="Calibri"/>
              </a:defRPr>
            </a:pPr>
            <a:r>
              <a:t>●  Forgetting secondary referencing format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502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02379"/>
                </a:solidFill>
                <a:latin typeface="Calibri"/>
              </a:defRPr>
            </a:pPr>
            <a:r>
              <a:t>Summarise + cite correctly = no plagiarism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60175" y="635508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02379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502379"/>
                </a:solidFill>
                <a:latin typeface="Calibri"/>
              </a:defRPr>
            </a:pPr>
            <a:r>
              <a:t>Solutions: How to Rewrite Correctly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68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Calibri"/>
              </a:defRPr>
            </a:pPr>
            <a:r>
              <a:t>Two key strategies</a:t>
            </a:r>
          </a:p>
        </p:txBody>
      </p:sp>
      <p:sp>
        <p:nvSpPr>
          <p:cNvPr id="8" name="Oval 7"/>
          <p:cNvSpPr/>
          <p:nvPr/>
        </p:nvSpPr>
        <p:spPr>
          <a:xfrm>
            <a:off x="10820095" y="274320"/>
            <a:ext cx="731520" cy="73152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4592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00"/>
              </a:spcAft>
              <a:defRPr sz="1800" b="1">
                <a:solidFill>
                  <a:srgbClr val="000000"/>
                </a:solidFill>
                <a:latin typeface="Calibri"/>
              </a:defRPr>
            </a:pPr>
            <a:r>
              <a:t>●  Strategy 1: Summarise in your own words</a:t>
            </a:r>
          </a:p>
          <a:p>
            <a:pPr>
              <a:spcAft>
                <a:spcPts val="2800"/>
              </a:spcAft>
              <a:defRPr sz="1800" b="1">
                <a:solidFill>
                  <a:srgbClr val="000000"/>
                </a:solidFill>
                <a:latin typeface="Calibri"/>
              </a:defRPr>
            </a:pPr>
            <a:r>
              <a:t>    → Read → cover → write from memory → check</a:t>
            </a:r>
          </a:p>
          <a:p>
            <a:pPr>
              <a:spcAft>
                <a:spcPts val="2800"/>
              </a:spcAft>
              <a:defRPr sz="1800" b="1">
                <a:solidFill>
                  <a:srgbClr val="000000"/>
                </a:solidFill>
                <a:latin typeface="Calibri"/>
              </a:defRPr>
            </a:pPr>
            <a:r>
              <a:t>●  Strategy 2: Use correct citation format</a:t>
            </a:r>
          </a:p>
          <a:p>
            <a:pPr>
              <a:spcAft>
                <a:spcPts val="2800"/>
              </a:spcAft>
              <a:defRPr sz="1800" b="1">
                <a:solidFill>
                  <a:srgbClr val="000000"/>
                </a:solidFill>
                <a:latin typeface="Calibri"/>
              </a:defRPr>
            </a:pPr>
            <a:r>
              <a:t>    → Direct quote: "...", (Author, Year, p.X)</a:t>
            </a:r>
          </a:p>
          <a:p>
            <a:pPr>
              <a:spcAft>
                <a:spcPts val="2800"/>
              </a:spcAft>
              <a:defRPr sz="1800" b="1">
                <a:solidFill>
                  <a:srgbClr val="000000"/>
                </a:solidFill>
                <a:latin typeface="Calibri"/>
              </a:defRPr>
            </a:pPr>
            <a:r>
              <a:t>    → Secondary: (Author, Year cited in Author, Year, p.X)</a:t>
            </a:r>
          </a:p>
          <a:p>
            <a:pPr>
              <a:spcAft>
                <a:spcPts val="2800"/>
              </a:spcAft>
              <a:defRPr sz="1800" b="1">
                <a:solidFill>
                  <a:srgbClr val="000000"/>
                </a:solidFill>
                <a:latin typeface="Calibri"/>
              </a:defRPr>
            </a:pPr>
            <a:r>
              <a:t>●  Strategy 3: Quotation marks for untranslatable terms</a:t>
            </a:r>
          </a:p>
          <a:p>
            <a:pPr>
              <a:spcAft>
                <a:spcPts val="2800"/>
              </a:spcAft>
              <a:defRPr sz="1800" b="1">
                <a:solidFill>
                  <a:srgbClr val="000000"/>
                </a:solidFill>
                <a:latin typeface="Calibri"/>
              </a:defRPr>
            </a:pPr>
            <a:r>
              <a:t>    → e.g. "...additional touch points, direct transactions..."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502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02379"/>
                </a:solidFill>
                <a:latin typeface="Calibri"/>
              </a:defRPr>
            </a:pPr>
            <a:r>
              <a:t>Proofreading = the difference between passing and failing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60175" y="635508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02379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502379"/>
                </a:solidFill>
                <a:latin typeface="Calibri"/>
              </a:defRPr>
            </a:pPr>
            <a:r>
              <a:t>Proofreading: Final Check Before Submission</a:t>
            </a:r>
          </a:p>
        </p:txBody>
      </p:sp>
      <p:sp>
        <p:nvSpPr>
          <p:cNvPr id="7" name="Oval 6"/>
          <p:cNvSpPr/>
          <p:nvPr/>
        </p:nvSpPr>
        <p:spPr>
          <a:xfrm>
            <a:off x="10820095" y="274320"/>
            <a:ext cx="731520" cy="73152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0"/>
              </a:spcAft>
              <a:defRPr sz="2000" b="1">
                <a:solidFill>
                  <a:srgbClr val="000000"/>
                </a:solidFill>
                <a:latin typeface="Calibri"/>
              </a:defRPr>
            </a:pPr>
            <a:r>
              <a:t>●  Check spelling &amp; grammar → every sentence</a:t>
            </a:r>
          </a:p>
          <a:p>
            <a:pPr>
              <a:spcAft>
                <a:spcPts val="3000"/>
              </a:spcAft>
              <a:defRPr sz="2000" b="1">
                <a:solidFill>
                  <a:srgbClr val="000000"/>
                </a:solidFill>
                <a:latin typeface="Calibri"/>
              </a:defRPr>
            </a:pPr>
            <a:r>
              <a:t>●  Verify all citations: format + page numbers</a:t>
            </a:r>
          </a:p>
          <a:p>
            <a:pPr>
              <a:spcAft>
                <a:spcPts val="3000"/>
              </a:spcAft>
              <a:defRPr sz="2000" b="1">
                <a:solidFill>
                  <a:srgbClr val="000000"/>
                </a:solidFill>
                <a:latin typeface="Calibri"/>
              </a:defRPr>
            </a:pPr>
            <a:r>
              <a:t>●  Read aloud → catch unnatural phrasing</a:t>
            </a:r>
          </a:p>
          <a:p>
            <a:pPr>
              <a:spcAft>
                <a:spcPts val="3000"/>
              </a:spcAft>
              <a:defRPr sz="2000" b="1">
                <a:solidFill>
                  <a:srgbClr val="000000"/>
                </a:solidFill>
                <a:latin typeface="Calibri"/>
              </a:defRPr>
            </a:pPr>
            <a:r>
              <a:t>●  Cross-check Turnitin report → pink = rewrite</a:t>
            </a:r>
          </a:p>
          <a:p>
            <a:pPr>
              <a:spcAft>
                <a:spcPts val="3000"/>
              </a:spcAft>
              <a:defRPr sz="2000" b="1">
                <a:solidFill>
                  <a:srgbClr val="000000"/>
                </a:solidFill>
                <a:latin typeface="Calibri"/>
              </a:defRPr>
            </a:pPr>
            <a:r>
              <a:t>●  Leave 5-10 min after writing before proofreading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