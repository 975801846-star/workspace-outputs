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1 · 标题页</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LLP307 An Introduction to Sport Analytics</a:t>
            </a:r>
          </a:p>
          <a:p>
            <a:pPr>
              <a:spcAft>
                <a:spcPts val="400"/>
              </a:spcAft>
            </a:pPr>
            <a:r>
              <a:rPr sz="1400">
                <a:solidFill>
                  <a:srgbClr val="202020"/>
                </a:solidFill>
              </a:rPr>
              <a:t>Bess Chan</a:t>
            </a:r>
          </a:p>
          <a:p>
            <a:pPr>
              <a:spcAft>
                <a:spcPts val="400"/>
              </a:spcAft>
            </a:pPr>
            <a:r>
              <a:rPr sz="1400">
                <a:solidFill>
                  <a:srgbClr val="202020"/>
                </a:solidFill>
              </a:rPr>
              <a:t>English for Academic Purposes Tutor</a:t>
            </a:r>
          </a:p>
          <a:p>
            <a:pPr>
              <a:spcAft>
                <a:spcPts val="400"/>
              </a:spcAft>
            </a:pPr>
            <a:r>
              <a:rPr sz="1400">
                <a:solidFill>
                  <a:srgbClr val="202020"/>
                </a:solidFill>
              </a:rPr>
              <a:t>p.chan@lboro.ac.uk</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LLP307 体育分析导论</a:t>
            </a:r>
          </a:p>
          <a:p>
            <a:pPr>
              <a:spcAft>
                <a:spcPts val="500"/>
              </a:spcAft>
            </a:pPr>
            <a:r>
              <a:rPr sz="1400">
                <a:solidFill>
                  <a:srgbClr val="333333"/>
                </a:solidFill>
                <a:latin typeface="Microsoft YaHei"/>
              </a:rPr>
              <a:t>Bess Chan（学术英语辅导老师）</a:t>
            </a:r>
          </a:p>
          <a:p>
            <a:pPr>
              <a:spcAft>
                <a:spcPts val="500"/>
              </a:spcAft>
            </a:pPr>
            <a:r>
              <a:rPr sz="1400">
                <a:solidFill>
                  <a:srgbClr val="333333"/>
                </a:solidFill>
                <a:latin typeface="Microsoft YaHei"/>
              </a:rPr>
              <a:t>p.chan@lboro.ac.uk</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2 · Intended Learning Objectives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By the end of this session, you should be able to have a better understanding of:</a:t>
            </a:r>
          </a:p>
          <a:p>
            <a:pPr>
              <a:spcAft>
                <a:spcPts val="400"/>
              </a:spcAft>
            </a:pPr>
            <a:r>
              <a:rPr sz="1400">
                <a:solidFill>
                  <a:srgbClr val="202020"/>
                </a:solidFill>
              </a:rPr>
              <a:t>• A report you need to write for your assessment</a:t>
            </a:r>
          </a:p>
          <a:p>
            <a:pPr>
              <a:spcAft>
                <a:spcPts val="400"/>
              </a:spcAft>
            </a:pPr>
            <a:r>
              <a:rPr sz="1400">
                <a:solidFill>
                  <a:srgbClr val="202020"/>
                </a:solidFill>
              </a:rPr>
              <a:t>• Planning your writing</a:t>
            </a:r>
          </a:p>
          <a:p>
            <a:pPr>
              <a:spcAft>
                <a:spcPts val="400"/>
              </a:spcAft>
            </a:pPr>
            <a:r>
              <a:rPr sz="1400">
                <a:solidFill>
                  <a:srgbClr val="202020"/>
                </a:solidFill>
              </a:rPr>
              <a:t>• Writing critically</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预期学习目标</a:t>
            </a:r>
          </a:p>
          <a:p>
            <a:pPr>
              <a:spcAft>
                <a:spcPts val="500"/>
              </a:spcAft>
            </a:pPr>
            <a:r>
              <a:rPr sz="1400">
                <a:solidFill>
                  <a:srgbClr val="333333"/>
                </a:solidFill>
                <a:latin typeface="Microsoft YaHei"/>
              </a:rPr>
              <a:t>本课结束时你应更好理解：</a:t>
            </a:r>
          </a:p>
          <a:p>
            <a:pPr>
              <a:spcAft>
                <a:spcPts val="500"/>
              </a:spcAft>
            </a:pPr>
            <a:r>
              <a:rPr sz="1400">
                <a:solidFill>
                  <a:srgbClr val="333333"/>
                </a:solidFill>
                <a:latin typeface="Microsoft YaHei"/>
              </a:rPr>
              <a:t>• 你要为评估写的一份报告</a:t>
            </a:r>
          </a:p>
          <a:p>
            <a:pPr>
              <a:spcAft>
                <a:spcPts val="500"/>
              </a:spcAft>
            </a:pPr>
            <a:r>
              <a:rPr sz="1400">
                <a:solidFill>
                  <a:srgbClr val="333333"/>
                </a:solidFill>
                <a:latin typeface="Microsoft YaHei"/>
              </a:rPr>
              <a:t>• 规划写作</a:t>
            </a:r>
          </a:p>
          <a:p>
            <a:pPr>
              <a:spcAft>
                <a:spcPts val="500"/>
              </a:spcAft>
            </a:pPr>
            <a:r>
              <a:rPr sz="1400">
                <a:solidFill>
                  <a:srgbClr val="333333"/>
                </a:solidFill>
                <a:latin typeface="Microsoft YaHei"/>
              </a:rPr>
              <a:t>• 批判性写作</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 · Assessment Overview</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What do you know already?</a:t>
            </a:r>
          </a:p>
          <a:p>
            <a:pPr>
              <a:spcAft>
                <a:spcPts val="400"/>
              </a:spcAft>
            </a:pPr>
            <a:r>
              <a:rPr sz="1400">
                <a:solidFill>
                  <a:srgbClr val="202020"/>
                </a:solidFill>
              </a:rPr>
              <a:t>• How much is this assessment worth?</a:t>
            </a:r>
          </a:p>
          <a:p>
            <a:pPr>
              <a:spcAft>
                <a:spcPts val="400"/>
              </a:spcAft>
            </a:pPr>
            <a:r>
              <a:rPr sz="1400">
                <a:solidFill>
                  <a:srgbClr val="202020"/>
                </a:solidFill>
              </a:rPr>
              <a:t>• When is the submission date?</a:t>
            </a:r>
          </a:p>
          <a:p>
            <a:pPr>
              <a:spcAft>
                <a:spcPts val="400"/>
              </a:spcAft>
            </a:pPr>
            <a:r>
              <a:rPr sz="1400">
                <a:solidFill>
                  <a:srgbClr val="202020"/>
                </a:solidFill>
              </a:rPr>
              <a:t>• What is the word count?</a:t>
            </a:r>
          </a:p>
          <a:p>
            <a:pPr>
              <a:spcAft>
                <a:spcPts val="400"/>
              </a:spcAft>
            </a:pPr>
            <a:r>
              <a:rPr sz="1400">
                <a:solidFill>
                  <a:srgbClr val="202020"/>
                </a:solidFill>
              </a:rPr>
              <a:t>• What is the task?</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评估总览</a:t>
            </a:r>
          </a:p>
          <a:p>
            <a:pPr>
              <a:spcAft>
                <a:spcPts val="500"/>
              </a:spcAft>
            </a:pPr>
            <a:r>
              <a:rPr sz="1400">
                <a:solidFill>
                  <a:srgbClr val="333333"/>
                </a:solidFill>
                <a:latin typeface="Microsoft YaHei"/>
              </a:rPr>
              <a:t>你目前知道什么？</a:t>
            </a:r>
          </a:p>
          <a:p>
            <a:pPr>
              <a:spcAft>
                <a:spcPts val="500"/>
              </a:spcAft>
            </a:pPr>
            <a:r>
              <a:rPr sz="1400">
                <a:solidFill>
                  <a:srgbClr val="333333"/>
                </a:solidFill>
                <a:latin typeface="Microsoft YaHei"/>
              </a:rPr>
              <a:t>• 占多少分？</a:t>
            </a:r>
          </a:p>
          <a:p>
            <a:pPr>
              <a:spcAft>
                <a:spcPts val="500"/>
              </a:spcAft>
            </a:pPr>
            <a:r>
              <a:rPr sz="1400">
                <a:solidFill>
                  <a:srgbClr val="333333"/>
                </a:solidFill>
                <a:latin typeface="Microsoft YaHei"/>
              </a:rPr>
              <a:t>• 截止日期？</a:t>
            </a:r>
          </a:p>
          <a:p>
            <a:pPr>
              <a:spcAft>
                <a:spcPts val="500"/>
              </a:spcAft>
            </a:pPr>
            <a:r>
              <a:rPr sz="1400">
                <a:solidFill>
                  <a:srgbClr val="333333"/>
                </a:solidFill>
                <a:latin typeface="Microsoft YaHei"/>
              </a:rPr>
              <a:t>• 字数？</a:t>
            </a:r>
          </a:p>
          <a:p>
            <a:pPr>
              <a:spcAft>
                <a:spcPts val="500"/>
              </a:spcAft>
            </a:pPr>
            <a:r>
              <a:rPr sz="1400">
                <a:solidFill>
                  <a:srgbClr val="333333"/>
                </a:solidFill>
                <a:latin typeface="Microsoft YaHei"/>
              </a:rPr>
              <a:t>• 任务是什么？</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4 · Assessment Overview</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Weighting: 100% of the module</a:t>
            </a:r>
          </a:p>
          <a:p>
            <a:pPr>
              <a:spcAft>
                <a:spcPts val="400"/>
              </a:spcAft>
            </a:pPr>
            <a:r>
              <a:rPr sz="1400">
                <a:solidFill>
                  <a:srgbClr val="202020"/>
                </a:solidFill>
              </a:rPr>
              <a:t>Submission Date: Friday 24th October 2025 3:00pm</a:t>
            </a:r>
          </a:p>
          <a:p>
            <a:pPr>
              <a:spcAft>
                <a:spcPts val="400"/>
              </a:spcAft>
            </a:pPr>
            <a:r>
              <a:rPr sz="1400">
                <a:solidFill>
                  <a:srgbClr val="202020"/>
                </a:solidFill>
              </a:rPr>
              <a:t>Length: 1500 words (+/- 10%), i.e. 1350-1650</a:t>
            </a:r>
          </a:p>
          <a:p>
            <a:pPr>
              <a:spcAft>
                <a:spcPts val="400"/>
              </a:spcAft>
            </a:pPr>
            <a:r>
              <a:rPr sz="1400">
                <a:solidFill>
                  <a:srgbClr val="202020"/>
                </a:solidFill>
              </a:rPr>
              <a:t>Task: Consider a scenario given by your tutor, and write a research report</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评估总览（答案）</a:t>
            </a:r>
          </a:p>
          <a:p>
            <a:pPr>
              <a:spcAft>
                <a:spcPts val="500"/>
              </a:spcAft>
            </a:pPr>
            <a:r>
              <a:rPr sz="1400">
                <a:solidFill>
                  <a:srgbClr val="333333"/>
                </a:solidFill>
                <a:latin typeface="Microsoft YaHei"/>
              </a:rPr>
              <a:t>权重：占模块 100%</a:t>
            </a:r>
          </a:p>
          <a:p>
            <a:pPr>
              <a:spcAft>
                <a:spcPts val="500"/>
              </a:spcAft>
            </a:pPr>
            <a:r>
              <a:rPr sz="1400">
                <a:solidFill>
                  <a:srgbClr val="333333"/>
                </a:solidFill>
                <a:latin typeface="Microsoft YaHei"/>
              </a:rPr>
              <a:t>截止：2025年10月24日(周五)15:00（⚠️旧版）</a:t>
            </a:r>
          </a:p>
          <a:p>
            <a:pPr>
              <a:spcAft>
                <a:spcPts val="500"/>
              </a:spcAft>
            </a:pPr>
            <a:r>
              <a:rPr sz="1400">
                <a:solidFill>
                  <a:srgbClr val="333333"/>
                </a:solidFill>
                <a:latin typeface="Microsoft YaHei"/>
              </a:rPr>
              <a:t>字数：1500词(±10%=1350–1650)</a:t>
            </a:r>
          </a:p>
          <a:p>
            <a:pPr>
              <a:spcAft>
                <a:spcPts val="500"/>
              </a:spcAft>
            </a:pPr>
            <a:r>
              <a:rPr sz="1400">
                <a:solidFill>
                  <a:srgbClr val="333333"/>
                </a:solidFill>
                <a:latin typeface="Microsoft YaHei"/>
              </a:rPr>
              <a:t>任务：根据导师场景写研究报告</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5 · Brief</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Using the premise that ‘culture shapes and dictates organisational practices’ outline how you, as a new hire would convince your line manager and other top-level individuals at your organisation to adopt this new, AI-based technology and institute a culture of analytics within the organisational operations and create a competitive advantage.</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题目</a:t>
            </a:r>
          </a:p>
          <a:p>
            <a:pPr>
              <a:spcAft>
                <a:spcPts val="500"/>
              </a:spcAft>
            </a:pPr>
            <a:r>
              <a:rPr sz="1400">
                <a:solidFill>
                  <a:srgbClr val="333333"/>
                </a:solidFill>
                <a:latin typeface="Microsoft YaHei"/>
              </a:rPr>
              <a:t>以「文化塑造并主导组织实践」为前提，作为新员工，如何说服你的直线经理与高层：</a:t>
            </a:r>
          </a:p>
          <a:p>
            <a:pPr>
              <a:spcAft>
                <a:spcPts val="500"/>
              </a:spcAft>
            </a:pPr>
            <a:r>
              <a:rPr sz="1400">
                <a:solidFill>
                  <a:srgbClr val="333333"/>
                </a:solidFill>
                <a:latin typeface="Microsoft YaHei"/>
              </a:rPr>
              <a:t>• 采纳这项新型 AI 技术</a:t>
            </a:r>
          </a:p>
          <a:p>
            <a:pPr>
              <a:spcAft>
                <a:spcPts val="500"/>
              </a:spcAft>
            </a:pPr>
            <a:r>
              <a:rPr sz="1400">
                <a:solidFill>
                  <a:srgbClr val="333333"/>
                </a:solidFill>
                <a:latin typeface="Microsoft YaHei"/>
              </a:rPr>
              <a:t>• 建立分析文化</a:t>
            </a:r>
          </a:p>
          <a:p>
            <a:pPr>
              <a:spcAft>
                <a:spcPts val="500"/>
              </a:spcAft>
            </a:pPr>
            <a:r>
              <a:rPr sz="1400">
                <a:solidFill>
                  <a:srgbClr val="333333"/>
                </a:solidFill>
                <a:latin typeface="Microsoft YaHei"/>
              </a:rPr>
              <a:t>• 创造竞争优势</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6 · Requirements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Include the definitions of organisational culture either outlined in the module (e.g., Buchanan &amp; Huczynski, 2017; Deal &amp; Kennedy, 1982; Lundy &amp; Cowling, 1996; Schneider, Brief, &amp; Guzzo, 1996; Skinner and Stewart, 2017), or other key organisational culture literature (e.g., from Dr. Jacky Mueller’s lecture), as well as Alamar’s (2013) sports analytics framework including various leadership components (e.g., transformation, transactional, delegative, participative). Most leadership or organisation literature works from a top-down perspective, but I want you to think of how you would utilise these principles to work from a bottom-up perspective to convince your leadership team.</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要求</a:t>
            </a:r>
          </a:p>
          <a:p>
            <a:pPr>
              <a:spcAft>
                <a:spcPts val="500"/>
              </a:spcAft>
            </a:pPr>
            <a:r>
              <a:rPr sz="1400">
                <a:solidFill>
                  <a:srgbClr val="333333"/>
                </a:solidFill>
                <a:latin typeface="Microsoft YaHei"/>
              </a:rPr>
              <a:t>• 引用组织文化定义（Buchanan&amp;Huczynski 2017 等）</a:t>
            </a:r>
          </a:p>
          <a:p>
            <a:pPr>
              <a:spcAft>
                <a:spcPts val="500"/>
              </a:spcAft>
            </a:pPr>
            <a:r>
              <a:rPr sz="1400">
                <a:solidFill>
                  <a:srgbClr val="333333"/>
                </a:solidFill>
                <a:latin typeface="Microsoft YaHei"/>
              </a:rPr>
              <a:t>• 用 Alamar(2013) 框架 + 领导力要素（变革/交易/委托/参与）</a:t>
            </a:r>
          </a:p>
          <a:p>
            <a:pPr>
              <a:spcAft>
                <a:spcPts val="500"/>
              </a:spcAft>
            </a:pPr>
            <a:r>
              <a:rPr sz="1400">
                <a:solidFill>
                  <a:srgbClr val="333333"/>
                </a:solidFill>
                <a:latin typeface="Microsoft YaHei"/>
              </a:rPr>
              <a:t>• 关键：文献多自上而下，你要思考【自下而上】如何说服领导</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7 · 选择一个领域 Topic</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Topic: Choose either a SPORT/INDUSTRY or a COMMERCIAL DOMAIN</a:t>
            </a:r>
          </a:p>
          <a:p>
            <a:pPr>
              <a:spcAft>
                <a:spcPts val="400"/>
              </a:spcAft>
            </a:pPr>
          </a:p>
          <a:p>
            <a:pPr>
              <a:spcAft>
                <a:spcPts val="400"/>
              </a:spcAft>
            </a:pPr>
            <a:r>
              <a:rPr sz="1400">
                <a:solidFill>
                  <a:srgbClr val="202020"/>
                </a:solidFill>
              </a:rPr>
              <a:t>1. A particular sport or industry</a:t>
            </a:r>
          </a:p>
          <a:p>
            <a:pPr>
              <a:spcAft>
                <a:spcPts val="400"/>
              </a:spcAft>
            </a:pPr>
            <a:r>
              <a:rPr sz="1400">
                <a:solidFill>
                  <a:srgbClr val="202020"/>
                </a:solidFill>
              </a:rPr>
              <a:t>   · Type of sport: Football / Cricket / Boxing / Basketball / Baseball / E-sports</a:t>
            </a:r>
          </a:p>
          <a:p>
            <a:pPr>
              <a:spcAft>
                <a:spcPts val="400"/>
              </a:spcAft>
            </a:pPr>
            <a:r>
              <a:rPr sz="1400">
                <a:solidFill>
                  <a:srgbClr val="202020"/>
                </a:solidFill>
              </a:rPr>
              <a:t>   · Industry: Sports apparel or equipment / Sports betting</a:t>
            </a:r>
          </a:p>
          <a:p>
            <a:pPr>
              <a:spcAft>
                <a:spcPts val="400"/>
              </a:spcAft>
            </a:pPr>
          </a:p>
          <a:p>
            <a:pPr>
              <a:spcAft>
                <a:spcPts val="400"/>
              </a:spcAft>
            </a:pPr>
            <a:r>
              <a:rPr sz="1400">
                <a:solidFill>
                  <a:srgbClr val="202020"/>
                </a:solidFill>
              </a:rPr>
              <a:t>2. Use of AI-based technology in commercial domain</a:t>
            </a:r>
          </a:p>
          <a:p>
            <a:pPr>
              <a:spcAft>
                <a:spcPts val="400"/>
              </a:spcAft>
            </a:pPr>
            <a:r>
              <a:rPr sz="1400">
                <a:solidFill>
                  <a:srgbClr val="202020"/>
                </a:solidFill>
              </a:rPr>
              <a:t>   · Ticketing / Fan engagement / Customer engagement / Fantasy leagues / Sponsorship evaluation</a:t>
            </a:r>
          </a:p>
          <a:p>
            <a:pPr>
              <a:spcAft>
                <a:spcPts val="400"/>
              </a:spcAft>
            </a:pPr>
          </a:p>
          <a:p>
            <a:pPr>
              <a:spcAft>
                <a:spcPts val="400"/>
              </a:spcAft>
            </a:pPr>
            <a:r>
              <a:rPr sz="1400">
                <a:solidFill>
                  <a:srgbClr val="202020"/>
                </a:solidFill>
              </a:rPr>
              <a:t>Areas AI-based technology can be used:</a:t>
            </a:r>
          </a:p>
          <a:p>
            <a:pPr>
              <a:spcAft>
                <a:spcPts val="400"/>
              </a:spcAft>
            </a:pPr>
            <a:r>
              <a:rPr sz="1400">
                <a:solidFill>
                  <a:srgbClr val="202020"/>
                </a:solidFill>
              </a:rPr>
              <a:t>   · Personalised training &amp; injury prevention</a:t>
            </a:r>
          </a:p>
          <a:p>
            <a:pPr>
              <a:spcAft>
                <a:spcPts val="400"/>
              </a:spcAft>
            </a:pPr>
            <a:r>
              <a:rPr sz="1400">
                <a:solidFill>
                  <a:srgbClr val="202020"/>
                </a:solidFill>
              </a:rPr>
              <a:t>   · Performance analysis &amp; technique refinement</a:t>
            </a:r>
          </a:p>
          <a:p>
            <a:pPr>
              <a:spcAft>
                <a:spcPts val="400"/>
              </a:spcAft>
            </a:pPr>
            <a:r>
              <a:rPr sz="1400">
                <a:solidFill>
                  <a:srgbClr val="202020"/>
                </a:solidFill>
              </a:rPr>
              <a:t>   · Advances in talent identification</a:t>
            </a:r>
          </a:p>
          <a:p>
            <a:pPr>
              <a:spcAft>
                <a:spcPts val="400"/>
              </a:spcAft>
            </a:pPr>
            <a:r>
              <a:rPr sz="1400">
                <a:solidFill>
                  <a:srgbClr val="202020"/>
                </a:solidFill>
              </a:rPr>
              <a:t>   · Game plans / tactics for matches</a:t>
            </a:r>
          </a:p>
          <a:p>
            <a:pPr>
              <a:spcAft>
                <a:spcPts val="400"/>
              </a:spcAft>
            </a:pPr>
            <a:r>
              <a:rPr sz="1400">
                <a:solidFill>
                  <a:srgbClr val="202020"/>
                </a:solidFill>
              </a:rPr>
              <a:t>   · Personalisation of content</a:t>
            </a:r>
          </a:p>
          <a:p>
            <a:pPr>
              <a:spcAft>
                <a:spcPts val="400"/>
              </a:spcAft>
            </a:pPr>
            <a:r>
              <a:rPr sz="1400">
                <a:solidFill>
                  <a:srgbClr val="202020"/>
                </a:solidFill>
              </a:rPr>
              <a:t>   · Automated sports journalism</a:t>
            </a:r>
          </a:p>
          <a:p>
            <a:pPr>
              <a:spcAft>
                <a:spcPts val="400"/>
              </a:spcAft>
            </a:pPr>
            <a:r>
              <a:rPr sz="1400">
                <a:solidFill>
                  <a:srgbClr val="202020"/>
                </a:solidFill>
              </a:rPr>
              <a:t>   · Optimisation of broadcasts</a:t>
            </a:r>
          </a:p>
          <a:p>
            <a:pPr>
              <a:spcAft>
                <a:spcPts val="400"/>
              </a:spcAft>
            </a:pPr>
            <a:r>
              <a:rPr sz="1400">
                <a:solidFill>
                  <a:srgbClr val="202020"/>
                </a:solidFill>
              </a:rPr>
              <a:t>   · Fan engagement &amp; marketing</a:t>
            </a:r>
          </a:p>
          <a:p>
            <a:pPr>
              <a:spcAft>
                <a:spcPts val="400"/>
              </a:spcAft>
            </a:pPr>
            <a:r>
              <a:rPr sz="1400">
                <a:solidFill>
                  <a:srgbClr val="202020"/>
                </a:solidFill>
              </a:rPr>
              <a:t>   · Automated refereeing</a:t>
            </a:r>
          </a:p>
          <a:p>
            <a:pPr>
              <a:spcAft>
                <a:spcPts val="400"/>
              </a:spcAft>
            </a:pPr>
            <a:r>
              <a:rPr sz="1400">
                <a:solidFill>
                  <a:srgbClr val="202020"/>
                </a:solidFill>
              </a:rPr>
              <a:t>   · Event security / abuse</a:t>
            </a:r>
          </a:p>
          <a:p>
            <a:pPr>
              <a:spcAft>
                <a:spcPts val="400"/>
              </a:spcAft>
            </a:pPr>
            <a:r>
              <a:rPr sz="1400">
                <a:solidFill>
                  <a:srgbClr val="202020"/>
                </a:solidFill>
              </a:rPr>
              <a:t>   · Sustainability</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选择一个领域（主题）</a:t>
            </a:r>
          </a:p>
          <a:p>
            <a:pPr>
              <a:spcAft>
                <a:spcPts val="500"/>
              </a:spcAft>
            </a:pPr>
          </a:p>
          <a:p>
            <a:pPr>
              <a:spcAft>
                <a:spcPts val="500"/>
              </a:spcAft>
            </a:pPr>
            <a:r>
              <a:rPr sz="1400">
                <a:solidFill>
                  <a:srgbClr val="333333"/>
                </a:solidFill>
                <a:latin typeface="Microsoft YaHei"/>
              </a:rPr>
              <a:t>选「运动/行业」或「商业领域」其一：</a:t>
            </a:r>
          </a:p>
          <a:p>
            <a:pPr>
              <a:spcAft>
                <a:spcPts val="500"/>
              </a:spcAft>
            </a:pPr>
          </a:p>
          <a:p>
            <a:pPr>
              <a:spcAft>
                <a:spcPts val="500"/>
              </a:spcAft>
            </a:pPr>
            <a:r>
              <a:rPr sz="1400">
                <a:solidFill>
                  <a:srgbClr val="333333"/>
                </a:solidFill>
                <a:latin typeface="Microsoft YaHei"/>
              </a:rPr>
              <a:t>1. 某个运动或行业</a:t>
            </a:r>
          </a:p>
          <a:p>
            <a:pPr>
              <a:spcAft>
                <a:spcPts val="500"/>
              </a:spcAft>
            </a:pPr>
            <a:r>
              <a:rPr sz="1400">
                <a:solidFill>
                  <a:srgbClr val="333333"/>
                </a:solidFill>
                <a:latin typeface="Microsoft YaHei"/>
              </a:rPr>
              <a:t>   · 运动类型：足球/板球/拳击/篮球/棒球/电竞</a:t>
            </a:r>
          </a:p>
          <a:p>
            <a:pPr>
              <a:spcAft>
                <a:spcPts val="500"/>
              </a:spcAft>
            </a:pPr>
            <a:r>
              <a:rPr sz="1400">
                <a:solidFill>
                  <a:srgbClr val="333333"/>
                </a:solidFill>
                <a:latin typeface="Microsoft YaHei"/>
              </a:rPr>
              <a:t>   · 行业：运动服装装备/体育博彩</a:t>
            </a:r>
          </a:p>
          <a:p>
            <a:pPr>
              <a:spcAft>
                <a:spcPts val="500"/>
              </a:spcAft>
            </a:pPr>
          </a:p>
          <a:p>
            <a:pPr>
              <a:spcAft>
                <a:spcPts val="500"/>
              </a:spcAft>
            </a:pPr>
            <a:r>
              <a:rPr sz="1400">
                <a:solidFill>
                  <a:srgbClr val="333333"/>
                </a:solidFill>
                <a:latin typeface="Microsoft YaHei"/>
              </a:rPr>
              <a:t>2. 商业领域的 AI 技术应用</a:t>
            </a:r>
          </a:p>
          <a:p>
            <a:pPr>
              <a:spcAft>
                <a:spcPts val="500"/>
              </a:spcAft>
            </a:pPr>
            <a:r>
              <a:rPr sz="1400">
                <a:solidFill>
                  <a:srgbClr val="333333"/>
                </a:solidFill>
                <a:latin typeface="Microsoft YaHei"/>
              </a:rPr>
              <a:t>   · 票务/球迷互动/客户互动/梦幻联赛/赞助评估</a:t>
            </a:r>
          </a:p>
          <a:p>
            <a:pPr>
              <a:spcAft>
                <a:spcPts val="500"/>
              </a:spcAft>
            </a:pPr>
          </a:p>
          <a:p>
            <a:pPr>
              <a:spcAft>
                <a:spcPts val="500"/>
              </a:spcAft>
            </a:pPr>
            <a:r>
              <a:rPr sz="1400">
                <a:solidFill>
                  <a:srgbClr val="333333"/>
                </a:solidFill>
                <a:latin typeface="Microsoft YaHei"/>
              </a:rPr>
              <a:t>AI 技术可应用领域：</a:t>
            </a:r>
          </a:p>
          <a:p>
            <a:pPr>
              <a:spcAft>
                <a:spcPts val="500"/>
              </a:spcAft>
            </a:pPr>
            <a:r>
              <a:rPr sz="1400">
                <a:solidFill>
                  <a:srgbClr val="333333"/>
                </a:solidFill>
                <a:latin typeface="Microsoft YaHei"/>
              </a:rPr>
              <a:t>   · 个性化训练与伤病预防</a:t>
            </a:r>
          </a:p>
          <a:p>
            <a:pPr>
              <a:spcAft>
                <a:spcPts val="500"/>
              </a:spcAft>
            </a:pPr>
            <a:r>
              <a:rPr sz="1400">
                <a:solidFill>
                  <a:srgbClr val="333333"/>
                </a:solidFill>
                <a:latin typeface="Microsoft YaHei"/>
              </a:rPr>
              <a:t>   · 表现分析与技术优化</a:t>
            </a:r>
          </a:p>
          <a:p>
            <a:pPr>
              <a:spcAft>
                <a:spcPts val="500"/>
              </a:spcAft>
            </a:pPr>
            <a:r>
              <a:rPr sz="1400">
                <a:solidFill>
                  <a:srgbClr val="333333"/>
                </a:solidFill>
                <a:latin typeface="Microsoft YaHei"/>
              </a:rPr>
              <a:t>   · 人才识别进展</a:t>
            </a:r>
          </a:p>
          <a:p>
            <a:pPr>
              <a:spcAft>
                <a:spcPts val="500"/>
              </a:spcAft>
            </a:pPr>
            <a:r>
              <a:rPr sz="1400">
                <a:solidFill>
                  <a:srgbClr val="333333"/>
                </a:solidFill>
                <a:latin typeface="Microsoft YaHei"/>
              </a:rPr>
              <a:t>   · 比赛战术/战略运用</a:t>
            </a:r>
          </a:p>
          <a:p>
            <a:pPr>
              <a:spcAft>
                <a:spcPts val="500"/>
              </a:spcAft>
            </a:pPr>
            <a:r>
              <a:rPr sz="1400">
                <a:solidFill>
                  <a:srgbClr val="333333"/>
                </a:solidFill>
                <a:latin typeface="Microsoft YaHei"/>
              </a:rPr>
              <a:t>   · 内容个性化</a:t>
            </a:r>
          </a:p>
          <a:p>
            <a:pPr>
              <a:spcAft>
                <a:spcPts val="500"/>
              </a:spcAft>
            </a:pPr>
            <a:r>
              <a:rPr sz="1400">
                <a:solidFill>
                  <a:srgbClr val="333333"/>
                </a:solidFill>
                <a:latin typeface="Microsoft YaHei"/>
              </a:rPr>
              <a:t>   · 体育新闻自动化</a:t>
            </a:r>
          </a:p>
          <a:p>
            <a:pPr>
              <a:spcAft>
                <a:spcPts val="500"/>
              </a:spcAft>
            </a:pPr>
            <a:r>
              <a:rPr sz="1400">
                <a:solidFill>
                  <a:srgbClr val="333333"/>
                </a:solidFill>
                <a:latin typeface="Microsoft YaHei"/>
              </a:rPr>
              <a:t>   · 转播优化</a:t>
            </a:r>
          </a:p>
          <a:p>
            <a:pPr>
              <a:spcAft>
                <a:spcPts val="500"/>
              </a:spcAft>
            </a:pPr>
            <a:r>
              <a:rPr sz="1400">
                <a:solidFill>
                  <a:srgbClr val="333333"/>
                </a:solidFill>
                <a:latin typeface="Microsoft YaHei"/>
              </a:rPr>
              <a:t>   · 球迷互动与营销</a:t>
            </a:r>
          </a:p>
          <a:p>
            <a:pPr>
              <a:spcAft>
                <a:spcPts val="500"/>
              </a:spcAft>
            </a:pPr>
            <a:r>
              <a:rPr sz="1400">
                <a:solidFill>
                  <a:srgbClr val="333333"/>
                </a:solidFill>
                <a:latin typeface="Microsoft YaHei"/>
              </a:rPr>
              <a:t>   · 自动裁判</a:t>
            </a:r>
          </a:p>
          <a:p>
            <a:pPr>
              <a:spcAft>
                <a:spcPts val="500"/>
              </a:spcAft>
            </a:pPr>
            <a:r>
              <a:rPr sz="1400">
                <a:solidFill>
                  <a:srgbClr val="333333"/>
                </a:solidFill>
                <a:latin typeface="Microsoft YaHei"/>
              </a:rPr>
              <a:t>   · 赛事安全/防滥用</a:t>
            </a:r>
          </a:p>
          <a:p>
            <a:pPr>
              <a:spcAft>
                <a:spcPts val="500"/>
              </a:spcAft>
            </a:pPr>
            <a:r>
              <a:rPr sz="1400">
                <a:solidFill>
                  <a:srgbClr val="333333"/>
                </a:solidFill>
                <a:latin typeface="Microsoft YaHei"/>
              </a:rPr>
              <a:t>   · 可持续性</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8 · Referencing Requirements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APA Style should be used for all referencing, and you are required to use a minimum of five scholarly sources (peer-reviewed journal articles, books, theses/dissertations) as well as a minimum of five non-scholarly sources (industry reports, newspaper articles, websites, etc.) In-text citations are required for ALL sources, as well as a References list at the end of the report.</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引用要求</a:t>
            </a:r>
          </a:p>
          <a:p>
            <a:pPr>
              <a:spcAft>
                <a:spcPts val="500"/>
              </a:spcAft>
            </a:pPr>
            <a:r>
              <a:rPr sz="1400">
                <a:solidFill>
                  <a:srgbClr val="333333"/>
                </a:solidFill>
                <a:latin typeface="Microsoft YaHei"/>
              </a:rPr>
              <a:t>• APA 格式</a:t>
            </a:r>
          </a:p>
          <a:p>
            <a:pPr>
              <a:spcAft>
                <a:spcPts val="500"/>
              </a:spcAft>
            </a:pPr>
            <a:r>
              <a:rPr sz="1400">
                <a:solidFill>
                  <a:srgbClr val="333333"/>
                </a:solidFill>
                <a:latin typeface="Microsoft YaHei"/>
              </a:rPr>
              <a:t>• ≥5 学术来源（期刊/书/论文）</a:t>
            </a:r>
          </a:p>
          <a:p>
            <a:pPr>
              <a:spcAft>
                <a:spcPts val="500"/>
              </a:spcAft>
            </a:pPr>
            <a:r>
              <a:rPr sz="1400">
                <a:solidFill>
                  <a:srgbClr val="333333"/>
                </a:solidFill>
                <a:latin typeface="Microsoft YaHei"/>
              </a:rPr>
              <a:t>• ≥5 非学术来源（行业报告/新闻/网站）</a:t>
            </a:r>
          </a:p>
          <a:p>
            <a:pPr>
              <a:spcAft>
                <a:spcPts val="500"/>
              </a:spcAft>
            </a:pPr>
            <a:r>
              <a:rPr sz="1400">
                <a:solidFill>
                  <a:srgbClr val="333333"/>
                </a:solidFill>
                <a:latin typeface="Microsoft YaHei"/>
              </a:rPr>
              <a:t>• 全部来源需 in-text 引用 + 文末 References</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9 · Assessment Criteria</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Research: e.g., comprehensiveness (depth, currency and variety of sources) (40 points)</a:t>
            </a:r>
          </a:p>
          <a:p>
            <a:pPr>
              <a:spcAft>
                <a:spcPts val="400"/>
              </a:spcAft>
            </a:pPr>
            <a:r>
              <a:rPr sz="1400">
                <a:solidFill>
                  <a:srgbClr val="202020"/>
                </a:solidFill>
              </a:rPr>
              <a:t>Analysis: e.g., cohesiveness, integration and synthesis of information, depth to which position is supported, link between literature, analysis/discussion and recommendations for cultural change (50 points)</a:t>
            </a:r>
          </a:p>
          <a:p>
            <a:pPr>
              <a:spcAft>
                <a:spcPts val="400"/>
              </a:spcAft>
            </a:pPr>
            <a:r>
              <a:rPr sz="1400">
                <a:solidFill>
                  <a:srgbClr val="202020"/>
                </a:solidFill>
              </a:rPr>
              <a:t>Presentation quality: e.g., structure and flow, syntax, grammar, spelling referencing (10 points)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评分标准</a:t>
            </a:r>
          </a:p>
          <a:p>
            <a:pPr>
              <a:spcAft>
                <a:spcPts val="500"/>
              </a:spcAft>
            </a:pPr>
            <a:r>
              <a:rPr sz="1400">
                <a:solidFill>
                  <a:srgbClr val="333333"/>
                </a:solidFill>
                <a:latin typeface="Microsoft YaHei"/>
              </a:rPr>
              <a:t>研究：深度/时效/多样 = 40分</a:t>
            </a:r>
          </a:p>
          <a:p>
            <a:pPr>
              <a:spcAft>
                <a:spcPts val="500"/>
              </a:spcAft>
            </a:pPr>
            <a:r>
              <a:rPr sz="1400">
                <a:solidFill>
                  <a:srgbClr val="333333"/>
                </a:solidFill>
                <a:latin typeface="Microsoft YaHei"/>
              </a:rPr>
              <a:t>分析：综合/立场/关联 = 50分</a:t>
            </a:r>
          </a:p>
          <a:p>
            <a:pPr>
              <a:spcAft>
                <a:spcPts val="500"/>
              </a:spcAft>
            </a:pPr>
            <a:r>
              <a:rPr sz="1400">
                <a:solidFill>
                  <a:srgbClr val="333333"/>
                </a:solidFill>
                <a:latin typeface="Microsoft YaHei"/>
              </a:rPr>
              <a:t>呈现：结构/语法/引用 = 10分</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10 · Ways to Achieve Higher Scores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There are several strategies to help you get higher scores in the assessment.</a:t>
            </a:r>
          </a:p>
          <a:p>
            <a:pPr>
              <a:spcAft>
                <a:spcPts val="400"/>
              </a:spcAft>
            </a:pPr>
            <a:r>
              <a:rPr sz="1400">
                <a:solidFill>
                  <a:srgbClr val="202020"/>
                </a:solidFill>
              </a:rPr>
              <a:t>• Identify a new or innovative AI-based technology</a:t>
            </a:r>
          </a:p>
          <a:p>
            <a:pPr>
              <a:spcAft>
                <a:spcPts val="400"/>
              </a:spcAft>
            </a:pPr>
            <a:r>
              <a:rPr sz="1400">
                <a:solidFill>
                  <a:srgbClr val="202020"/>
                </a:solidFill>
              </a:rPr>
              <a:t>• Plan your writing</a:t>
            </a:r>
          </a:p>
          <a:p>
            <a:pPr>
              <a:spcAft>
                <a:spcPts val="400"/>
              </a:spcAft>
            </a:pPr>
            <a:r>
              <a:rPr sz="1400">
                <a:solidFill>
                  <a:srgbClr val="202020"/>
                </a:solidFill>
              </a:rPr>
              <a:t>• Prepare a research matrix</a:t>
            </a:r>
          </a:p>
          <a:p>
            <a:pPr>
              <a:spcAft>
                <a:spcPts val="400"/>
              </a:spcAft>
            </a:pPr>
            <a:r>
              <a:rPr sz="1400">
                <a:solidFill>
                  <a:srgbClr val="202020"/>
                </a:solidFill>
              </a:rPr>
              <a:t>• Structure your paragraphs appropriately</a:t>
            </a:r>
          </a:p>
          <a:p>
            <a:pPr>
              <a:spcAft>
                <a:spcPts val="400"/>
              </a:spcAft>
            </a:pPr>
            <a:r>
              <a:rPr sz="1400">
                <a:solidFill>
                  <a:srgbClr val="202020"/>
                </a:solidFill>
              </a:rPr>
              <a:t>• Add your voice</a:t>
            </a:r>
          </a:p>
          <a:p>
            <a:pPr>
              <a:spcAft>
                <a:spcPts val="400"/>
              </a:spcAft>
            </a:pPr>
            <a:r>
              <a:rPr sz="1400">
                <a:solidFill>
                  <a:srgbClr val="202020"/>
                </a:solidFill>
              </a:rPr>
              <a:t>• FOLLOW THE INSTRUCTIONS!!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拿高分的方法</a:t>
            </a:r>
          </a:p>
          <a:p>
            <a:pPr>
              <a:spcAft>
                <a:spcPts val="500"/>
              </a:spcAft>
            </a:pPr>
            <a:r>
              <a:rPr sz="1400">
                <a:solidFill>
                  <a:srgbClr val="333333"/>
                </a:solidFill>
                <a:latin typeface="Microsoft YaHei"/>
              </a:rPr>
              <a:t>• 选新型 AI 技术</a:t>
            </a:r>
          </a:p>
          <a:p>
            <a:pPr>
              <a:spcAft>
                <a:spcPts val="500"/>
              </a:spcAft>
            </a:pPr>
            <a:r>
              <a:rPr sz="1400">
                <a:solidFill>
                  <a:srgbClr val="333333"/>
                </a:solidFill>
                <a:latin typeface="Microsoft YaHei"/>
              </a:rPr>
              <a:t>• 规划写作</a:t>
            </a:r>
          </a:p>
          <a:p>
            <a:pPr>
              <a:spcAft>
                <a:spcPts val="500"/>
              </a:spcAft>
            </a:pPr>
            <a:r>
              <a:rPr sz="1400">
                <a:solidFill>
                  <a:srgbClr val="333333"/>
                </a:solidFill>
                <a:latin typeface="Microsoft YaHei"/>
              </a:rPr>
              <a:t>• 研究矩阵</a:t>
            </a:r>
          </a:p>
          <a:p>
            <a:pPr>
              <a:spcAft>
                <a:spcPts val="500"/>
              </a:spcAft>
            </a:pPr>
            <a:r>
              <a:rPr sz="1400">
                <a:solidFill>
                  <a:srgbClr val="333333"/>
                </a:solidFill>
                <a:latin typeface="Microsoft YaHei"/>
              </a:rPr>
              <a:t>• 组织段落</a:t>
            </a:r>
          </a:p>
          <a:p>
            <a:pPr>
              <a:spcAft>
                <a:spcPts val="500"/>
              </a:spcAft>
            </a:pPr>
            <a:r>
              <a:rPr sz="1400">
                <a:solidFill>
                  <a:srgbClr val="333333"/>
                </a:solidFill>
                <a:latin typeface="Microsoft YaHei"/>
              </a:rPr>
              <a:t>• 加你的声音</a:t>
            </a:r>
          </a:p>
          <a:p>
            <a:pPr>
              <a:spcAft>
                <a:spcPts val="500"/>
              </a:spcAft>
            </a:pPr>
            <a:r>
              <a:rPr sz="1400">
                <a:solidFill>
                  <a:srgbClr val="333333"/>
                </a:solidFill>
                <a:latin typeface="Microsoft YaHei"/>
              </a:rPr>
              <a:t>• 严格照说明做！</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11 · Strategy 1: Identify a New AI-based Technology</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Talk to the person next to you and discuss the questions you need to ask yourself when identifying a new or innovative AI-based technology which best suits your topic. Come up with at least 5 questions.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策略1：选新型 AI 技术</a:t>
            </a:r>
          </a:p>
          <a:p>
            <a:pPr>
              <a:spcAft>
                <a:spcPts val="500"/>
              </a:spcAft>
            </a:pPr>
            <a:r>
              <a:rPr sz="1400">
                <a:solidFill>
                  <a:srgbClr val="333333"/>
                </a:solidFill>
                <a:latin typeface="Microsoft YaHei"/>
              </a:rPr>
              <a:t>和旁边的人讨论：选 AI 技术要问自己什么？至少想 5 个问题。</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12 · Strategy 1 (possible questions)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Here are some possible questions to consider when identifying “the best” AI-based technology:</a:t>
            </a:r>
          </a:p>
          <a:p>
            <a:pPr>
              <a:spcAft>
                <a:spcPts val="400"/>
              </a:spcAft>
            </a:pPr>
            <a:r>
              <a:rPr sz="1400">
                <a:solidFill>
                  <a:srgbClr val="202020"/>
                </a:solidFill>
              </a:rPr>
              <a:t>• What are the specific needs of your organisation? / Which area requires improvement?</a:t>
            </a:r>
          </a:p>
          <a:p>
            <a:pPr>
              <a:spcAft>
                <a:spcPts val="400"/>
              </a:spcAft>
            </a:pPr>
            <a:r>
              <a:rPr sz="1400">
                <a:solidFill>
                  <a:srgbClr val="202020"/>
                </a:solidFill>
              </a:rPr>
              <a:t>• Where can you find reliable information about different AI-based technologies?</a:t>
            </a:r>
          </a:p>
          <a:p>
            <a:pPr>
              <a:spcAft>
                <a:spcPts val="400"/>
              </a:spcAft>
            </a:pPr>
            <a:r>
              <a:rPr sz="1400">
                <a:solidFill>
                  <a:srgbClr val="202020"/>
                </a:solidFill>
              </a:rPr>
              <a:t>• What criteria should be used to evaluate and compare?</a:t>
            </a:r>
          </a:p>
          <a:p>
            <a:pPr>
              <a:spcAft>
                <a:spcPts val="400"/>
              </a:spcAft>
            </a:pPr>
            <a:r>
              <a:rPr sz="1400">
                <a:solidFill>
                  <a:srgbClr val="202020"/>
                </a:solidFill>
              </a:rPr>
              <a:t>• What makes each AI-based technology unique or valuable?</a:t>
            </a:r>
          </a:p>
          <a:p>
            <a:pPr>
              <a:spcAft>
                <a:spcPts val="400"/>
              </a:spcAft>
            </a:pPr>
            <a:r>
              <a:rPr sz="1400">
                <a:solidFill>
                  <a:srgbClr val="202020"/>
                </a:solidFill>
              </a:rPr>
              <a:t>• In what industry/industries is the technology used, and how does it function? What improvements does it bring?</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策略1（参考问题）</a:t>
            </a:r>
          </a:p>
          <a:p>
            <a:pPr>
              <a:spcAft>
                <a:spcPts val="500"/>
              </a:spcAft>
            </a:pPr>
            <a:r>
              <a:rPr sz="1400">
                <a:solidFill>
                  <a:srgbClr val="333333"/>
                </a:solidFill>
                <a:latin typeface="Microsoft YaHei"/>
              </a:rPr>
              <a:t>• 组织具体需求？哪个领域需改进？</a:t>
            </a:r>
          </a:p>
          <a:p>
            <a:pPr>
              <a:spcAft>
                <a:spcPts val="500"/>
              </a:spcAft>
            </a:pPr>
            <a:r>
              <a:rPr sz="1400">
                <a:solidFill>
                  <a:srgbClr val="333333"/>
                </a:solidFill>
                <a:latin typeface="Microsoft YaHei"/>
              </a:rPr>
              <a:t>• 哪找可靠的 AI 技术信息？</a:t>
            </a:r>
          </a:p>
          <a:p>
            <a:pPr>
              <a:spcAft>
                <a:spcPts val="500"/>
              </a:spcAft>
            </a:pPr>
            <a:r>
              <a:rPr sz="1400">
                <a:solidFill>
                  <a:srgbClr val="333333"/>
                </a:solidFill>
                <a:latin typeface="Microsoft YaHei"/>
              </a:rPr>
              <a:t>• 用什么标准评估比较？</a:t>
            </a:r>
          </a:p>
          <a:p>
            <a:pPr>
              <a:spcAft>
                <a:spcPts val="500"/>
              </a:spcAft>
            </a:pPr>
            <a:r>
              <a:rPr sz="1400">
                <a:solidFill>
                  <a:srgbClr val="333333"/>
                </a:solidFill>
                <a:latin typeface="Microsoft YaHei"/>
              </a:rPr>
              <a:t>• 每种技术独特价值？</a:t>
            </a:r>
          </a:p>
          <a:p>
            <a:pPr>
              <a:spcAft>
                <a:spcPts val="500"/>
              </a:spcAft>
            </a:pPr>
            <a:r>
              <a:rPr sz="1400">
                <a:solidFill>
                  <a:srgbClr val="333333"/>
                </a:solidFill>
                <a:latin typeface="Microsoft YaHei"/>
              </a:rPr>
              <a:t>• 用在哪个行业、如何运作、带来什么改进？</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13 · Strategy 2: Plan Your Writing</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When you plan your writing, you should consider the following:</a:t>
            </a:r>
          </a:p>
          <a:p>
            <a:pPr>
              <a:spcAft>
                <a:spcPts val="400"/>
              </a:spcAft>
            </a:pPr>
            <a:r>
              <a:rPr sz="1400">
                <a:solidFill>
                  <a:srgbClr val="202020"/>
                </a:solidFill>
              </a:rPr>
              <a:t>Content</a:t>
            </a:r>
          </a:p>
          <a:p>
            <a:pPr>
              <a:spcAft>
                <a:spcPts val="400"/>
              </a:spcAft>
            </a:pPr>
            <a:r>
              <a:rPr sz="1400">
                <a:solidFill>
                  <a:srgbClr val="202020"/>
                </a:solidFill>
              </a:rPr>
              <a:t>Structure</a:t>
            </a:r>
          </a:p>
          <a:p>
            <a:pPr>
              <a:spcAft>
                <a:spcPts val="400"/>
              </a:spcAft>
            </a:pPr>
            <a:r>
              <a:rPr sz="1400">
                <a:solidFill>
                  <a:srgbClr val="202020"/>
                </a:solidFill>
              </a:rPr>
              <a:t>Evidence</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策略2：规划写作</a:t>
            </a:r>
          </a:p>
          <a:p>
            <a:pPr>
              <a:spcAft>
                <a:spcPts val="500"/>
              </a:spcAft>
            </a:pPr>
            <a:r>
              <a:rPr sz="1400">
                <a:solidFill>
                  <a:srgbClr val="333333"/>
                </a:solidFill>
                <a:latin typeface="Microsoft YaHei"/>
              </a:rPr>
              <a:t>要考虑：内容 / 结构 / 证据</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14 · Strategy 2: Content</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Do you still recall what you are required to do?</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策略2：内容 Content</a:t>
            </a:r>
          </a:p>
          <a:p>
            <a:pPr>
              <a:spcAft>
                <a:spcPts val="500"/>
              </a:spcAft>
            </a:pPr>
            <a:r>
              <a:rPr sz="1400">
                <a:solidFill>
                  <a:srgbClr val="333333"/>
                </a:solidFill>
                <a:latin typeface="Microsoft YaHei"/>
              </a:rPr>
              <a:t>你记得要做什么吗？</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15 · Strategy 2: Structure — Report</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Title Page</a:t>
            </a:r>
          </a:p>
          <a:p>
            <a:pPr>
              <a:spcAft>
                <a:spcPts val="400"/>
              </a:spcAft>
            </a:pPr>
            <a:r>
              <a:rPr sz="1400">
                <a:solidFill>
                  <a:srgbClr val="202020"/>
                </a:solidFill>
              </a:rPr>
              <a:t>Executive Summary</a:t>
            </a:r>
          </a:p>
          <a:p>
            <a:pPr>
              <a:spcAft>
                <a:spcPts val="400"/>
              </a:spcAft>
            </a:pPr>
            <a:r>
              <a:rPr sz="1400">
                <a:solidFill>
                  <a:srgbClr val="202020"/>
                </a:solidFill>
              </a:rPr>
              <a:t>Introduction</a:t>
            </a:r>
          </a:p>
          <a:p>
            <a:pPr>
              <a:spcAft>
                <a:spcPts val="400"/>
              </a:spcAft>
            </a:pPr>
            <a:r>
              <a:rPr sz="1400">
                <a:solidFill>
                  <a:srgbClr val="202020"/>
                </a:solidFill>
              </a:rPr>
              <a:t>Literature or organisational frameworks</a:t>
            </a:r>
          </a:p>
          <a:p>
            <a:pPr>
              <a:spcAft>
                <a:spcPts val="400"/>
              </a:spcAft>
            </a:pPr>
            <a:r>
              <a:rPr sz="1400">
                <a:solidFill>
                  <a:srgbClr val="202020"/>
                </a:solidFill>
              </a:rPr>
              <a:t>Recommendations/Results/Discussion</a:t>
            </a:r>
          </a:p>
          <a:p>
            <a:pPr>
              <a:spcAft>
                <a:spcPts val="400"/>
              </a:spcAft>
            </a:pPr>
            <a:r>
              <a:rPr sz="1400">
                <a:solidFill>
                  <a:srgbClr val="202020"/>
                </a:solidFill>
              </a:rPr>
              <a:t>References</a:t>
            </a:r>
          </a:p>
          <a:p>
            <a:pPr>
              <a:spcAft>
                <a:spcPts val="400"/>
              </a:spcAft>
            </a:pPr>
            <a:r>
              <a:rPr sz="1400">
                <a:solidFill>
                  <a:srgbClr val="202020"/>
                </a:solidFill>
              </a:rPr>
              <a:t>Appendices</a:t>
            </a:r>
          </a:p>
          <a:p>
            <a:pPr>
              <a:spcAft>
                <a:spcPts val="400"/>
              </a:spcAft>
            </a:pPr>
            <a:r>
              <a:rPr sz="1400">
                <a:solidFill>
                  <a:srgbClr val="202020"/>
                </a:solidFill>
              </a:rPr>
              <a:t>Detailed information for each of the above is available from the assessment brief.</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策略2：结构（报告）</a:t>
            </a:r>
          </a:p>
          <a:p>
            <a:pPr>
              <a:spcAft>
                <a:spcPts val="500"/>
              </a:spcAft>
            </a:pPr>
            <a:r>
              <a:rPr sz="1400">
                <a:solidFill>
                  <a:srgbClr val="333333"/>
                </a:solidFill>
                <a:latin typeface="Microsoft YaHei"/>
              </a:rPr>
              <a:t>标题页 / 执行摘要 / 引言 / 文献或组织框架 / 建议·结果·讨论 / 参考文献 / 附录</a:t>
            </a:r>
          </a:p>
          <a:p>
            <a:pPr>
              <a:spcAft>
                <a:spcPts val="500"/>
              </a:spcAft>
            </a:pPr>
            <a:r>
              <a:rPr sz="1400">
                <a:solidFill>
                  <a:srgbClr val="333333"/>
                </a:solidFill>
                <a:latin typeface="Microsoft YaHei"/>
              </a:rPr>
              <a:t>详细见 assessment brief</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16 · Strategy 2: Evidence</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No matter whether you are writing an essay or a report, it is common practice that you need to cite evidence in order to strengthen your argument.</a:t>
            </a:r>
          </a:p>
          <a:p>
            <a:pPr>
              <a:spcAft>
                <a:spcPts val="400"/>
              </a:spcAft>
            </a:pPr>
            <a:r>
              <a:rPr sz="1400">
                <a:solidFill>
                  <a:srgbClr val="202020"/>
                </a:solidFill>
              </a:rPr>
              <a:t>• Where can you find the information you need?</a:t>
            </a:r>
          </a:p>
          <a:p>
            <a:pPr>
              <a:spcAft>
                <a:spcPts val="400"/>
              </a:spcAft>
            </a:pPr>
            <a:r>
              <a:rPr sz="1400">
                <a:solidFill>
                  <a:srgbClr val="202020"/>
                </a:solidFill>
              </a:rPr>
              <a:t>• After collecting the information, what are the next steps?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策略2：证据 Evidence</a:t>
            </a:r>
          </a:p>
          <a:p>
            <a:pPr>
              <a:spcAft>
                <a:spcPts val="500"/>
              </a:spcAft>
            </a:pPr>
            <a:r>
              <a:rPr sz="1400">
                <a:solidFill>
                  <a:srgbClr val="333333"/>
                </a:solidFill>
                <a:latin typeface="Microsoft YaHei"/>
              </a:rPr>
              <a:t>报告/论文都要 cite 证据强化论点。</a:t>
            </a:r>
          </a:p>
          <a:p>
            <a:pPr>
              <a:spcAft>
                <a:spcPts val="500"/>
              </a:spcAft>
            </a:pPr>
            <a:r>
              <a:rPr sz="1400">
                <a:solidFill>
                  <a:srgbClr val="333333"/>
                </a:solidFill>
                <a:latin typeface="Microsoft YaHei"/>
              </a:rPr>
              <a:t>• 资料去哪找？</a:t>
            </a:r>
          </a:p>
          <a:p>
            <a:pPr>
              <a:spcAft>
                <a:spcPts val="500"/>
              </a:spcAft>
            </a:pPr>
            <a:r>
              <a:rPr sz="1400">
                <a:solidFill>
                  <a:srgbClr val="333333"/>
                </a:solidFill>
                <a:latin typeface="Microsoft YaHei"/>
              </a:rPr>
              <a:t>• 收集后下一步？</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Sources that You Need</a:t>
            </a:r>
            <a:endParaRPr lang="en-GB" dirty="0"/>
          </a:p>
        </p:txBody>
      </p:sp>
      <p:sp>
        <p:nvSpPr>
          <p:cNvPr id="8" name="Rounded Rectangle 7"/>
          <p:cNvSpPr/>
          <p:nvPr/>
        </p:nvSpPr>
        <p:spPr>
          <a:xfrm>
            <a:off x="609600" y="4471988"/>
            <a:ext cx="4976813" cy="371475"/>
          </a:xfrm>
          <a:prstGeom prst="round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p:cNvSpPr/>
          <p:nvPr/>
        </p:nvSpPr>
        <p:spPr>
          <a:xfrm>
            <a:off x="6605587" y="6211886"/>
            <a:ext cx="5473865" cy="371475"/>
          </a:xfrm>
          <a:prstGeom prst="round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s17_1.png"/>
          <p:cNvPicPr>
            <a:picLocks noChangeAspect="1"/>
          </p:cNvPicPr>
          <p:nvPr/>
        </p:nvPicPr>
        <p:blipFill>
          <a:blip r:embed="rId2"/>
          <a:stretch>
            <a:fillRect/>
          </a:stretch>
        </p:blipFill>
        <p:spPr>
          <a:xfrm>
            <a:off x="612648" y="1417320"/>
            <a:ext cx="4974336" cy="4608576"/>
          </a:xfrm>
          <a:prstGeom prst="rect">
            <a:avLst/>
          </a:prstGeom>
        </p:spPr>
      </p:pic>
      <p:pic>
        <p:nvPicPr>
          <p:cNvPr id="11" name="Picture 10" descr="s17_0.png"/>
          <p:cNvPicPr>
            <a:picLocks noChangeAspect="1"/>
          </p:cNvPicPr>
          <p:nvPr/>
        </p:nvPicPr>
        <p:blipFill>
          <a:blip r:embed="rId3"/>
          <a:stretch>
            <a:fillRect/>
          </a:stretch>
        </p:blipFill>
        <p:spPr>
          <a:xfrm>
            <a:off x="6601968" y="1335024"/>
            <a:ext cx="5477256" cy="5248656"/>
          </a:xfrm>
          <a:prstGeom prst="rect">
            <a:avLst/>
          </a:prstGeom>
        </p:spPr>
      </p:pic>
      <p:sp>
        <p:nvSpPr>
          <p:cNvPr id="12" name="TextBox 11"/>
          <p:cNvSpPr txBox="1"/>
          <p:nvPr/>
        </p:nvSpPr>
        <p:spPr>
          <a:xfrm>
            <a:off x="365760" y="6263640"/>
            <a:ext cx="11430000" cy="548640"/>
          </a:xfrm>
          <a:prstGeom prst="rect">
            <a:avLst/>
          </a:prstGeom>
          <a:solidFill>
            <a:srgbClr val="FFF6E0"/>
          </a:solidFill>
        </p:spPr>
        <p:txBody>
          <a:bodyPr wrap="square">
            <a:spAutoFit/>
          </a:bodyPr>
          <a:lstStyle/>
          <a:p>
            <a:r>
              <a:rPr sz="1200">
                <a:solidFill>
                  <a:srgbClr val="805000"/>
                </a:solidFill>
                <a:latin typeface="Microsoft YaHei"/>
              </a:rPr>
              <a:t>中译：你需要的来源：本页两张图示意「学术来源」与「非学术来源」两类。</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5486400" cy="1143000"/>
          </a:xfrm>
        </p:spPr>
        <p:txBody>
          <a:bodyPr>
            <a:normAutofit fontScale="90000"/>
          </a:bodyPr>
          <a:lstStyle/>
          <a:p>
            <a:r>
              <a:rPr lang="en-GB" dirty="0"/>
              <a:t>Sources </a:t>
            </a:r>
            <a:r>
              <a:rPr lang="en-GB"/>
              <a:t>that </a:t>
            </a:r>
            <a:br>
              <a:rPr lang="en-GB"/>
            </a:br>
            <a:r>
              <a:rPr lang="en-GB"/>
              <a:t>You </a:t>
            </a:r>
            <a:r>
              <a:rPr lang="en-GB" dirty="0"/>
              <a:t>Need</a:t>
            </a:r>
            <a:endParaRPr lang="en-GB" dirty="0"/>
          </a:p>
        </p:txBody>
      </p:sp>
      <p:pic>
        <p:nvPicPr>
          <p:cNvPr id="3" name="Picture 2" descr="s18_1.png"/>
          <p:cNvPicPr>
            <a:picLocks noChangeAspect="1"/>
          </p:cNvPicPr>
          <p:nvPr/>
        </p:nvPicPr>
        <p:blipFill>
          <a:blip r:embed="rId2"/>
          <a:stretch>
            <a:fillRect/>
          </a:stretch>
        </p:blipFill>
        <p:spPr>
          <a:xfrm>
            <a:off x="6007608" y="0"/>
            <a:ext cx="6181344" cy="6858000"/>
          </a:xfrm>
          <a:prstGeom prst="rect">
            <a:avLst/>
          </a:prstGeom>
        </p:spPr>
      </p:pic>
      <p:sp>
        <p:nvSpPr>
          <p:cNvPr id="4" name="TextBox 3"/>
          <p:cNvSpPr txBox="1"/>
          <p:nvPr/>
        </p:nvSpPr>
        <p:spPr>
          <a:xfrm>
            <a:off x="365760" y="6263640"/>
            <a:ext cx="11430000" cy="548640"/>
          </a:xfrm>
          <a:prstGeom prst="rect">
            <a:avLst/>
          </a:prstGeom>
          <a:solidFill>
            <a:srgbClr val="FFF6E0"/>
          </a:solidFill>
        </p:spPr>
        <p:txBody>
          <a:bodyPr wrap="square">
            <a:spAutoFit/>
          </a:bodyPr>
          <a:lstStyle/>
          <a:p>
            <a:r>
              <a:rPr sz="1200">
                <a:solidFill>
                  <a:srgbClr val="805000"/>
                </a:solidFill>
                <a:latin typeface="Microsoft YaHei"/>
              </a:rPr>
              <a:t>中译：你需要的来源：本页图示意各类来源（期刊、书籍、行业报告等）。</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19 · Task 1</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Read the assessment guidelines again and answer:</a:t>
            </a:r>
          </a:p>
          <a:p>
            <a:pPr>
              <a:spcAft>
                <a:spcPts val="400"/>
              </a:spcAft>
            </a:pPr>
            <a:r>
              <a:rPr sz="1400">
                <a:solidFill>
                  <a:srgbClr val="202020"/>
                </a:solidFill>
              </a:rPr>
              <a:t>• Which part(s) of the question require(s) you to cite evidence?</a:t>
            </a:r>
          </a:p>
          <a:p>
            <a:pPr>
              <a:spcAft>
                <a:spcPts val="400"/>
              </a:spcAft>
            </a:pPr>
            <a:r>
              <a:rPr sz="1400">
                <a:solidFill>
                  <a:srgbClr val="202020"/>
                </a:solidFill>
              </a:rPr>
              <a:t>• What are the keywords that help you look for relevant literature?</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任务1</a:t>
            </a:r>
          </a:p>
          <a:p>
            <a:pPr>
              <a:spcAft>
                <a:spcPts val="500"/>
              </a:spcAft>
            </a:pPr>
            <a:r>
              <a:rPr sz="1400">
                <a:solidFill>
                  <a:srgbClr val="333333"/>
                </a:solidFill>
                <a:latin typeface="Microsoft YaHei"/>
              </a:rPr>
              <a:t>重读评估指引：</a:t>
            </a:r>
          </a:p>
          <a:p>
            <a:pPr>
              <a:spcAft>
                <a:spcPts val="500"/>
              </a:spcAft>
            </a:pPr>
            <a:r>
              <a:rPr sz="1400">
                <a:solidFill>
                  <a:srgbClr val="333333"/>
                </a:solidFill>
                <a:latin typeface="Microsoft YaHei"/>
              </a:rPr>
              <a:t>• 哪些部分需 cite 证据？</a:t>
            </a:r>
          </a:p>
          <a:p>
            <a:pPr>
              <a:spcAft>
                <a:spcPts val="500"/>
              </a:spcAft>
            </a:pPr>
            <a:r>
              <a:rPr sz="1400">
                <a:solidFill>
                  <a:srgbClr val="333333"/>
                </a:solidFill>
                <a:latin typeface="Microsoft YaHei"/>
              </a:rPr>
              <a:t>• 哪些关键词帮你找文献？</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20 · Task 1 (Answers)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Which part(s) require cite evidence?</a:t>
            </a:r>
          </a:p>
          <a:p>
            <a:pPr>
              <a:spcAft>
                <a:spcPts val="400"/>
              </a:spcAft>
            </a:pPr>
            <a:r>
              <a:rPr sz="1400">
                <a:solidFill>
                  <a:srgbClr val="202020"/>
                </a:solidFill>
              </a:rPr>
              <a:t>• Introduction</a:t>
            </a:r>
          </a:p>
          <a:p>
            <a:pPr>
              <a:spcAft>
                <a:spcPts val="400"/>
              </a:spcAft>
            </a:pPr>
            <a:r>
              <a:rPr sz="1400">
                <a:solidFill>
                  <a:srgbClr val="202020"/>
                </a:solidFill>
              </a:rPr>
              <a:t>• Literature or organisational frameworks</a:t>
            </a:r>
          </a:p>
          <a:p>
            <a:pPr>
              <a:spcAft>
                <a:spcPts val="400"/>
              </a:spcAft>
            </a:pPr>
            <a:r>
              <a:rPr sz="1400">
                <a:solidFill>
                  <a:srgbClr val="202020"/>
                </a:solidFill>
              </a:rPr>
              <a:t>• Recommendations / Results / Discussion</a:t>
            </a:r>
          </a:p>
          <a:p>
            <a:pPr>
              <a:spcAft>
                <a:spcPts val="400"/>
              </a:spcAft>
            </a:pPr>
          </a:p>
          <a:p>
            <a:pPr>
              <a:spcAft>
                <a:spcPts val="400"/>
              </a:spcAft>
            </a:pPr>
            <a:r>
              <a:rPr sz="1400">
                <a:solidFill>
                  <a:srgbClr val="202020"/>
                </a:solidFill>
              </a:rPr>
              <a:t>Keywords:</a:t>
            </a:r>
          </a:p>
          <a:p>
            <a:pPr>
              <a:spcAft>
                <a:spcPts val="400"/>
              </a:spcAft>
            </a:pPr>
            <a:r>
              <a:rPr sz="1400">
                <a:solidFill>
                  <a:srgbClr val="202020"/>
                </a:solidFill>
              </a:rPr>
              <a:t>• Background of your sport/industry</a:t>
            </a:r>
          </a:p>
          <a:p>
            <a:pPr>
              <a:spcAft>
                <a:spcPts val="400"/>
              </a:spcAft>
            </a:pPr>
            <a:r>
              <a:rPr sz="1400">
                <a:solidFill>
                  <a:srgbClr val="202020"/>
                </a:solidFill>
              </a:rPr>
              <a:t>• Name of AI-based technology</a:t>
            </a:r>
          </a:p>
          <a:p>
            <a:pPr>
              <a:spcAft>
                <a:spcPts val="400"/>
              </a:spcAft>
            </a:pPr>
            <a:r>
              <a:rPr sz="1400">
                <a:solidFill>
                  <a:srgbClr val="202020"/>
                </a:solidFill>
              </a:rPr>
              <a:t>• Organisational culture</a:t>
            </a:r>
          </a:p>
          <a:p>
            <a:pPr>
              <a:spcAft>
                <a:spcPts val="400"/>
              </a:spcAft>
            </a:pPr>
            <a:r>
              <a:rPr sz="1400">
                <a:solidFill>
                  <a:srgbClr val="202020"/>
                </a:solidFill>
              </a:rPr>
              <a:t>• Organisational barriers</a:t>
            </a:r>
          </a:p>
          <a:p>
            <a:pPr>
              <a:spcAft>
                <a:spcPts val="400"/>
              </a:spcAft>
            </a:pPr>
            <a:r>
              <a:rPr sz="1400">
                <a:solidFill>
                  <a:srgbClr val="202020"/>
                </a:solidFill>
              </a:rPr>
              <a:t>• Leadership types</a:t>
            </a:r>
          </a:p>
          <a:p>
            <a:pPr>
              <a:spcAft>
                <a:spcPts val="400"/>
              </a:spcAft>
            </a:pPr>
            <a:r>
              <a:rPr sz="1400">
                <a:solidFill>
                  <a:srgbClr val="202020"/>
                </a:solidFill>
              </a:rPr>
              <a:t>• Recommendations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任务1（答案）</a:t>
            </a:r>
          </a:p>
          <a:p>
            <a:pPr>
              <a:spcAft>
                <a:spcPts val="500"/>
              </a:spcAft>
            </a:pPr>
            <a:r>
              <a:rPr sz="1400">
                <a:solidFill>
                  <a:srgbClr val="333333"/>
                </a:solidFill>
                <a:latin typeface="Microsoft YaHei"/>
              </a:rPr>
              <a:t>需引用：引言 / 文献框架 / 讨论建议</a:t>
            </a:r>
          </a:p>
          <a:p>
            <a:pPr>
              <a:spcAft>
                <a:spcPts val="500"/>
              </a:spcAft>
            </a:pPr>
            <a:r>
              <a:rPr sz="1400">
                <a:solidFill>
                  <a:srgbClr val="333333"/>
                </a:solidFill>
                <a:latin typeface="Microsoft YaHei"/>
              </a:rPr>
              <a:t>关键词：运动行业背景、AI技术名、组织文化、组织障碍、领导力类型、建议</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21 · Strategy 3: Prepare a Research Matrix</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You may probably have the following questions:</a:t>
            </a:r>
          </a:p>
          <a:p>
            <a:pPr>
              <a:spcAft>
                <a:spcPts val="400"/>
              </a:spcAft>
            </a:pPr>
            <a:r>
              <a:rPr sz="1400">
                <a:solidFill>
                  <a:srgbClr val="202020"/>
                </a:solidFill>
              </a:rPr>
              <a:t>• What is a research matrix?</a:t>
            </a:r>
          </a:p>
          <a:p>
            <a:pPr>
              <a:spcAft>
                <a:spcPts val="400"/>
              </a:spcAft>
            </a:pPr>
            <a:r>
              <a:rPr sz="1400">
                <a:solidFill>
                  <a:srgbClr val="202020"/>
                </a:solidFill>
              </a:rPr>
              <a:t>• Why is the research matrix introduced to us?</a:t>
            </a:r>
          </a:p>
          <a:p>
            <a:pPr>
              <a:spcAft>
                <a:spcPts val="400"/>
              </a:spcAft>
            </a:pPr>
            <a:r>
              <a:rPr sz="1400">
                <a:solidFill>
                  <a:srgbClr val="202020"/>
                </a:solidFill>
              </a:rPr>
              <a:t>• It seems like extra work – is it really worth my time and effort?</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策略3：研究矩阵</a:t>
            </a:r>
          </a:p>
          <a:p>
            <a:pPr>
              <a:spcAft>
                <a:spcPts val="500"/>
              </a:spcAft>
            </a:pPr>
            <a:r>
              <a:rPr sz="1400">
                <a:solidFill>
                  <a:srgbClr val="333333"/>
                </a:solidFill>
                <a:latin typeface="Microsoft YaHei"/>
              </a:rPr>
              <a:t>• 什么是研究矩阵？</a:t>
            </a:r>
          </a:p>
          <a:p>
            <a:pPr>
              <a:spcAft>
                <a:spcPts val="500"/>
              </a:spcAft>
            </a:pPr>
            <a:r>
              <a:rPr sz="1400">
                <a:solidFill>
                  <a:srgbClr val="333333"/>
                </a:solidFill>
                <a:latin typeface="Microsoft YaHei"/>
              </a:rPr>
              <a:t>• 为什么引入？</a:t>
            </a:r>
          </a:p>
          <a:p>
            <a:pPr>
              <a:spcAft>
                <a:spcPts val="500"/>
              </a:spcAft>
            </a:pPr>
            <a:r>
              <a:rPr sz="1400">
                <a:solidFill>
                  <a:srgbClr val="333333"/>
                </a:solidFill>
                <a:latin typeface="Microsoft YaHei"/>
              </a:rPr>
              <a:t>• 值得花时间吗？</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Matrix Template</a:t>
            </a:r>
            <a:endParaRPr lang="en-GB" dirty="0"/>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p:txBody>
      </p:sp>
      <p:graphicFrame>
        <p:nvGraphicFramePr>
          <p:cNvPr id="4" name="Table 3"/>
          <p:cNvGraphicFramePr>
            <a:graphicFrameLocks noGrp="1"/>
          </p:cNvGraphicFramePr>
          <p:nvPr/>
        </p:nvGraphicFramePr>
        <p:xfrm>
          <a:off x="609600" y="1600202"/>
          <a:ext cx="10972800" cy="2890084"/>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722521">
                <a:tc>
                  <a:txBody>
                    <a:bodyPr/>
                    <a:lstStyle/>
                    <a:p>
                      <a:endParaRPr lang="en-GB" dirty="0"/>
                    </a:p>
                  </a:txBody>
                  <a:tcPr/>
                </a:tc>
                <a:tc>
                  <a:txBody>
                    <a:bodyPr/>
                    <a:lstStyle/>
                    <a:p>
                      <a:r>
                        <a:rPr lang="en-GB" dirty="0">
                          <a:solidFill>
                            <a:schemeClr val="tx1"/>
                          </a:solidFill>
                        </a:rPr>
                        <a:t>Source A</a:t>
                      </a:r>
                      <a:endParaRPr lang="en-GB" dirty="0">
                        <a:solidFill>
                          <a:schemeClr val="tx1"/>
                        </a:solidFill>
                      </a:endParaRPr>
                    </a:p>
                  </a:txBody>
                  <a:tcPr/>
                </a:tc>
                <a:tc>
                  <a:txBody>
                    <a:bodyPr/>
                    <a:lstStyle/>
                    <a:p>
                      <a:r>
                        <a:rPr lang="en-GB" dirty="0">
                          <a:solidFill>
                            <a:schemeClr val="tx1"/>
                          </a:solidFill>
                        </a:rPr>
                        <a:t>Source B</a:t>
                      </a:r>
                      <a:endParaRPr lang="en-GB" dirty="0">
                        <a:solidFill>
                          <a:schemeClr val="tx1"/>
                        </a:solidFill>
                      </a:endParaRPr>
                    </a:p>
                  </a:txBody>
                  <a:tcPr/>
                </a:tc>
                <a:tc>
                  <a:txBody>
                    <a:bodyPr/>
                    <a:lstStyle/>
                    <a:p>
                      <a:r>
                        <a:rPr lang="en-GB" dirty="0">
                          <a:solidFill>
                            <a:schemeClr val="tx1"/>
                          </a:solidFill>
                        </a:rPr>
                        <a:t>Source C</a:t>
                      </a:r>
                      <a:endParaRPr lang="en-GB" dirty="0">
                        <a:solidFill>
                          <a:schemeClr val="tx1"/>
                        </a:solidFill>
                      </a:endParaRPr>
                    </a:p>
                  </a:txBody>
                  <a:tcPr/>
                </a:tc>
                <a:tc>
                  <a:txBody>
                    <a:bodyPr/>
                    <a:lstStyle/>
                    <a:p>
                      <a:r>
                        <a:rPr lang="en-GB" dirty="0">
                          <a:solidFill>
                            <a:schemeClr val="tx1"/>
                          </a:solidFill>
                        </a:rPr>
                        <a:t>Source D</a:t>
                      </a:r>
                      <a:endParaRPr lang="en-GB" dirty="0">
                        <a:solidFill>
                          <a:schemeClr val="tx1"/>
                        </a:solidFill>
                      </a:endParaRPr>
                    </a:p>
                  </a:txBody>
                  <a:tcPr/>
                </a:tc>
              </a:tr>
              <a:tr h="722521">
                <a:tc>
                  <a:txBody>
                    <a:bodyPr/>
                    <a:lstStyle/>
                    <a:p>
                      <a:r>
                        <a:rPr lang="en-GB" dirty="0">
                          <a:solidFill>
                            <a:schemeClr val="bg2"/>
                          </a:solidFill>
                        </a:rPr>
                        <a:t>Topic 1</a:t>
                      </a:r>
                      <a:endParaRPr lang="en-GB" dirty="0">
                        <a:solidFill>
                          <a:schemeClr val="bg2"/>
                        </a:solidFill>
                      </a:endParaRPr>
                    </a:p>
                  </a:txBody>
                  <a:tcPr/>
                </a:tc>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a:p>
                  </a:txBody>
                  <a:tcPr/>
                </a:tc>
              </a:tr>
              <a:tr h="722521">
                <a:tc>
                  <a:txBody>
                    <a:bodyPr/>
                    <a:lstStyle/>
                    <a:p>
                      <a:r>
                        <a:rPr lang="en-GB" dirty="0">
                          <a:solidFill>
                            <a:schemeClr val="bg2"/>
                          </a:solidFill>
                        </a:rPr>
                        <a:t>Topic 2</a:t>
                      </a:r>
                      <a:endParaRPr lang="en-GB" dirty="0">
                        <a:solidFill>
                          <a:schemeClr val="bg2"/>
                        </a:solidFill>
                      </a:endParaRP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r>
              <a:tr h="722521">
                <a:tc>
                  <a:txBody>
                    <a:bodyPr/>
                    <a:lstStyle/>
                    <a:p>
                      <a:r>
                        <a:rPr lang="en-GB" dirty="0">
                          <a:solidFill>
                            <a:schemeClr val="bg2"/>
                          </a:solidFill>
                        </a:rPr>
                        <a:t>Topic 3</a:t>
                      </a:r>
                      <a:endParaRPr lang="en-GB" dirty="0">
                        <a:solidFill>
                          <a:schemeClr val="bg2"/>
                        </a:solidFill>
                      </a:endParaRP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dirty="0"/>
                    </a:p>
                  </a:txBody>
                  <a:tcPr/>
                </a:tc>
              </a:tr>
            </a:tbl>
          </a:graphicData>
        </a:graphic>
      </p:graphicFrame>
      <p:sp>
        <p:nvSpPr>
          <p:cNvPr id="5" name="Oval 4"/>
          <p:cNvSpPr/>
          <p:nvPr/>
        </p:nvSpPr>
        <p:spPr>
          <a:xfrm>
            <a:off x="8451922" y="2425935"/>
            <a:ext cx="3130478" cy="143373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GB" sz="1600" dirty="0">
                <a:solidFill>
                  <a:schemeClr val="bg2"/>
                </a:solidFill>
              </a:rPr>
              <a:t>In each grid, write down the evidence with the page number or even the secondary in-text citation</a:t>
            </a:r>
            <a:endParaRPr lang="en-GB" sz="1600" dirty="0">
              <a:solidFill>
                <a:schemeClr val="bg2"/>
              </a:solidFill>
            </a:endParaRPr>
          </a:p>
        </p:txBody>
      </p:sp>
      <p:sp>
        <p:nvSpPr>
          <p:cNvPr id="6" name="Oval 5"/>
          <p:cNvSpPr/>
          <p:nvPr/>
        </p:nvSpPr>
        <p:spPr>
          <a:xfrm>
            <a:off x="8451922" y="3972744"/>
            <a:ext cx="3130478" cy="1433739"/>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GB" sz="1600" dirty="0">
                <a:solidFill>
                  <a:schemeClr val="bg2"/>
                </a:solidFill>
              </a:rPr>
              <a:t>Colour-code the pieces of evidence if you think that they are related to the same sub-topic.</a:t>
            </a:r>
            <a:endParaRPr lang="en-GB" sz="1600" dirty="0">
              <a:solidFill>
                <a:schemeClr val="bg2"/>
              </a:solidFill>
            </a:endParaRPr>
          </a:p>
        </p:txBody>
      </p:sp>
      <p:sp>
        <p:nvSpPr>
          <p:cNvPr id="7" name="Oval 6"/>
          <p:cNvSpPr/>
          <p:nvPr/>
        </p:nvSpPr>
        <p:spPr>
          <a:xfrm>
            <a:off x="2313250" y="2624055"/>
            <a:ext cx="3130478" cy="143373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GB" sz="1600" dirty="0">
                <a:solidFill>
                  <a:schemeClr val="bg2"/>
                </a:solidFill>
              </a:rPr>
              <a:t>These topics are usually the recurring key terms you identified from sources.</a:t>
            </a:r>
            <a:endParaRPr lang="en-GB" sz="1600" dirty="0">
              <a:solidFill>
                <a:schemeClr val="bg2"/>
              </a:solidFill>
            </a:endParaRPr>
          </a:p>
        </p:txBody>
      </p:sp>
      <p:cxnSp>
        <p:nvCxnSpPr>
          <p:cNvPr id="9" name="Straight Arrow Connector 8"/>
          <p:cNvCxnSpPr/>
          <p:nvPr/>
        </p:nvCxnSpPr>
        <p:spPr>
          <a:xfrm flipH="1" flipV="1">
            <a:off x="1783080" y="2624055"/>
            <a:ext cx="1060704" cy="33860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0" name="Straight Arrow Connector 9"/>
          <p:cNvCxnSpPr/>
          <p:nvPr/>
        </p:nvCxnSpPr>
        <p:spPr>
          <a:xfrm flipH="1">
            <a:off x="1783080" y="3676312"/>
            <a:ext cx="1142818" cy="38148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2" name="Straight Arrow Connector 11"/>
          <p:cNvCxnSpPr/>
          <p:nvPr/>
        </p:nvCxnSpPr>
        <p:spPr>
          <a:xfrm flipH="1">
            <a:off x="1783080" y="3340924"/>
            <a:ext cx="113080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3" name="TextBox 12"/>
          <p:cNvSpPr txBox="1"/>
          <p:nvPr/>
        </p:nvSpPr>
        <p:spPr>
          <a:xfrm>
            <a:off x="365760" y="6263640"/>
            <a:ext cx="11430000" cy="548640"/>
          </a:xfrm>
          <a:prstGeom prst="rect">
            <a:avLst/>
          </a:prstGeom>
          <a:solidFill>
            <a:srgbClr val="FFF6E0"/>
          </a:solidFill>
        </p:spPr>
        <p:txBody>
          <a:bodyPr wrap="square">
            <a:spAutoFit/>
          </a:bodyPr>
          <a:lstStyle/>
          <a:p>
            <a:r>
              <a:rPr sz="1200">
                <a:solidFill>
                  <a:srgbClr val="805000"/>
                </a:solidFill>
                <a:latin typeface="Microsoft YaHei"/>
              </a:rPr>
              <a:t>中译：研究矩阵模板：横轴=来源A/B/C/D，纵轴=主题1/2/3。每个格子写「证据+页码」，同主题可用颜色标注。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Research Matrix – Example</a:t>
            </a:r>
            <a:endParaRPr lang="en-GB" dirty="0"/>
          </a:p>
        </p:txBody>
      </p:sp>
      <p:sp>
        <p:nvSpPr>
          <p:cNvPr id="3" name="Content Placeholder 2"/>
          <p:cNvSpPr>
            <a:spLocks noGrp="1"/>
          </p:cNvSpPr>
          <p:nvPr>
            <p:ph idx="1"/>
          </p:nvPr>
        </p:nvSpPr>
        <p:spPr/>
        <p:txBody>
          <a:bodyPr/>
          <a:lstStyle/>
          <a:p>
            <a:endParaRPr lang="en-GB"/>
          </a:p>
        </p:txBody>
      </p:sp>
      <p:graphicFrame>
        <p:nvGraphicFramePr>
          <p:cNvPr id="4" name="Table 3"/>
          <p:cNvGraphicFramePr>
            <a:graphicFrameLocks noGrp="1"/>
          </p:cNvGraphicFramePr>
          <p:nvPr/>
        </p:nvGraphicFramePr>
        <p:xfrm>
          <a:off x="114300" y="1600202"/>
          <a:ext cx="11758957" cy="4086224"/>
        </p:xfrm>
        <a:graphic>
          <a:graphicData uri="http://schemas.openxmlformats.org/drawingml/2006/table">
            <a:tbl>
              <a:tblPr firstRow="1" firstCol="1" bandRow="1"/>
              <a:tblGrid>
                <a:gridCol w="1669429"/>
                <a:gridCol w="3028950"/>
                <a:gridCol w="2461093"/>
                <a:gridCol w="2247692"/>
                <a:gridCol w="2351793"/>
              </a:tblGrid>
              <a:tr h="980146">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1</a:t>
                      </a:r>
                      <a:endParaRPr lang="en-GB" sz="1400" kern="0" dirty="0">
                        <a:solidFill>
                          <a:schemeClr val="tx1"/>
                        </a:solidFill>
                        <a:effectLst/>
                        <a:latin typeface="+mn-lt"/>
                      </a:endParaRPr>
                    </a:p>
                    <a:p>
                      <a:pPr algn="ctr">
                        <a:lnSpc>
                          <a:spcPct val="107000"/>
                        </a:lnSpc>
                        <a:spcAft>
                          <a:spcPts val="800"/>
                        </a:spcAft>
                      </a:pPr>
                      <a:r>
                        <a:rPr lang="en-GB" sz="1400" kern="0" dirty="0">
                          <a:solidFill>
                            <a:schemeClr val="tx1"/>
                          </a:solidFill>
                          <a:effectLst/>
                          <a:latin typeface="+mn-lt"/>
                          <a:ea typeface="Calibri" panose="020F0502020204030204" charset="0"/>
                          <a:cs typeface="Times New Roman" panose="02020603050405020304" pitchFamily="18" charset="0"/>
                        </a:rPr>
                        <a:t>Skinner &amp; Stewart (2017)</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2</a:t>
                      </a:r>
                      <a:endParaRPr lang="en-GB" sz="1400" kern="0" dirty="0">
                        <a:solidFill>
                          <a:schemeClr val="tx1"/>
                        </a:solidFill>
                        <a:effectLst/>
                        <a:latin typeface="+mn-lt"/>
                      </a:endParaRPr>
                    </a:p>
                    <a:p>
                      <a:pPr algn="ctr">
                        <a:lnSpc>
                          <a:spcPct val="107000"/>
                        </a:lnSpc>
                        <a:spcAft>
                          <a:spcPts val="800"/>
                        </a:spcAft>
                      </a:pPr>
                      <a:r>
                        <a:rPr lang="en-GB" sz="1400" b="1" kern="1200" dirty="0">
                          <a:solidFill>
                            <a:schemeClr val="tx1"/>
                          </a:solidFill>
                          <a:effectLst/>
                          <a:latin typeface="+mn-lt"/>
                          <a:ea typeface="+mn-ea"/>
                          <a:cs typeface="+mn-cs"/>
                        </a:rPr>
                        <a:t>Díaz et al., 2018</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3</a:t>
                      </a:r>
                      <a:endParaRPr lang="en-GB" sz="1400" kern="0" dirty="0">
                        <a:solidFill>
                          <a:schemeClr val="tx1"/>
                        </a:solidFill>
                        <a:effectLst/>
                        <a:latin typeface="+mn-lt"/>
                      </a:endParaRPr>
                    </a:p>
                    <a:p>
                      <a:pPr algn="ctr">
                        <a:lnSpc>
                          <a:spcPct val="107000"/>
                        </a:lnSpc>
                        <a:spcAft>
                          <a:spcPts val="800"/>
                        </a:spcAft>
                      </a:pPr>
                      <a:r>
                        <a:rPr lang="en-GB" sz="1400" kern="0" dirty="0">
                          <a:solidFill>
                            <a:schemeClr val="tx1"/>
                          </a:solidFill>
                          <a:effectLst/>
                          <a:latin typeface="+mn-lt"/>
                          <a:ea typeface="Calibri" panose="020F0502020204030204" charset="0"/>
                          <a:cs typeface="Times New Roman" panose="02020603050405020304" pitchFamily="18" charset="0"/>
                        </a:rPr>
                        <a:t>Hofstede (2001)</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4</a:t>
                      </a:r>
                      <a:endParaRPr lang="en-GB" sz="1400" kern="0" dirty="0">
                        <a:solidFill>
                          <a:schemeClr val="tx1"/>
                        </a:solidFill>
                        <a:effectLst/>
                        <a:latin typeface="+mn-lt"/>
                      </a:endParaRPr>
                    </a:p>
                    <a:p>
                      <a:pPr algn="ctr">
                        <a:lnSpc>
                          <a:spcPct val="107000"/>
                        </a:lnSpc>
                        <a:spcAft>
                          <a:spcPts val="800"/>
                        </a:spcAft>
                      </a:pPr>
                      <a:r>
                        <a:rPr lang="en-GB" sz="1400" kern="0" dirty="0">
                          <a:solidFill>
                            <a:schemeClr val="tx1"/>
                          </a:solidFill>
                          <a:effectLst/>
                          <a:latin typeface="+mn-lt"/>
                          <a:ea typeface="Calibri" panose="020F0502020204030204" charset="0"/>
                          <a:cs typeface="Times New Roman" panose="02020603050405020304" pitchFamily="18" charset="0"/>
                        </a:rPr>
                        <a:t>Deal &amp; Kennedy (1982)</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r>
              <a:tr h="1484593">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nSpc>
                          <a:spcPct val="107000"/>
                        </a:lnSpc>
                        <a:spcAft>
                          <a:spcPts val="800"/>
                        </a:spcAft>
                      </a:pPr>
                      <a:r>
                        <a:rPr lang="en-GB" sz="1600" kern="0" dirty="0">
                          <a:solidFill>
                            <a:schemeClr val="tx1"/>
                          </a:solidFill>
                          <a:effectLst/>
                          <a:latin typeface="+mn-lt"/>
                        </a:rPr>
                        <a:t>Theme 1</a:t>
                      </a:r>
                      <a:endParaRPr lang="en-GB" sz="1600" kern="0" dirty="0">
                        <a:solidFill>
                          <a:schemeClr val="tx1"/>
                        </a:solidFill>
                        <a:effectLst/>
                        <a:latin typeface="+mn-lt"/>
                      </a:endParaRPr>
                    </a:p>
                    <a:p>
                      <a:pPr>
                        <a:lnSpc>
                          <a:spcPct val="107000"/>
                        </a:lnSpc>
                        <a:spcAft>
                          <a:spcPts val="800"/>
                        </a:spcAft>
                      </a:pPr>
                      <a:r>
                        <a:rPr lang="en-GB" sz="1600" kern="0" dirty="0">
                          <a:solidFill>
                            <a:schemeClr val="tx1"/>
                          </a:solidFill>
                          <a:effectLst/>
                          <a:latin typeface="+mn-lt"/>
                          <a:ea typeface="Calibri" panose="020F0502020204030204" charset="0"/>
                          <a:cs typeface="Times New Roman" panose="02020603050405020304" pitchFamily="18" charset="0"/>
                        </a:rPr>
                        <a:t>Name of AI-based technology</a:t>
                      </a:r>
                      <a:endParaRPr lang="en-GB" sz="16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4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4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4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40000"/>
                      </a:srgbClr>
                    </a:solidFill>
                  </a:tcPr>
                </a:tc>
              </a:tr>
              <a:tr h="1621485">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nSpc>
                          <a:spcPct val="107000"/>
                        </a:lnSpc>
                        <a:spcAft>
                          <a:spcPts val="800"/>
                        </a:spcAft>
                      </a:pPr>
                      <a:r>
                        <a:rPr lang="en-GB" sz="1600" kern="0" dirty="0">
                          <a:solidFill>
                            <a:schemeClr val="tx1"/>
                          </a:solidFill>
                          <a:effectLst/>
                          <a:latin typeface="+mn-lt"/>
                        </a:rPr>
                        <a:t>Theme 2</a:t>
                      </a:r>
                      <a:endParaRPr lang="en-GB" sz="1600" kern="0" dirty="0">
                        <a:solidFill>
                          <a:schemeClr val="tx1"/>
                        </a:solidFill>
                        <a:effectLst/>
                        <a:latin typeface="+mn-lt"/>
                      </a:endParaRPr>
                    </a:p>
                    <a:p>
                      <a:pPr>
                        <a:lnSpc>
                          <a:spcPct val="107000"/>
                        </a:lnSpc>
                        <a:spcAft>
                          <a:spcPts val="800"/>
                        </a:spcAft>
                      </a:pPr>
                      <a:r>
                        <a:rPr lang="en-GB" sz="1600" kern="0" dirty="0">
                          <a:solidFill>
                            <a:schemeClr val="tx1"/>
                          </a:solidFill>
                          <a:effectLst/>
                          <a:latin typeface="+mn-lt"/>
                          <a:ea typeface="Calibri" panose="020F0502020204030204" charset="0"/>
                          <a:cs typeface="Times New Roman" panose="02020603050405020304" pitchFamily="18" charset="0"/>
                        </a:rPr>
                        <a:t>Organisational culture</a:t>
                      </a:r>
                      <a:endParaRPr lang="en-GB" sz="16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0000"/>
                        </a:lnSpc>
                        <a:spcAft>
                          <a:spcPts val="800"/>
                        </a:spcAft>
                      </a:pP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0000"/>
                        </a:lnSpc>
                        <a:spcAft>
                          <a:spcPts val="800"/>
                        </a:spcAft>
                      </a:pP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r>
            </a:tbl>
          </a:graphicData>
        </a:graphic>
      </p:graphicFrame>
      <p:sp>
        <p:nvSpPr>
          <p:cNvPr id="5" name="TextBox 4"/>
          <p:cNvSpPr txBox="1"/>
          <p:nvPr/>
        </p:nvSpPr>
        <p:spPr>
          <a:xfrm>
            <a:off x="365760" y="6263640"/>
            <a:ext cx="11430000" cy="548640"/>
          </a:xfrm>
          <a:prstGeom prst="rect">
            <a:avLst/>
          </a:prstGeom>
          <a:solidFill>
            <a:srgbClr val="FFF6E0"/>
          </a:solidFill>
        </p:spPr>
        <p:txBody>
          <a:bodyPr wrap="square">
            <a:spAutoFit/>
          </a:bodyPr>
          <a:lstStyle/>
          <a:p>
            <a:r>
              <a:rPr sz="1200">
                <a:solidFill>
                  <a:srgbClr val="805000"/>
                </a:solidFill>
                <a:latin typeface="Microsoft YaHei"/>
              </a:rPr>
              <a:t>中译：研究矩阵示例：来源=Skinner&amp;Stewart/Díaz/Hofstede/Deal&amp;Kennedy；两条主题=AI技术名、组织文化。</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Research Matrix – Example</a:t>
            </a:r>
            <a:endParaRPr lang="en-GB" dirty="0"/>
          </a:p>
        </p:txBody>
      </p:sp>
      <p:sp>
        <p:nvSpPr>
          <p:cNvPr id="3" name="Content Placeholder 2"/>
          <p:cNvSpPr>
            <a:spLocks noGrp="1"/>
          </p:cNvSpPr>
          <p:nvPr>
            <p:ph idx="1"/>
          </p:nvPr>
        </p:nvSpPr>
        <p:spPr/>
        <p:txBody>
          <a:bodyPr/>
          <a:lstStyle/>
          <a:p>
            <a:endParaRPr lang="en-GB"/>
          </a:p>
        </p:txBody>
      </p:sp>
      <p:graphicFrame>
        <p:nvGraphicFramePr>
          <p:cNvPr id="4" name="Table 3"/>
          <p:cNvGraphicFramePr>
            <a:graphicFrameLocks noGrp="1"/>
          </p:cNvGraphicFramePr>
          <p:nvPr/>
        </p:nvGraphicFramePr>
        <p:xfrm>
          <a:off x="114300" y="1600202"/>
          <a:ext cx="11758957" cy="4118126"/>
        </p:xfrm>
        <a:graphic>
          <a:graphicData uri="http://schemas.openxmlformats.org/drawingml/2006/table">
            <a:tbl>
              <a:tblPr firstRow="1" firstCol="1" bandRow="1"/>
              <a:tblGrid>
                <a:gridCol w="1669429"/>
                <a:gridCol w="3028950"/>
                <a:gridCol w="2461093"/>
                <a:gridCol w="2247692"/>
                <a:gridCol w="2351793"/>
              </a:tblGrid>
              <a:tr h="980146">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1</a:t>
                      </a:r>
                      <a:endParaRPr lang="en-GB" sz="1400" kern="0" dirty="0">
                        <a:solidFill>
                          <a:schemeClr val="tx1"/>
                        </a:solidFill>
                        <a:effectLst/>
                        <a:latin typeface="+mn-lt"/>
                      </a:endParaRPr>
                    </a:p>
                    <a:p>
                      <a:pPr algn="ctr">
                        <a:lnSpc>
                          <a:spcPct val="107000"/>
                        </a:lnSpc>
                        <a:spcAft>
                          <a:spcPts val="800"/>
                        </a:spcAft>
                      </a:pPr>
                      <a:r>
                        <a:rPr lang="en-GB" sz="1400" kern="0" dirty="0">
                          <a:solidFill>
                            <a:schemeClr val="tx1"/>
                          </a:solidFill>
                          <a:effectLst/>
                          <a:latin typeface="+mn-lt"/>
                          <a:ea typeface="Calibri" panose="020F0502020204030204" charset="0"/>
                          <a:cs typeface="Times New Roman" panose="02020603050405020304" pitchFamily="18" charset="0"/>
                        </a:rPr>
                        <a:t>Skinner &amp; Stewart (2017)</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2</a:t>
                      </a:r>
                      <a:endParaRPr lang="en-GB" sz="1400" kern="0" dirty="0">
                        <a:solidFill>
                          <a:schemeClr val="tx1"/>
                        </a:solidFill>
                        <a:effectLst/>
                        <a:latin typeface="+mn-lt"/>
                      </a:endParaRPr>
                    </a:p>
                    <a:p>
                      <a:pPr algn="ctr">
                        <a:lnSpc>
                          <a:spcPct val="107000"/>
                        </a:lnSpc>
                        <a:spcAft>
                          <a:spcPts val="800"/>
                        </a:spcAft>
                      </a:pPr>
                      <a:r>
                        <a:rPr lang="en-GB" sz="1400" b="1" kern="1200" dirty="0">
                          <a:solidFill>
                            <a:schemeClr val="tx1"/>
                          </a:solidFill>
                          <a:effectLst/>
                          <a:latin typeface="+mn-lt"/>
                          <a:ea typeface="+mn-ea"/>
                          <a:cs typeface="+mn-cs"/>
                        </a:rPr>
                        <a:t>Díaz et al., 2018</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3</a:t>
                      </a:r>
                      <a:endParaRPr lang="en-GB" sz="1400" kern="0" dirty="0">
                        <a:solidFill>
                          <a:schemeClr val="tx1"/>
                        </a:solidFill>
                        <a:effectLst/>
                        <a:latin typeface="+mn-lt"/>
                      </a:endParaRPr>
                    </a:p>
                    <a:p>
                      <a:pPr algn="ctr">
                        <a:lnSpc>
                          <a:spcPct val="107000"/>
                        </a:lnSpc>
                        <a:spcAft>
                          <a:spcPts val="800"/>
                        </a:spcAft>
                      </a:pPr>
                      <a:r>
                        <a:rPr lang="en-GB" sz="1400" kern="0" dirty="0">
                          <a:solidFill>
                            <a:schemeClr val="tx1"/>
                          </a:solidFill>
                          <a:effectLst/>
                          <a:latin typeface="+mn-lt"/>
                          <a:ea typeface="Calibri" panose="020F0502020204030204" charset="0"/>
                          <a:cs typeface="Times New Roman" panose="02020603050405020304" pitchFamily="18" charset="0"/>
                        </a:rPr>
                        <a:t>Hofstede (2001)</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4</a:t>
                      </a:r>
                      <a:endParaRPr lang="en-GB" sz="1400" kern="0" dirty="0">
                        <a:solidFill>
                          <a:schemeClr val="tx1"/>
                        </a:solidFill>
                        <a:effectLst/>
                        <a:latin typeface="+mn-lt"/>
                      </a:endParaRPr>
                    </a:p>
                    <a:p>
                      <a:pPr algn="ctr">
                        <a:lnSpc>
                          <a:spcPct val="107000"/>
                        </a:lnSpc>
                        <a:spcAft>
                          <a:spcPts val="800"/>
                        </a:spcAft>
                      </a:pPr>
                      <a:r>
                        <a:rPr lang="en-GB" sz="1400" kern="0" dirty="0">
                          <a:solidFill>
                            <a:schemeClr val="tx1"/>
                          </a:solidFill>
                          <a:effectLst/>
                          <a:latin typeface="+mn-lt"/>
                          <a:ea typeface="Calibri" panose="020F0502020204030204" charset="0"/>
                          <a:cs typeface="Times New Roman" panose="02020603050405020304" pitchFamily="18" charset="0"/>
                        </a:rPr>
                        <a:t>Deal &amp; Kennedy (1982)</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r>
              <a:tr h="1089952">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nSpc>
                          <a:spcPct val="107000"/>
                        </a:lnSpc>
                        <a:spcAft>
                          <a:spcPts val="800"/>
                        </a:spcAft>
                      </a:pPr>
                      <a:r>
                        <a:rPr lang="en-GB" sz="1600" kern="0" dirty="0">
                          <a:solidFill>
                            <a:schemeClr val="tx1"/>
                          </a:solidFill>
                          <a:effectLst/>
                          <a:latin typeface="+mn-lt"/>
                        </a:rPr>
                        <a:t>Theme 1</a:t>
                      </a:r>
                      <a:endParaRPr lang="en-GB" sz="1600" kern="0" dirty="0">
                        <a:solidFill>
                          <a:schemeClr val="tx1"/>
                        </a:solidFill>
                        <a:effectLst/>
                        <a:latin typeface="+mn-lt"/>
                      </a:endParaRPr>
                    </a:p>
                    <a:p>
                      <a:pPr>
                        <a:lnSpc>
                          <a:spcPct val="107000"/>
                        </a:lnSpc>
                        <a:spcAft>
                          <a:spcPts val="800"/>
                        </a:spcAft>
                      </a:pPr>
                      <a:r>
                        <a:rPr lang="en-GB" sz="1600" kern="0" dirty="0">
                          <a:solidFill>
                            <a:schemeClr val="tx1"/>
                          </a:solidFill>
                          <a:effectLst/>
                          <a:latin typeface="+mn-lt"/>
                          <a:ea typeface="Calibri" panose="020F0502020204030204" charset="0"/>
                          <a:cs typeface="Times New Roman" panose="02020603050405020304" pitchFamily="18" charset="0"/>
                        </a:rPr>
                        <a:t>Name of AI-based technology</a:t>
                      </a:r>
                      <a:endParaRPr lang="en-GB" sz="16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F3092">
                        <a:tint val="4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F3092">
                        <a:tint val="4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F3092">
                        <a:tint val="4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F3092">
                        <a:tint val="40000"/>
                      </a:srgbClr>
                    </a:solidFill>
                  </a:tcPr>
                </a:tc>
              </a:tr>
              <a:tr h="1621485">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nSpc>
                          <a:spcPct val="107000"/>
                        </a:lnSpc>
                        <a:spcAft>
                          <a:spcPts val="800"/>
                        </a:spcAft>
                      </a:pPr>
                      <a:r>
                        <a:rPr lang="en-GB" sz="1600" kern="0" dirty="0">
                          <a:solidFill>
                            <a:schemeClr val="tx1"/>
                          </a:solidFill>
                          <a:effectLst/>
                          <a:latin typeface="+mn-lt"/>
                        </a:rPr>
                        <a:t>Theme 2</a:t>
                      </a:r>
                      <a:endParaRPr lang="en-GB" sz="1600" kern="0" dirty="0">
                        <a:solidFill>
                          <a:schemeClr val="tx1"/>
                        </a:solidFill>
                        <a:effectLst/>
                        <a:latin typeface="+mn-lt"/>
                      </a:endParaRPr>
                    </a:p>
                    <a:p>
                      <a:pPr>
                        <a:lnSpc>
                          <a:spcPct val="107000"/>
                        </a:lnSpc>
                        <a:spcAft>
                          <a:spcPts val="800"/>
                        </a:spcAft>
                      </a:pPr>
                      <a:r>
                        <a:rPr lang="en-GB" sz="1600" kern="0" dirty="0">
                          <a:solidFill>
                            <a:schemeClr val="tx1"/>
                          </a:solidFill>
                          <a:effectLst/>
                          <a:latin typeface="+mn-lt"/>
                          <a:ea typeface="Calibri" panose="020F0502020204030204" charset="0"/>
                          <a:cs typeface="Times New Roman" panose="02020603050405020304" pitchFamily="18" charset="0"/>
                        </a:rPr>
                        <a:t>Organisational culture</a:t>
                      </a:r>
                      <a:endParaRPr lang="en-GB" sz="16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0000"/>
                        </a:lnSpc>
                        <a:spcAft>
                          <a:spcPts val="800"/>
                        </a:spcAft>
                      </a:pPr>
                      <a:r>
                        <a:rPr lang="en-GB" sz="1400" kern="0" dirty="0">
                          <a:solidFill>
                            <a:srgbClr val="330066"/>
                          </a:solidFill>
                          <a:effectLst/>
                          <a:latin typeface="+mn-lt"/>
                        </a:rPr>
                        <a:t>3 features:</a:t>
                      </a:r>
                      <a:endParaRPr lang="en-GB" sz="1400" kern="0" dirty="0">
                        <a:solidFill>
                          <a:srgbClr val="330066"/>
                        </a:solidFill>
                        <a:effectLst/>
                        <a:latin typeface="+mn-lt"/>
                      </a:endParaRPr>
                    </a:p>
                    <a:p>
                      <a:pPr marL="228600" indent="-228600">
                        <a:lnSpc>
                          <a:spcPct val="100000"/>
                        </a:lnSpc>
                        <a:spcAft>
                          <a:spcPts val="800"/>
                        </a:spcAft>
                        <a:buAutoNum type="arabicPeriod"/>
                      </a:pPr>
                      <a:r>
                        <a:rPr lang="en-GB" sz="1400" kern="0" dirty="0">
                          <a:solidFill>
                            <a:srgbClr val="330066"/>
                          </a:solidFill>
                          <a:effectLst/>
                          <a:latin typeface="+mn-lt"/>
                          <a:ea typeface="Calibri" panose="020F0502020204030204" charset="0"/>
                          <a:cs typeface="Times New Roman" panose="02020603050405020304" pitchFamily="18" charset="0"/>
                        </a:rPr>
                        <a:t>Common knowledge in the company</a:t>
                      </a:r>
                      <a:endParaRPr lang="en-GB" sz="1400" kern="0" dirty="0">
                        <a:solidFill>
                          <a:srgbClr val="330066"/>
                        </a:solidFill>
                        <a:effectLst/>
                        <a:latin typeface="+mn-lt"/>
                        <a:ea typeface="Calibri" panose="020F0502020204030204" charset="0"/>
                        <a:cs typeface="Times New Roman" panose="02020603050405020304" pitchFamily="18" charset="0"/>
                      </a:endParaRPr>
                    </a:p>
                    <a:p>
                      <a:pPr marL="0" indent="0">
                        <a:lnSpc>
                          <a:spcPct val="100000"/>
                        </a:lnSpc>
                        <a:spcAft>
                          <a:spcPts val="800"/>
                        </a:spcAft>
                        <a:buNone/>
                      </a:pPr>
                      <a:r>
                        <a:rPr lang="en-GB" sz="1400" kern="0" dirty="0">
                          <a:solidFill>
                            <a:srgbClr val="330066"/>
                          </a:solidFill>
                          <a:effectLst/>
                          <a:latin typeface="+mn-lt"/>
                          <a:ea typeface="Calibri" panose="020F0502020204030204" charset="0"/>
                          <a:cs typeface="Times New Roman" panose="02020603050405020304" pitchFamily="18" charset="0"/>
                        </a:rPr>
                        <a:t>2. Inflexible and consistent</a:t>
                      </a:r>
                      <a:endParaRPr lang="en-GB" sz="1400" kern="0" dirty="0">
                        <a:solidFill>
                          <a:srgbClr val="330066"/>
                        </a:solidFill>
                        <a:effectLst/>
                        <a:latin typeface="+mn-lt"/>
                        <a:ea typeface="Calibri" panose="020F0502020204030204" charset="0"/>
                        <a:cs typeface="Times New Roman" panose="02020603050405020304" pitchFamily="18" charset="0"/>
                      </a:endParaRPr>
                    </a:p>
                    <a:p>
                      <a:pPr marL="0" indent="0">
                        <a:lnSpc>
                          <a:spcPct val="100000"/>
                        </a:lnSpc>
                        <a:spcAft>
                          <a:spcPts val="800"/>
                        </a:spcAft>
                        <a:buNone/>
                      </a:pPr>
                      <a:r>
                        <a:rPr lang="en-GB" sz="1400" kern="0" dirty="0">
                          <a:solidFill>
                            <a:srgbClr val="330066"/>
                          </a:solidFill>
                          <a:effectLst/>
                          <a:latin typeface="+mn-lt"/>
                          <a:ea typeface="Calibri" panose="020F0502020204030204" charset="0"/>
                          <a:cs typeface="Times New Roman" panose="02020603050405020304" pitchFamily="18" charset="0"/>
                        </a:rPr>
                        <a:t>3. More impact -&gt; more employees embrace</a:t>
                      </a:r>
                      <a:br>
                        <a:rPr lang="en-GB" sz="1400" kern="0" dirty="0">
                          <a:solidFill>
                            <a:srgbClr val="330066"/>
                          </a:solidFill>
                          <a:effectLst/>
                          <a:latin typeface="+mn-lt"/>
                          <a:ea typeface="Calibri" panose="020F0502020204030204" charset="0"/>
                          <a:cs typeface="Times New Roman" panose="02020603050405020304" pitchFamily="18" charset="0"/>
                        </a:rPr>
                      </a:br>
                      <a:r>
                        <a:rPr lang="en-GB" sz="1400" kern="0" dirty="0">
                          <a:solidFill>
                            <a:srgbClr val="330066"/>
                          </a:solidFill>
                          <a:effectLst/>
                          <a:latin typeface="+mn-lt"/>
                          <a:ea typeface="Calibri" panose="020F0502020204030204" charset="0"/>
                          <a:cs typeface="Times New Roman" panose="02020603050405020304" pitchFamily="18" charset="0"/>
                        </a:rPr>
                        <a:t>Both explicit/ implicit: range of policy etc.</a:t>
                      </a:r>
                      <a:endParaRPr lang="en-GB" sz="1400" kern="100" dirty="0">
                        <a:solidFill>
                          <a:srgbClr val="330066"/>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0000"/>
                        </a:lnSpc>
                        <a:spcAft>
                          <a:spcPts val="800"/>
                        </a:spcAft>
                      </a:pPr>
                      <a:r>
                        <a:rPr lang="en-GB" sz="1400" kern="0" dirty="0">
                          <a:solidFill>
                            <a:srgbClr val="330066"/>
                          </a:solidFill>
                          <a:effectLst/>
                          <a:latin typeface="+mn-lt"/>
                        </a:rPr>
                        <a:t> </a:t>
                      </a:r>
                      <a:r>
                        <a:rPr lang="en-GB" sz="1400" kern="1200" dirty="0">
                          <a:solidFill>
                            <a:srgbClr val="330066"/>
                          </a:solidFill>
                          <a:effectLst/>
                          <a:latin typeface="+mn-lt"/>
                          <a:ea typeface="+mn-ea"/>
                          <a:cs typeface="+mn-cs"/>
                        </a:rPr>
                        <a:t>“with the goal of achieving deep business engagement, creating employee pull, and cultivating a sense of purpose, so that data can support your operations instead of the other way around” </a:t>
                      </a:r>
                      <a:endParaRPr lang="en-GB" sz="1400" kern="100" dirty="0">
                        <a:solidFill>
                          <a:srgbClr val="330066"/>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400" kern="0" dirty="0">
                          <a:solidFill>
                            <a:srgbClr val="330066"/>
                          </a:solidFill>
                          <a:effectLst/>
                          <a:latin typeface="+mn-lt"/>
                        </a:rPr>
                        <a:t> “the collective programming of the mind that distinguishes the members of one group or category of people from others”</a:t>
                      </a:r>
                      <a:endParaRPr lang="en-GB" sz="1400" kern="100" dirty="0">
                        <a:solidFill>
                          <a:srgbClr val="330066"/>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400" kern="0" dirty="0">
                          <a:solidFill>
                            <a:srgbClr val="330066"/>
                          </a:solidFill>
                          <a:effectLst/>
                          <a:latin typeface="+mn-lt"/>
                        </a:rPr>
                        <a:t>  “the way we do things round here”</a:t>
                      </a:r>
                      <a:endParaRPr lang="en-GB" sz="1400" kern="100" dirty="0">
                        <a:solidFill>
                          <a:srgbClr val="330066"/>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r>
            </a:tbl>
          </a:graphicData>
        </a:graphic>
      </p:graphicFrame>
      <p:sp>
        <p:nvSpPr>
          <p:cNvPr id="5" name="TextBox 4"/>
          <p:cNvSpPr txBox="1"/>
          <p:nvPr/>
        </p:nvSpPr>
        <p:spPr>
          <a:xfrm>
            <a:off x="365760" y="6263640"/>
            <a:ext cx="11430000" cy="548640"/>
          </a:xfrm>
          <a:prstGeom prst="rect">
            <a:avLst/>
          </a:prstGeom>
          <a:solidFill>
            <a:srgbClr val="FFF6E0"/>
          </a:solidFill>
        </p:spPr>
        <p:txBody>
          <a:bodyPr wrap="square">
            <a:spAutoFit/>
          </a:bodyPr>
          <a:lstStyle/>
          <a:p>
            <a:r>
              <a:rPr sz="1200">
                <a:solidFill>
                  <a:srgbClr val="805000"/>
                </a:solidFill>
                <a:latin typeface="Microsoft YaHei"/>
              </a:rPr>
              <a:t>中译：研究矩阵示例（组织文化定义已填入）：Skinner3特征 / Díaz数据文化 / Hofstede集体编程 / Deal「做事方式」。</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Research Matrix – Example</a:t>
            </a:r>
            <a:endParaRPr lang="en-GB" dirty="0"/>
          </a:p>
        </p:txBody>
      </p:sp>
      <p:sp>
        <p:nvSpPr>
          <p:cNvPr id="3" name="Content Placeholder 2"/>
          <p:cNvSpPr>
            <a:spLocks noGrp="1"/>
          </p:cNvSpPr>
          <p:nvPr>
            <p:ph idx="1"/>
          </p:nvPr>
        </p:nvSpPr>
        <p:spPr/>
        <p:txBody>
          <a:bodyPr/>
          <a:lstStyle/>
          <a:p>
            <a:endParaRPr lang="en-GB"/>
          </a:p>
        </p:txBody>
      </p:sp>
      <p:graphicFrame>
        <p:nvGraphicFramePr>
          <p:cNvPr id="4" name="Table 3"/>
          <p:cNvGraphicFramePr>
            <a:graphicFrameLocks noGrp="1"/>
          </p:cNvGraphicFramePr>
          <p:nvPr/>
        </p:nvGraphicFramePr>
        <p:xfrm>
          <a:off x="114300" y="1600202"/>
          <a:ext cx="11758957" cy="4118126"/>
        </p:xfrm>
        <a:graphic>
          <a:graphicData uri="http://schemas.openxmlformats.org/drawingml/2006/table">
            <a:tbl>
              <a:tblPr firstRow="1" firstCol="1" bandRow="1"/>
              <a:tblGrid>
                <a:gridCol w="1669429"/>
                <a:gridCol w="3028950"/>
                <a:gridCol w="2461093"/>
                <a:gridCol w="2247692"/>
                <a:gridCol w="2351793"/>
              </a:tblGrid>
              <a:tr h="980146">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1</a:t>
                      </a:r>
                      <a:endParaRPr lang="en-GB" sz="1400" kern="0" dirty="0">
                        <a:solidFill>
                          <a:schemeClr val="tx1"/>
                        </a:solidFill>
                        <a:effectLst/>
                        <a:latin typeface="+mn-lt"/>
                      </a:endParaRPr>
                    </a:p>
                    <a:p>
                      <a:pPr algn="ctr">
                        <a:lnSpc>
                          <a:spcPct val="107000"/>
                        </a:lnSpc>
                        <a:spcAft>
                          <a:spcPts val="800"/>
                        </a:spcAft>
                      </a:pPr>
                      <a:r>
                        <a:rPr lang="en-GB" sz="1400" kern="0" dirty="0">
                          <a:solidFill>
                            <a:schemeClr val="tx1"/>
                          </a:solidFill>
                          <a:effectLst/>
                          <a:latin typeface="+mn-lt"/>
                          <a:ea typeface="Calibri" panose="020F0502020204030204" charset="0"/>
                          <a:cs typeface="Times New Roman" panose="02020603050405020304" pitchFamily="18" charset="0"/>
                        </a:rPr>
                        <a:t>Skinner &amp; Stewart (2017)</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2</a:t>
                      </a:r>
                      <a:endParaRPr lang="en-GB" sz="1400" kern="0" dirty="0">
                        <a:solidFill>
                          <a:schemeClr val="tx1"/>
                        </a:solidFill>
                        <a:effectLst/>
                        <a:latin typeface="+mn-lt"/>
                      </a:endParaRPr>
                    </a:p>
                    <a:p>
                      <a:pPr algn="ctr">
                        <a:lnSpc>
                          <a:spcPct val="107000"/>
                        </a:lnSpc>
                        <a:spcAft>
                          <a:spcPts val="800"/>
                        </a:spcAft>
                      </a:pPr>
                      <a:r>
                        <a:rPr lang="en-GB" sz="1400" b="1" kern="1200" dirty="0">
                          <a:solidFill>
                            <a:schemeClr val="tx1"/>
                          </a:solidFill>
                          <a:effectLst/>
                          <a:latin typeface="+mn-lt"/>
                          <a:ea typeface="+mn-ea"/>
                          <a:cs typeface="+mn-cs"/>
                        </a:rPr>
                        <a:t>Díaz et al., 2018</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3</a:t>
                      </a:r>
                      <a:endParaRPr lang="en-GB" sz="1400" kern="0" dirty="0">
                        <a:solidFill>
                          <a:schemeClr val="tx1"/>
                        </a:solidFill>
                        <a:effectLst/>
                        <a:latin typeface="+mn-lt"/>
                      </a:endParaRPr>
                    </a:p>
                    <a:p>
                      <a:pPr algn="ctr">
                        <a:lnSpc>
                          <a:spcPct val="107000"/>
                        </a:lnSpc>
                        <a:spcAft>
                          <a:spcPts val="800"/>
                        </a:spcAft>
                      </a:pPr>
                      <a:r>
                        <a:rPr lang="en-GB" sz="1400" kern="0" dirty="0">
                          <a:solidFill>
                            <a:schemeClr val="tx1"/>
                          </a:solidFill>
                          <a:effectLst/>
                          <a:latin typeface="+mn-lt"/>
                          <a:ea typeface="Calibri" panose="020F0502020204030204" charset="0"/>
                          <a:cs typeface="Times New Roman" panose="02020603050405020304" pitchFamily="18" charset="0"/>
                        </a:rPr>
                        <a:t>Hofstede (2001)</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gn="ctr">
                        <a:lnSpc>
                          <a:spcPct val="107000"/>
                        </a:lnSpc>
                        <a:spcAft>
                          <a:spcPts val="800"/>
                        </a:spcAft>
                      </a:pPr>
                      <a:r>
                        <a:rPr lang="en-GB" sz="1400" kern="0" dirty="0">
                          <a:solidFill>
                            <a:schemeClr val="tx1"/>
                          </a:solidFill>
                          <a:effectLst/>
                          <a:latin typeface="+mn-lt"/>
                        </a:rPr>
                        <a:t>Source 4</a:t>
                      </a:r>
                      <a:endParaRPr lang="en-GB" sz="1400" kern="0" dirty="0">
                        <a:solidFill>
                          <a:schemeClr val="tx1"/>
                        </a:solidFill>
                        <a:effectLst/>
                        <a:latin typeface="+mn-lt"/>
                      </a:endParaRPr>
                    </a:p>
                    <a:p>
                      <a:pPr algn="ctr">
                        <a:lnSpc>
                          <a:spcPct val="107000"/>
                        </a:lnSpc>
                        <a:spcAft>
                          <a:spcPts val="800"/>
                        </a:spcAft>
                      </a:pPr>
                      <a:r>
                        <a:rPr lang="en-GB" sz="1400" kern="0" dirty="0">
                          <a:solidFill>
                            <a:schemeClr val="tx1"/>
                          </a:solidFill>
                          <a:effectLst/>
                          <a:latin typeface="+mn-lt"/>
                          <a:ea typeface="Calibri" panose="020F0502020204030204" charset="0"/>
                          <a:cs typeface="Times New Roman" panose="02020603050405020304" pitchFamily="18" charset="0"/>
                        </a:rPr>
                        <a:t>Deal &amp; Kennedy (1982)</a:t>
                      </a:r>
                      <a:endParaRPr lang="en-GB" sz="14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F3092"/>
                    </a:solidFill>
                  </a:tcPr>
                </a:tc>
              </a:tr>
              <a:tr h="1089952">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nSpc>
                          <a:spcPct val="107000"/>
                        </a:lnSpc>
                        <a:spcAft>
                          <a:spcPts val="800"/>
                        </a:spcAft>
                      </a:pPr>
                      <a:r>
                        <a:rPr lang="en-GB" sz="1600" kern="0" dirty="0">
                          <a:solidFill>
                            <a:schemeClr val="tx1"/>
                          </a:solidFill>
                          <a:effectLst/>
                          <a:latin typeface="+mn-lt"/>
                        </a:rPr>
                        <a:t>Theme 1</a:t>
                      </a:r>
                      <a:endParaRPr lang="en-GB" sz="1600" kern="0" dirty="0">
                        <a:solidFill>
                          <a:schemeClr val="tx1"/>
                        </a:solidFill>
                        <a:effectLst/>
                        <a:latin typeface="+mn-lt"/>
                      </a:endParaRPr>
                    </a:p>
                    <a:p>
                      <a:pPr>
                        <a:lnSpc>
                          <a:spcPct val="107000"/>
                        </a:lnSpc>
                        <a:spcAft>
                          <a:spcPts val="800"/>
                        </a:spcAft>
                      </a:pPr>
                      <a:r>
                        <a:rPr lang="en-GB" sz="1600" kern="0" dirty="0">
                          <a:solidFill>
                            <a:schemeClr val="tx1"/>
                          </a:solidFill>
                          <a:effectLst/>
                          <a:latin typeface="+mn-lt"/>
                          <a:ea typeface="Calibri" panose="020F0502020204030204" charset="0"/>
                          <a:cs typeface="Times New Roman" panose="02020603050405020304" pitchFamily="18" charset="0"/>
                        </a:rPr>
                        <a:t>Name of AI-based technology</a:t>
                      </a:r>
                      <a:endParaRPr lang="en-GB" sz="16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F3092">
                        <a:tint val="4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F3092">
                        <a:tint val="4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F3092">
                        <a:tint val="4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000" kern="0" dirty="0">
                          <a:solidFill>
                            <a:schemeClr val="tx1"/>
                          </a:solidFill>
                          <a:effectLst/>
                          <a:latin typeface="+mn-lt"/>
                        </a:rPr>
                        <a:t> </a:t>
                      </a:r>
                      <a:endParaRPr lang="en-GB" sz="10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F3092">
                        <a:tint val="40000"/>
                      </a:srgbClr>
                    </a:solidFill>
                  </a:tcPr>
                </a:tc>
              </a:tr>
              <a:tr h="1621485">
                <a:tc>
                  <a:txBody>
                    <a:bodyPr/>
                    <a:lstStyle>
                      <a:lvl1pPr marL="0" algn="l" defTabSz="1219200" rtl="0" eaLnBrk="1" latinLnBrk="0" hangingPunct="1">
                        <a:defRPr sz="2400" b="1" kern="1200">
                          <a:solidFill>
                            <a:schemeClr val="lt1"/>
                          </a:solidFill>
                          <a:latin typeface="Arial" panose="020B0604020202020204"/>
                        </a:defRPr>
                      </a:lvl1pPr>
                      <a:lvl2pPr marL="609600" algn="l" defTabSz="1219200" rtl="0" eaLnBrk="1" latinLnBrk="0" hangingPunct="1">
                        <a:defRPr sz="2400" b="1" kern="1200">
                          <a:solidFill>
                            <a:schemeClr val="lt1"/>
                          </a:solidFill>
                          <a:latin typeface="Arial" panose="020B0604020202020204"/>
                        </a:defRPr>
                      </a:lvl2pPr>
                      <a:lvl3pPr marL="1219200" algn="l" defTabSz="1219200" rtl="0" eaLnBrk="1" latinLnBrk="0" hangingPunct="1">
                        <a:defRPr sz="2400" b="1" kern="1200">
                          <a:solidFill>
                            <a:schemeClr val="lt1"/>
                          </a:solidFill>
                          <a:latin typeface="Arial" panose="020B0604020202020204"/>
                        </a:defRPr>
                      </a:lvl3pPr>
                      <a:lvl4pPr marL="1828800" algn="l" defTabSz="1219200" rtl="0" eaLnBrk="1" latinLnBrk="0" hangingPunct="1">
                        <a:defRPr sz="2400" b="1" kern="1200">
                          <a:solidFill>
                            <a:schemeClr val="lt1"/>
                          </a:solidFill>
                          <a:latin typeface="Arial" panose="020B0604020202020204"/>
                        </a:defRPr>
                      </a:lvl4pPr>
                      <a:lvl5pPr marL="2438400" algn="l" defTabSz="1219200" rtl="0" eaLnBrk="1" latinLnBrk="0" hangingPunct="1">
                        <a:defRPr sz="2400" b="1" kern="1200">
                          <a:solidFill>
                            <a:schemeClr val="lt1"/>
                          </a:solidFill>
                          <a:latin typeface="Arial" panose="020B0604020202020204"/>
                        </a:defRPr>
                      </a:lvl5pPr>
                      <a:lvl6pPr marL="3048000" algn="l" defTabSz="1219200" rtl="0" eaLnBrk="1" latinLnBrk="0" hangingPunct="1">
                        <a:defRPr sz="2400" b="1" kern="1200">
                          <a:solidFill>
                            <a:schemeClr val="lt1"/>
                          </a:solidFill>
                          <a:latin typeface="Arial" panose="020B0604020202020204"/>
                        </a:defRPr>
                      </a:lvl6pPr>
                      <a:lvl7pPr marL="3657600" algn="l" defTabSz="1219200" rtl="0" eaLnBrk="1" latinLnBrk="0" hangingPunct="1">
                        <a:defRPr sz="2400" b="1" kern="1200">
                          <a:solidFill>
                            <a:schemeClr val="lt1"/>
                          </a:solidFill>
                          <a:latin typeface="Arial" panose="020B0604020202020204"/>
                        </a:defRPr>
                      </a:lvl7pPr>
                      <a:lvl8pPr marL="4267200" algn="l" defTabSz="1219200" rtl="0" eaLnBrk="1" latinLnBrk="0" hangingPunct="1">
                        <a:defRPr sz="2400" b="1" kern="1200">
                          <a:solidFill>
                            <a:schemeClr val="lt1"/>
                          </a:solidFill>
                          <a:latin typeface="Arial" panose="020B0604020202020204"/>
                        </a:defRPr>
                      </a:lvl8pPr>
                      <a:lvl9pPr marL="4876800" algn="l" defTabSz="1219200" rtl="0" eaLnBrk="1" latinLnBrk="0" hangingPunct="1">
                        <a:defRPr sz="2400" b="1" kern="1200">
                          <a:solidFill>
                            <a:schemeClr val="lt1"/>
                          </a:solidFill>
                          <a:latin typeface="Arial" panose="020B0604020202020204"/>
                        </a:defRPr>
                      </a:lvl9pPr>
                    </a:lstStyle>
                    <a:p>
                      <a:pPr>
                        <a:lnSpc>
                          <a:spcPct val="107000"/>
                        </a:lnSpc>
                        <a:spcAft>
                          <a:spcPts val="800"/>
                        </a:spcAft>
                      </a:pPr>
                      <a:r>
                        <a:rPr lang="en-GB" sz="1600" kern="0" dirty="0">
                          <a:solidFill>
                            <a:schemeClr val="tx1"/>
                          </a:solidFill>
                          <a:effectLst/>
                          <a:latin typeface="+mn-lt"/>
                        </a:rPr>
                        <a:t>Theme 2</a:t>
                      </a:r>
                      <a:endParaRPr lang="en-GB" sz="1600" kern="0" dirty="0">
                        <a:solidFill>
                          <a:schemeClr val="tx1"/>
                        </a:solidFill>
                        <a:effectLst/>
                        <a:latin typeface="+mn-lt"/>
                      </a:endParaRPr>
                    </a:p>
                    <a:p>
                      <a:pPr>
                        <a:lnSpc>
                          <a:spcPct val="107000"/>
                        </a:lnSpc>
                        <a:spcAft>
                          <a:spcPts val="800"/>
                        </a:spcAft>
                      </a:pPr>
                      <a:r>
                        <a:rPr lang="en-GB" sz="1600" kern="0" dirty="0">
                          <a:solidFill>
                            <a:schemeClr val="tx1"/>
                          </a:solidFill>
                          <a:effectLst/>
                          <a:latin typeface="+mn-lt"/>
                          <a:ea typeface="Calibri" panose="020F0502020204030204" charset="0"/>
                          <a:cs typeface="Times New Roman" panose="02020603050405020304" pitchFamily="18" charset="0"/>
                        </a:rPr>
                        <a:t>Organisational culture</a:t>
                      </a:r>
                      <a:endParaRPr lang="en-GB" sz="1600" kern="100" dirty="0">
                        <a:solidFill>
                          <a:schemeClr val="tx1"/>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0000"/>
                        </a:lnSpc>
                        <a:spcAft>
                          <a:spcPts val="800"/>
                        </a:spcAft>
                      </a:pPr>
                      <a:r>
                        <a:rPr lang="en-GB" sz="1400" kern="0" dirty="0">
                          <a:solidFill>
                            <a:srgbClr val="330066"/>
                          </a:solidFill>
                          <a:effectLst/>
                          <a:latin typeface="+mn-lt"/>
                        </a:rPr>
                        <a:t>3 features:</a:t>
                      </a:r>
                      <a:endParaRPr lang="en-GB" sz="1400" kern="0" dirty="0">
                        <a:solidFill>
                          <a:srgbClr val="330066"/>
                        </a:solidFill>
                        <a:effectLst/>
                        <a:latin typeface="+mn-lt"/>
                      </a:endParaRPr>
                    </a:p>
                    <a:p>
                      <a:pPr marL="228600" indent="-228600">
                        <a:lnSpc>
                          <a:spcPct val="100000"/>
                        </a:lnSpc>
                        <a:spcAft>
                          <a:spcPts val="800"/>
                        </a:spcAft>
                        <a:buAutoNum type="arabicPeriod"/>
                      </a:pPr>
                      <a:r>
                        <a:rPr lang="en-GB" sz="1400" kern="0" dirty="0">
                          <a:solidFill>
                            <a:srgbClr val="330066"/>
                          </a:solidFill>
                          <a:effectLst/>
                          <a:latin typeface="+mn-lt"/>
                          <a:ea typeface="Calibri" panose="020F0502020204030204" charset="0"/>
                          <a:cs typeface="Times New Roman" panose="02020603050405020304" pitchFamily="18" charset="0"/>
                        </a:rPr>
                        <a:t>Common knowledge in the company</a:t>
                      </a:r>
                      <a:endParaRPr lang="en-GB" sz="1400" kern="0" dirty="0">
                        <a:solidFill>
                          <a:srgbClr val="330066"/>
                        </a:solidFill>
                        <a:effectLst/>
                        <a:latin typeface="+mn-lt"/>
                        <a:ea typeface="Calibri" panose="020F0502020204030204" charset="0"/>
                        <a:cs typeface="Times New Roman" panose="02020603050405020304" pitchFamily="18" charset="0"/>
                      </a:endParaRPr>
                    </a:p>
                    <a:p>
                      <a:pPr marL="0" indent="0">
                        <a:lnSpc>
                          <a:spcPct val="100000"/>
                        </a:lnSpc>
                        <a:spcAft>
                          <a:spcPts val="800"/>
                        </a:spcAft>
                        <a:buNone/>
                      </a:pPr>
                      <a:r>
                        <a:rPr lang="en-GB" sz="1400" kern="0" dirty="0">
                          <a:solidFill>
                            <a:srgbClr val="330066"/>
                          </a:solidFill>
                          <a:effectLst/>
                          <a:latin typeface="+mn-lt"/>
                          <a:ea typeface="Calibri" panose="020F0502020204030204" charset="0"/>
                          <a:cs typeface="Times New Roman" panose="02020603050405020304" pitchFamily="18" charset="0"/>
                        </a:rPr>
                        <a:t>2. Inflexible and consistent</a:t>
                      </a:r>
                      <a:endParaRPr lang="en-GB" sz="1400" kern="0" dirty="0">
                        <a:solidFill>
                          <a:srgbClr val="330066"/>
                        </a:solidFill>
                        <a:effectLst/>
                        <a:latin typeface="+mn-lt"/>
                        <a:ea typeface="Calibri" panose="020F0502020204030204" charset="0"/>
                        <a:cs typeface="Times New Roman" panose="02020603050405020304" pitchFamily="18" charset="0"/>
                      </a:endParaRPr>
                    </a:p>
                    <a:p>
                      <a:pPr marL="0" indent="0">
                        <a:lnSpc>
                          <a:spcPct val="100000"/>
                        </a:lnSpc>
                        <a:spcAft>
                          <a:spcPts val="800"/>
                        </a:spcAft>
                        <a:buNone/>
                      </a:pPr>
                      <a:r>
                        <a:rPr lang="en-GB" sz="1400" kern="0" dirty="0">
                          <a:solidFill>
                            <a:srgbClr val="330066"/>
                          </a:solidFill>
                          <a:effectLst/>
                          <a:latin typeface="+mn-lt"/>
                          <a:ea typeface="Calibri" panose="020F0502020204030204" charset="0"/>
                          <a:cs typeface="Times New Roman" panose="02020603050405020304" pitchFamily="18" charset="0"/>
                        </a:rPr>
                        <a:t>3. More impact -&gt; more employees embrace</a:t>
                      </a:r>
                      <a:br>
                        <a:rPr lang="en-GB" sz="1400" kern="0" dirty="0">
                          <a:solidFill>
                            <a:srgbClr val="330066"/>
                          </a:solidFill>
                          <a:effectLst/>
                          <a:latin typeface="+mn-lt"/>
                          <a:ea typeface="Calibri" panose="020F0502020204030204" charset="0"/>
                          <a:cs typeface="Times New Roman" panose="02020603050405020304" pitchFamily="18" charset="0"/>
                        </a:rPr>
                      </a:br>
                      <a:r>
                        <a:rPr lang="en-GB" sz="1400" kern="0" dirty="0">
                          <a:solidFill>
                            <a:srgbClr val="330066"/>
                          </a:solidFill>
                          <a:effectLst/>
                          <a:latin typeface="+mn-lt"/>
                          <a:ea typeface="Calibri" panose="020F0502020204030204" charset="0"/>
                          <a:cs typeface="Times New Roman" panose="02020603050405020304" pitchFamily="18" charset="0"/>
                        </a:rPr>
                        <a:t>Both explicit/ implicit: range of policy etc.</a:t>
                      </a:r>
                      <a:endParaRPr lang="en-GB" sz="1400" kern="100" dirty="0">
                        <a:solidFill>
                          <a:srgbClr val="330066"/>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0000"/>
                        </a:lnSpc>
                        <a:spcAft>
                          <a:spcPts val="800"/>
                        </a:spcAft>
                      </a:pPr>
                      <a:r>
                        <a:rPr lang="en-GB" sz="1400" kern="0" dirty="0">
                          <a:solidFill>
                            <a:srgbClr val="330066"/>
                          </a:solidFill>
                          <a:effectLst/>
                          <a:latin typeface="+mn-lt"/>
                        </a:rPr>
                        <a:t> </a:t>
                      </a:r>
                      <a:r>
                        <a:rPr lang="en-GB" sz="1400" kern="1200" dirty="0">
                          <a:solidFill>
                            <a:srgbClr val="330066"/>
                          </a:solidFill>
                          <a:effectLst/>
                          <a:latin typeface="+mn-lt"/>
                          <a:ea typeface="+mn-ea"/>
                          <a:cs typeface="+mn-cs"/>
                        </a:rPr>
                        <a:t>“with the goal of achieving deep business engagement, creating employee pull, and cultivating a sense of purpose, so that data can support your operations instead of the other way around” </a:t>
                      </a:r>
                      <a:endParaRPr lang="en-GB" sz="1400" kern="100" dirty="0">
                        <a:solidFill>
                          <a:srgbClr val="330066"/>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400" kern="0" dirty="0">
                          <a:solidFill>
                            <a:srgbClr val="330066"/>
                          </a:solidFill>
                          <a:effectLst/>
                          <a:latin typeface="+mn-lt"/>
                        </a:rPr>
                        <a:t> “the collective programming of the mind that distinguishes the members of one group or category of people from others”</a:t>
                      </a:r>
                      <a:endParaRPr lang="en-GB" sz="1400" kern="100" dirty="0">
                        <a:solidFill>
                          <a:srgbClr val="330066"/>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c>
                  <a:txBody>
                    <a:bodyPr/>
                    <a:lstStyle>
                      <a:lvl1pPr marL="0" algn="l" defTabSz="1219200" rtl="0" eaLnBrk="1" latinLnBrk="0" hangingPunct="1">
                        <a:defRPr sz="2400" kern="1200">
                          <a:solidFill>
                            <a:schemeClr val="dk1"/>
                          </a:solidFill>
                          <a:latin typeface="Arial" panose="020B0604020202020204"/>
                        </a:defRPr>
                      </a:lvl1pPr>
                      <a:lvl2pPr marL="609600" algn="l" defTabSz="1219200" rtl="0" eaLnBrk="1" latinLnBrk="0" hangingPunct="1">
                        <a:defRPr sz="2400" kern="1200">
                          <a:solidFill>
                            <a:schemeClr val="dk1"/>
                          </a:solidFill>
                          <a:latin typeface="Arial" panose="020B0604020202020204"/>
                        </a:defRPr>
                      </a:lvl2pPr>
                      <a:lvl3pPr marL="1219200" algn="l" defTabSz="1219200" rtl="0" eaLnBrk="1" latinLnBrk="0" hangingPunct="1">
                        <a:defRPr sz="2400" kern="1200">
                          <a:solidFill>
                            <a:schemeClr val="dk1"/>
                          </a:solidFill>
                          <a:latin typeface="Arial" panose="020B0604020202020204"/>
                        </a:defRPr>
                      </a:lvl3pPr>
                      <a:lvl4pPr marL="1828800" algn="l" defTabSz="1219200" rtl="0" eaLnBrk="1" latinLnBrk="0" hangingPunct="1">
                        <a:defRPr sz="2400" kern="1200">
                          <a:solidFill>
                            <a:schemeClr val="dk1"/>
                          </a:solidFill>
                          <a:latin typeface="Arial" panose="020B0604020202020204"/>
                        </a:defRPr>
                      </a:lvl4pPr>
                      <a:lvl5pPr marL="2438400" algn="l" defTabSz="1219200" rtl="0" eaLnBrk="1" latinLnBrk="0" hangingPunct="1">
                        <a:defRPr sz="2400" kern="1200">
                          <a:solidFill>
                            <a:schemeClr val="dk1"/>
                          </a:solidFill>
                          <a:latin typeface="Arial" panose="020B0604020202020204"/>
                        </a:defRPr>
                      </a:lvl5pPr>
                      <a:lvl6pPr marL="3048000" algn="l" defTabSz="1219200" rtl="0" eaLnBrk="1" latinLnBrk="0" hangingPunct="1">
                        <a:defRPr sz="2400" kern="1200">
                          <a:solidFill>
                            <a:schemeClr val="dk1"/>
                          </a:solidFill>
                          <a:latin typeface="Arial" panose="020B0604020202020204"/>
                        </a:defRPr>
                      </a:lvl6pPr>
                      <a:lvl7pPr marL="3657600" algn="l" defTabSz="1219200" rtl="0" eaLnBrk="1" latinLnBrk="0" hangingPunct="1">
                        <a:defRPr sz="2400" kern="1200">
                          <a:solidFill>
                            <a:schemeClr val="dk1"/>
                          </a:solidFill>
                          <a:latin typeface="Arial" panose="020B0604020202020204"/>
                        </a:defRPr>
                      </a:lvl7pPr>
                      <a:lvl8pPr marL="4267200" algn="l" defTabSz="1219200" rtl="0" eaLnBrk="1" latinLnBrk="0" hangingPunct="1">
                        <a:defRPr sz="2400" kern="1200">
                          <a:solidFill>
                            <a:schemeClr val="dk1"/>
                          </a:solidFill>
                          <a:latin typeface="Arial" panose="020B0604020202020204"/>
                        </a:defRPr>
                      </a:lvl8pPr>
                      <a:lvl9pPr marL="4876800" algn="l" defTabSz="1219200" rtl="0" eaLnBrk="1" latinLnBrk="0" hangingPunct="1">
                        <a:defRPr sz="2400" kern="1200">
                          <a:solidFill>
                            <a:schemeClr val="dk1"/>
                          </a:solidFill>
                          <a:latin typeface="Arial" panose="020B0604020202020204"/>
                        </a:defRPr>
                      </a:lvl9pPr>
                    </a:lstStyle>
                    <a:p>
                      <a:pPr>
                        <a:lnSpc>
                          <a:spcPct val="107000"/>
                        </a:lnSpc>
                        <a:spcAft>
                          <a:spcPts val="800"/>
                        </a:spcAft>
                      </a:pPr>
                      <a:r>
                        <a:rPr lang="en-GB" sz="1400" kern="0" dirty="0">
                          <a:solidFill>
                            <a:srgbClr val="330066"/>
                          </a:solidFill>
                          <a:effectLst/>
                          <a:latin typeface="+mn-lt"/>
                        </a:rPr>
                        <a:t>  “the way we do things round here”</a:t>
                      </a:r>
                      <a:endParaRPr lang="en-GB" sz="1400" kern="100" dirty="0">
                        <a:solidFill>
                          <a:srgbClr val="330066"/>
                        </a:solidFill>
                        <a:effectLst/>
                        <a:latin typeface="+mn-lt"/>
                        <a:ea typeface="Calibri" panose="020F0502020204030204" charset="0"/>
                        <a:cs typeface="Times New Roman" panose="02020603050405020304" pitchFamily="18" charset="0"/>
                      </a:endParaRPr>
                    </a:p>
                  </a:txBody>
                  <a:tcPr marL="63485" marR="63485"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F3092">
                        <a:tint val="20000"/>
                      </a:srgbClr>
                    </a:solidFill>
                  </a:tcPr>
                </a:tc>
              </a:tr>
            </a:tbl>
          </a:graphicData>
        </a:graphic>
      </p:graphicFrame>
      <p:cxnSp>
        <p:nvCxnSpPr>
          <p:cNvPr id="6" name="Straight Arrow Connector 5"/>
          <p:cNvCxnSpPr/>
          <p:nvPr/>
        </p:nvCxnSpPr>
        <p:spPr>
          <a:xfrm>
            <a:off x="1816100" y="2806700"/>
            <a:ext cx="10019057" cy="0"/>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sp>
        <p:nvSpPr>
          <p:cNvPr id="9" name="TextBox 8"/>
          <p:cNvSpPr txBox="1"/>
          <p:nvPr/>
        </p:nvSpPr>
        <p:spPr>
          <a:xfrm>
            <a:off x="4548981" y="2881713"/>
            <a:ext cx="3553619"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sz="4000" b="0" i="0" u="none" strike="noStrike" kern="1200" cap="none" spc="0" normalizeH="0" baseline="0" noProof="0" dirty="0">
                <a:ln>
                  <a:noFill/>
                </a:ln>
                <a:solidFill>
                  <a:srgbClr val="330066"/>
                </a:solidFill>
                <a:effectLst/>
                <a:uLnTx/>
                <a:uFillTx/>
                <a:latin typeface="Arial" panose="020B0604020202020204"/>
                <a:ea typeface="+mn-ea"/>
                <a:cs typeface="+mn-cs"/>
              </a:rPr>
              <a:t>No information</a:t>
            </a:r>
            <a:endParaRPr kumimoji="0" lang="en-GB" sz="4000" b="0" i="0" u="none" strike="noStrike" kern="1200" cap="none" spc="0" normalizeH="0" baseline="0" noProof="0" dirty="0">
              <a:ln>
                <a:noFill/>
              </a:ln>
              <a:solidFill>
                <a:srgbClr val="330066"/>
              </a:solidFill>
              <a:effectLst/>
              <a:uLnTx/>
              <a:uFillTx/>
              <a:latin typeface="Arial" panose="020B0604020202020204"/>
              <a:ea typeface="+mn-ea"/>
              <a:cs typeface="+mn-cs"/>
            </a:endParaRPr>
          </a:p>
        </p:txBody>
      </p:sp>
      <p:sp>
        <p:nvSpPr>
          <p:cNvPr id="10" name="TextBox 9"/>
          <p:cNvSpPr txBox="1"/>
          <p:nvPr/>
        </p:nvSpPr>
        <p:spPr>
          <a:xfrm>
            <a:off x="365760" y="6263640"/>
            <a:ext cx="11430000" cy="548640"/>
          </a:xfrm>
          <a:prstGeom prst="rect">
            <a:avLst/>
          </a:prstGeom>
          <a:solidFill>
            <a:srgbClr val="FFF6E0"/>
          </a:solidFill>
        </p:spPr>
        <p:txBody>
          <a:bodyPr wrap="square">
            <a:spAutoFit/>
          </a:bodyPr>
          <a:lstStyle/>
          <a:p>
            <a:r>
              <a:rPr sz="1200">
                <a:solidFill>
                  <a:srgbClr val="805000"/>
                </a:solidFill>
                <a:latin typeface="Microsoft YaHei"/>
              </a:rPr>
              <a:t>中译：研究矩阵示例（续）：注意「AI技术名」一格为空，说明此示例缺少所选技术的资料。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26 · Strategy 3: issues with the matrix</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 No information on the chosen AI-based technology → find more sources</a:t>
            </a:r>
          </a:p>
          <a:p>
            <a:pPr>
              <a:spcAft>
                <a:spcPts val="400"/>
              </a:spcAft>
            </a:pPr>
            <a:r>
              <a:rPr sz="1400">
                <a:solidFill>
                  <a:srgbClr val="202020"/>
                </a:solidFill>
              </a:rPr>
              <a:t>• Too many quotations → need to paraphrase</a:t>
            </a:r>
          </a:p>
          <a:p>
            <a:pPr>
              <a:spcAft>
                <a:spcPts val="400"/>
              </a:spcAft>
            </a:pPr>
            <a:r>
              <a:rPr sz="1400">
                <a:solidFill>
                  <a:srgbClr val="202020"/>
                </a:solidFill>
              </a:rPr>
              <a:t>• No page numbers for quotations (APA requires, e.g. Chan, 2025, p.78)</a:t>
            </a:r>
          </a:p>
          <a:p>
            <a:pPr>
              <a:spcAft>
                <a:spcPts val="400"/>
              </a:spcAft>
            </a:pPr>
            <a:r>
              <a:rPr sz="1400">
                <a:solidFill>
                  <a:srgbClr val="202020"/>
                </a:solidFill>
              </a:rPr>
              <a:t>• No examples of your voice → include comments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矩阵常见问题</a:t>
            </a:r>
          </a:p>
          <a:p>
            <a:pPr>
              <a:spcAft>
                <a:spcPts val="500"/>
              </a:spcAft>
            </a:pPr>
            <a:r>
              <a:rPr sz="1400">
                <a:solidFill>
                  <a:srgbClr val="333333"/>
                </a:solidFill>
                <a:latin typeface="Microsoft YaHei"/>
              </a:rPr>
              <a:t>• 没写所选 AI 技术</a:t>
            </a:r>
          </a:p>
          <a:p>
            <a:pPr>
              <a:spcAft>
                <a:spcPts val="500"/>
              </a:spcAft>
            </a:pPr>
            <a:r>
              <a:rPr sz="1400">
                <a:solidFill>
                  <a:srgbClr val="333333"/>
                </a:solidFill>
                <a:latin typeface="Microsoft YaHei"/>
              </a:rPr>
              <a:t>• 引文过多，要 paraphrase</a:t>
            </a:r>
          </a:p>
          <a:p>
            <a:pPr>
              <a:spcAft>
                <a:spcPts val="500"/>
              </a:spcAft>
            </a:pPr>
            <a:r>
              <a:rPr sz="1400">
                <a:solidFill>
                  <a:srgbClr val="333333"/>
                </a:solidFill>
                <a:latin typeface="Microsoft YaHei"/>
              </a:rPr>
              <a:t>• 引文没页码</a:t>
            </a:r>
          </a:p>
          <a:p>
            <a:pPr>
              <a:spcAft>
                <a:spcPts val="500"/>
              </a:spcAft>
            </a:pPr>
            <a:r>
              <a:rPr sz="1400">
                <a:solidFill>
                  <a:srgbClr val="333333"/>
                </a:solidFill>
                <a:latin typeface="Microsoft YaHei"/>
              </a:rPr>
              <a:t>• 没有你的 voice，要加评论</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27 · Strategy 4: Structure Your Paragraphs — PEEL</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What is a good body paragraph structure?</a:t>
            </a:r>
          </a:p>
          <a:p>
            <a:pPr>
              <a:spcAft>
                <a:spcPts val="400"/>
              </a:spcAft>
            </a:pPr>
            <a:r>
              <a:rPr sz="1400">
                <a:solidFill>
                  <a:srgbClr val="202020"/>
                </a:solidFill>
              </a:rPr>
              <a:t>PEEL</a:t>
            </a:r>
          </a:p>
          <a:p>
            <a:pPr>
              <a:spcAft>
                <a:spcPts val="400"/>
              </a:spcAft>
            </a:pPr>
            <a:r>
              <a:rPr sz="1400">
                <a:solidFill>
                  <a:srgbClr val="202020"/>
                </a:solidFill>
              </a:rPr>
              <a:t>P – point / topic sentence (just 1 main point!)</a:t>
            </a:r>
          </a:p>
          <a:p>
            <a:pPr>
              <a:spcAft>
                <a:spcPts val="400"/>
              </a:spcAft>
            </a:pPr>
            <a:r>
              <a:rPr sz="1400">
                <a:solidFill>
                  <a:srgbClr val="202020"/>
                </a:solidFill>
              </a:rPr>
              <a:t>E – evidence</a:t>
            </a:r>
          </a:p>
          <a:p>
            <a:pPr>
              <a:spcAft>
                <a:spcPts val="400"/>
              </a:spcAft>
            </a:pPr>
            <a:r>
              <a:rPr sz="1400">
                <a:solidFill>
                  <a:srgbClr val="202020"/>
                </a:solidFill>
              </a:rPr>
              <a:t>E – evaluation: your explanation, your commentary</a:t>
            </a:r>
          </a:p>
          <a:p>
            <a:pPr>
              <a:spcAft>
                <a:spcPts val="400"/>
              </a:spcAft>
            </a:pPr>
            <a:r>
              <a:rPr sz="1400">
                <a:solidFill>
                  <a:srgbClr val="202020"/>
                </a:solidFill>
              </a:rPr>
              <a:t>(L – link / concluding sentence; optional)</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策略4：PEEL 段落结构</a:t>
            </a:r>
          </a:p>
          <a:p>
            <a:pPr>
              <a:spcAft>
                <a:spcPts val="500"/>
              </a:spcAft>
            </a:pPr>
            <a:r>
              <a:rPr sz="1400">
                <a:solidFill>
                  <a:srgbClr val="333333"/>
                </a:solidFill>
                <a:latin typeface="Microsoft YaHei"/>
              </a:rPr>
              <a:t>P 观点/主题句(每段只一个点)</a:t>
            </a:r>
          </a:p>
          <a:p>
            <a:pPr>
              <a:spcAft>
                <a:spcPts val="500"/>
              </a:spcAft>
            </a:pPr>
            <a:r>
              <a:rPr sz="1400">
                <a:solidFill>
                  <a:srgbClr val="333333"/>
                </a:solidFill>
                <a:latin typeface="Microsoft YaHei"/>
              </a:rPr>
              <a:t>E 证据</a:t>
            </a:r>
          </a:p>
          <a:p>
            <a:pPr>
              <a:spcAft>
                <a:spcPts val="500"/>
              </a:spcAft>
            </a:pPr>
            <a:r>
              <a:rPr sz="1400">
                <a:solidFill>
                  <a:srgbClr val="333333"/>
                </a:solidFill>
                <a:latin typeface="Microsoft YaHei"/>
              </a:rPr>
              <a:t>E 评价(你的解释+评论)</a:t>
            </a:r>
          </a:p>
          <a:p>
            <a:pPr>
              <a:spcAft>
                <a:spcPts val="500"/>
              </a:spcAft>
            </a:pPr>
            <a:r>
              <a:rPr sz="1400">
                <a:solidFill>
                  <a:srgbClr val="333333"/>
                </a:solidFill>
                <a:latin typeface="Microsoft YaHei"/>
              </a:rPr>
              <a:t>L 结尾句(可省略)</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28 · Task 2</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Is this a successful paragraph? Why / why not?</a:t>
            </a:r>
          </a:p>
          <a:p>
            <a:pPr>
              <a:spcAft>
                <a:spcPts val="400"/>
              </a:spcAft>
            </a:pPr>
          </a:p>
          <a:p>
            <a:pPr>
              <a:spcAft>
                <a:spcPts val="400"/>
              </a:spcAft>
            </a:pPr>
            <a:r>
              <a:rPr sz="1400">
                <a:solidFill>
                  <a:srgbClr val="202020"/>
                </a:solidFill>
              </a:rPr>
              <a:t>“Organisational culture consists of 3 features. The first feature ... is common knowledge ... The second ... unchanging and consistent. The third ... greater impact if more people accept ... can be explicit or implicit ... examples are mission statement or unwritten rules.”</a:t>
            </a:r>
          </a:p>
          <a:p>
            <a:pPr>
              <a:spcAft>
                <a:spcPts val="400"/>
              </a:spcAft>
            </a:pPr>
            <a:r>
              <a:rPr sz="1400">
                <a:solidFill>
                  <a:srgbClr val="202020"/>
                </a:solidFill>
              </a:rPr>
              <a:t>Previous student's work – DO NOT COPY!</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任务2</a:t>
            </a:r>
          </a:p>
          <a:p>
            <a:pPr>
              <a:spcAft>
                <a:spcPts val="500"/>
              </a:spcAft>
            </a:pPr>
            <a:r>
              <a:rPr sz="1400">
                <a:solidFill>
                  <a:srgbClr val="333333"/>
                </a:solidFill>
                <a:latin typeface="Microsoft YaHei"/>
              </a:rPr>
              <a:t>判断前学生段落是否成功？为什么？</a:t>
            </a:r>
          </a:p>
          <a:p>
            <a:pPr>
              <a:spcAft>
                <a:spcPts val="500"/>
              </a:spcAft>
            </a:pPr>
            <a:r>
              <a:rPr sz="1400">
                <a:solidFill>
                  <a:srgbClr val="333333"/>
                </a:solidFill>
                <a:latin typeface="Microsoft YaHei"/>
              </a:rPr>
              <a:t>（段落：组织文化3特征…）</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29 · Task 2 (annotation)</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Topic sentence + Evidence (without citations)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任务2（结构标注）</a:t>
            </a:r>
          </a:p>
          <a:p>
            <a:pPr>
              <a:spcAft>
                <a:spcPts val="500"/>
              </a:spcAft>
            </a:pPr>
            <a:r>
              <a:rPr sz="1400">
                <a:solidFill>
                  <a:srgbClr val="333333"/>
                </a:solidFill>
                <a:latin typeface="Microsoft YaHei"/>
              </a:rPr>
              <a:t>该段只有主题句+证据(无引用)</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30 · Task 2 (Answers)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NO</a:t>
            </a:r>
          </a:p>
          <a:p>
            <a:pPr>
              <a:spcAft>
                <a:spcPts val="400"/>
              </a:spcAft>
            </a:pPr>
            <a:r>
              <a:rPr sz="1400">
                <a:solidFill>
                  <a:srgbClr val="202020"/>
                </a:solidFill>
              </a:rPr>
              <a:t>• There are no citations</a:t>
            </a:r>
          </a:p>
          <a:p>
            <a:pPr>
              <a:spcAft>
                <a:spcPts val="400"/>
              </a:spcAft>
            </a:pPr>
            <a:r>
              <a:rPr sz="1400">
                <a:solidFill>
                  <a:srgbClr val="202020"/>
                </a:solidFill>
              </a:rPr>
              <a:t>• It only looks at information from one source</a:t>
            </a:r>
          </a:p>
          <a:p>
            <a:pPr>
              <a:spcAft>
                <a:spcPts val="400"/>
              </a:spcAft>
            </a:pPr>
            <a:r>
              <a:rPr sz="1400">
                <a:solidFill>
                  <a:srgbClr val="202020"/>
                </a:solidFill>
              </a:rPr>
              <a:t>• It only describes the source</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任务2（答案）</a:t>
            </a:r>
          </a:p>
          <a:p>
            <a:pPr>
              <a:spcAft>
                <a:spcPts val="500"/>
              </a:spcAft>
            </a:pPr>
            <a:r>
              <a:rPr sz="1400">
                <a:solidFill>
                  <a:srgbClr val="333333"/>
                </a:solidFill>
                <a:latin typeface="Microsoft YaHei"/>
              </a:rPr>
              <a:t>NO</a:t>
            </a:r>
          </a:p>
          <a:p>
            <a:pPr>
              <a:spcAft>
                <a:spcPts val="500"/>
              </a:spcAft>
            </a:pPr>
            <a:r>
              <a:rPr sz="1400">
                <a:solidFill>
                  <a:srgbClr val="333333"/>
                </a:solidFill>
                <a:latin typeface="Microsoft YaHei"/>
              </a:rPr>
              <a:t>• 无引用</a:t>
            </a:r>
          </a:p>
          <a:p>
            <a:pPr>
              <a:spcAft>
                <a:spcPts val="500"/>
              </a:spcAft>
            </a:pPr>
            <a:r>
              <a:rPr sz="1400">
                <a:solidFill>
                  <a:srgbClr val="333333"/>
                </a:solidFill>
                <a:latin typeface="Microsoft YaHei"/>
              </a:rPr>
              <a:t>• 只单一来源</a:t>
            </a:r>
          </a:p>
          <a:p>
            <a:pPr>
              <a:spcAft>
                <a:spcPts val="500"/>
              </a:spcAft>
            </a:pPr>
            <a:r>
              <a:rPr sz="1400">
                <a:solidFill>
                  <a:srgbClr val="333333"/>
                </a:solidFill>
                <a:latin typeface="Microsoft YaHei"/>
              </a:rPr>
              <a:t>• 只描述不分析</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31 · Task 3</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Decide whether we need a citation:</a:t>
            </a:r>
          </a:p>
          <a:p>
            <a:pPr>
              <a:spcAft>
                <a:spcPts val="400"/>
              </a:spcAft>
            </a:pPr>
            <a:r>
              <a:rPr sz="1400">
                <a:solidFill>
                  <a:srgbClr val="202020"/>
                </a:solidFill>
              </a:rPr>
              <a:t>1. Tranmere Rovers used a piece of AI software to scout new players, and they improved their signing rate by 10%.</a:t>
            </a:r>
          </a:p>
          <a:p>
            <a:pPr>
              <a:spcAft>
                <a:spcPts val="400"/>
              </a:spcAft>
            </a:pPr>
            <a:r>
              <a:rPr sz="1400">
                <a:solidFill>
                  <a:srgbClr val="202020"/>
                </a:solidFill>
              </a:rPr>
              <a:t>2. Artificial intelligence is becoming more prevalent in the sports industry.</a:t>
            </a:r>
          </a:p>
          <a:p>
            <a:pPr>
              <a:spcAft>
                <a:spcPts val="400"/>
              </a:spcAft>
            </a:pPr>
            <a:r>
              <a:rPr sz="1400">
                <a:solidFill>
                  <a:srgbClr val="202020"/>
                </a:solidFill>
              </a:rPr>
              <a:t>3. Peter Robinson has stated that AI will reduce costs in the sport industry by significant amounts.</a:t>
            </a:r>
          </a:p>
          <a:p>
            <a:pPr>
              <a:spcAft>
                <a:spcPts val="400"/>
              </a:spcAft>
            </a:pPr>
            <a:r>
              <a:rPr sz="1400">
                <a:solidFill>
                  <a:srgbClr val="202020"/>
                </a:solidFill>
              </a:rPr>
              <a:t>4. The argument for introducing AI software within the rugby union may not be completely feasible.</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任务3：判断是否引用</a:t>
            </a:r>
          </a:p>
          <a:p>
            <a:pPr>
              <a:spcAft>
                <a:spcPts val="500"/>
              </a:spcAft>
            </a:pPr>
            <a:r>
              <a:rPr sz="1400">
                <a:solidFill>
                  <a:srgbClr val="333333"/>
                </a:solidFill>
                <a:latin typeface="Microsoft YaHei"/>
              </a:rPr>
              <a:t>① Tranmere Rovers 提高10%签约率</a:t>
            </a:r>
          </a:p>
          <a:p>
            <a:pPr>
              <a:spcAft>
                <a:spcPts val="500"/>
              </a:spcAft>
            </a:pPr>
            <a:r>
              <a:rPr sz="1400">
                <a:solidFill>
                  <a:srgbClr val="333333"/>
                </a:solidFill>
                <a:latin typeface="Microsoft YaHei"/>
              </a:rPr>
              <a:t>② AI在体育行业越来越普及</a:t>
            </a:r>
          </a:p>
          <a:p>
            <a:pPr>
              <a:spcAft>
                <a:spcPts val="500"/>
              </a:spcAft>
            </a:pPr>
            <a:r>
              <a:rPr sz="1400">
                <a:solidFill>
                  <a:srgbClr val="333333"/>
                </a:solidFill>
                <a:latin typeface="Microsoft YaHei"/>
              </a:rPr>
              <a:t>③ Peter Robinson 说降成本</a:t>
            </a:r>
          </a:p>
          <a:p>
            <a:pPr>
              <a:spcAft>
                <a:spcPts val="500"/>
              </a:spcAft>
            </a:pPr>
            <a:r>
              <a:rPr sz="1400">
                <a:solidFill>
                  <a:srgbClr val="333333"/>
                </a:solidFill>
                <a:latin typeface="Microsoft YaHei"/>
              </a:rPr>
              <a:t>④ 引入AI可能不可行</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32 · Task 3 (Answers)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1. Tranmere Rovers ... 10% → CITATION NEEDED</a:t>
            </a:r>
          </a:p>
          <a:p>
            <a:pPr>
              <a:spcAft>
                <a:spcPts val="400"/>
              </a:spcAft>
            </a:pPr>
            <a:r>
              <a:rPr sz="1400">
                <a:solidFill>
                  <a:srgbClr val="202020"/>
                </a:solidFill>
              </a:rPr>
              <a:t>2. AI becoming more prevalent → (no)</a:t>
            </a:r>
          </a:p>
          <a:p>
            <a:pPr>
              <a:spcAft>
                <a:spcPts val="400"/>
              </a:spcAft>
            </a:pPr>
            <a:r>
              <a:rPr sz="1400">
                <a:solidFill>
                  <a:srgbClr val="202020"/>
                </a:solidFill>
              </a:rPr>
              <a:t>3. Peter Robinson ... reduce costs → CITATION NEEDED</a:t>
            </a:r>
          </a:p>
          <a:p>
            <a:pPr>
              <a:spcAft>
                <a:spcPts val="400"/>
              </a:spcAft>
            </a:pPr>
            <a:r>
              <a:rPr sz="1400">
                <a:solidFill>
                  <a:srgbClr val="202020"/>
                </a:solidFill>
              </a:rPr>
              <a:t>4. may not be feasible → (no)</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任务3（答案）</a:t>
            </a:r>
          </a:p>
          <a:p>
            <a:pPr>
              <a:spcAft>
                <a:spcPts val="500"/>
              </a:spcAft>
            </a:pPr>
            <a:r>
              <a:rPr sz="1400">
                <a:solidFill>
                  <a:srgbClr val="333333"/>
                </a:solidFill>
                <a:latin typeface="Microsoft YaHei"/>
              </a:rPr>
              <a:t>① 要引用</a:t>
            </a:r>
          </a:p>
          <a:p>
            <a:pPr>
              <a:spcAft>
                <a:spcPts val="500"/>
              </a:spcAft>
            </a:pPr>
            <a:r>
              <a:rPr sz="1400">
                <a:solidFill>
                  <a:srgbClr val="333333"/>
                </a:solidFill>
                <a:latin typeface="Microsoft YaHei"/>
              </a:rPr>
              <a:t>② 不用(常识)</a:t>
            </a:r>
          </a:p>
          <a:p>
            <a:pPr>
              <a:spcAft>
                <a:spcPts val="500"/>
              </a:spcAft>
            </a:pPr>
            <a:r>
              <a:rPr sz="1400">
                <a:solidFill>
                  <a:srgbClr val="333333"/>
                </a:solidFill>
                <a:latin typeface="Microsoft YaHei"/>
              </a:rPr>
              <a:t>③ 要引用</a:t>
            </a:r>
          </a:p>
          <a:p>
            <a:pPr>
              <a:spcAft>
                <a:spcPts val="500"/>
              </a:spcAft>
            </a:pPr>
            <a:r>
              <a:rPr sz="1400">
                <a:solidFill>
                  <a:srgbClr val="333333"/>
                </a:solidFill>
                <a:latin typeface="Microsoft YaHei"/>
              </a:rPr>
              <a:t>④ 不用(你的论点)</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33 · When to use citations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You have to reference everything not your own work: Texts / Media / Data</a:t>
            </a:r>
          </a:p>
          <a:p>
            <a:pPr>
              <a:spcAft>
                <a:spcPts val="400"/>
              </a:spcAft>
            </a:pPr>
            <a:r>
              <a:rPr sz="1400">
                <a:solidFill>
                  <a:srgbClr val="202020"/>
                </a:solidFill>
              </a:rPr>
              <a:t>Generally accepted facts are allowed. E.g. Water boils at 100°C.</a:t>
            </a:r>
          </a:p>
          <a:p>
            <a:pPr>
              <a:spcAft>
                <a:spcPts val="400"/>
              </a:spcAft>
            </a:pPr>
            <a:r>
              <a:rPr sz="1400">
                <a:solidFill>
                  <a:srgbClr val="202020"/>
                </a:solidFill>
              </a:rPr>
              <a:t>Cite Them Right (citethemrightonline.com)</a:t>
            </a:r>
          </a:p>
          <a:p>
            <a:pPr>
              <a:spcAft>
                <a:spcPts val="400"/>
              </a:spcAft>
            </a:pPr>
            <a:r>
              <a:rPr sz="1400">
                <a:solidFill>
                  <a:srgbClr val="202020"/>
                </a:solidFill>
              </a:rPr>
              <a:t>References (apa.org)</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何时引用</a:t>
            </a:r>
          </a:p>
          <a:p>
            <a:pPr>
              <a:spcAft>
                <a:spcPts val="500"/>
              </a:spcAft>
            </a:pPr>
            <a:r>
              <a:rPr sz="1400">
                <a:solidFill>
                  <a:srgbClr val="333333"/>
                </a:solidFill>
                <a:latin typeface="Microsoft YaHei"/>
              </a:rPr>
              <a:t>非你原创都要引用：文字/媒体/数据</a:t>
            </a:r>
          </a:p>
          <a:p>
            <a:pPr>
              <a:spcAft>
                <a:spcPts val="500"/>
              </a:spcAft>
            </a:pPr>
            <a:r>
              <a:rPr sz="1400">
                <a:solidFill>
                  <a:srgbClr val="333333"/>
                </a:solidFill>
                <a:latin typeface="Microsoft YaHei"/>
              </a:rPr>
              <a:t>公认事实不用(水100℃沸腾)</a:t>
            </a:r>
          </a:p>
          <a:p>
            <a:pPr>
              <a:spcAft>
                <a:spcPts val="500"/>
              </a:spcAft>
            </a:pPr>
            <a:r>
              <a:rPr sz="1400">
                <a:solidFill>
                  <a:srgbClr val="333333"/>
                </a:solidFill>
                <a:latin typeface="Microsoft YaHei"/>
              </a:rPr>
              <a:t>资源：citethemrightonline.com / apa.org</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34 · Task 4</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Is this a more successful paragraph? Are there any problems?</a:t>
            </a:r>
          </a:p>
          <a:p>
            <a:pPr>
              <a:spcAft>
                <a:spcPts val="400"/>
              </a:spcAft>
            </a:pPr>
          </a:p>
          <a:p>
            <a:pPr>
              <a:spcAft>
                <a:spcPts val="400"/>
              </a:spcAft>
            </a:pPr>
            <a:r>
              <a:rPr sz="1400">
                <a:solidFill>
                  <a:srgbClr val="202020"/>
                </a:solidFill>
              </a:rPr>
              <a:t>“Skinner and Stewart (2017) see organisational culture ... Hofstede (2001) states ... Deal &amp; Kennedy (1982) state that organisational culture is ‘the way we do things round here’.”</a:t>
            </a:r>
          </a:p>
          <a:p>
            <a:pPr>
              <a:spcAft>
                <a:spcPts val="400"/>
              </a:spcAft>
            </a:pPr>
            <a:r>
              <a:rPr sz="1400">
                <a:solidFill>
                  <a:srgbClr val="202020"/>
                </a:solidFill>
              </a:rPr>
              <a:t>Previous student's work – DO NOT COPY!</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任务4</a:t>
            </a:r>
          </a:p>
          <a:p>
            <a:pPr>
              <a:spcAft>
                <a:spcPts val="500"/>
              </a:spcAft>
            </a:pPr>
            <a:r>
              <a:rPr sz="1400">
                <a:solidFill>
                  <a:srgbClr val="333333"/>
                </a:solidFill>
                <a:latin typeface="Microsoft YaHei"/>
              </a:rPr>
              <a:t>判断改进段落是否更成功？有问题吗？</a:t>
            </a:r>
          </a:p>
          <a:p>
            <a:pPr>
              <a:spcAft>
                <a:spcPts val="500"/>
              </a:spcAft>
            </a:pPr>
            <a:r>
              <a:rPr sz="1400">
                <a:solidFill>
                  <a:srgbClr val="333333"/>
                </a:solidFill>
                <a:latin typeface="Microsoft YaHei"/>
              </a:rPr>
              <a:t>（段落引用3个来源定义组织文化）</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35 · Task 4 (annotation)</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Evidence (with citations)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任务4（结构标注）</a:t>
            </a:r>
          </a:p>
          <a:p>
            <a:pPr>
              <a:spcAft>
                <a:spcPts val="500"/>
              </a:spcAft>
            </a:pPr>
            <a:r>
              <a:rPr sz="1400">
                <a:solidFill>
                  <a:srgbClr val="333333"/>
                </a:solidFill>
                <a:latin typeface="Microsoft YaHei"/>
              </a:rPr>
              <a:t>该段只有证据(有引用)</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36 · Task 4 (Answers)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Yes, it is more successful.</a:t>
            </a:r>
          </a:p>
          <a:p>
            <a:pPr>
              <a:spcAft>
                <a:spcPts val="400"/>
              </a:spcAft>
            </a:pPr>
            <a:r>
              <a:rPr sz="1400">
                <a:solidFill>
                  <a:srgbClr val="202020"/>
                </a:solidFill>
              </a:rPr>
              <a:t>Problems:</a:t>
            </a:r>
          </a:p>
          <a:p>
            <a:pPr>
              <a:spcAft>
                <a:spcPts val="400"/>
              </a:spcAft>
            </a:pPr>
            <a:r>
              <a:rPr sz="1400">
                <a:solidFill>
                  <a:srgbClr val="202020"/>
                </a:solidFill>
              </a:rPr>
              <a:t>• No topic sentence</a:t>
            </a:r>
          </a:p>
          <a:p>
            <a:pPr>
              <a:spcAft>
                <a:spcPts val="400"/>
              </a:spcAft>
            </a:pPr>
            <a:r>
              <a:rPr sz="1400">
                <a:solidFill>
                  <a:srgbClr val="202020"/>
                </a:solidFill>
              </a:rPr>
              <a:t>• No commentary</a:t>
            </a:r>
          </a:p>
          <a:p>
            <a:pPr>
              <a:spcAft>
                <a:spcPts val="400"/>
              </a:spcAft>
            </a:pPr>
            <a:r>
              <a:rPr sz="1400">
                <a:solidFill>
                  <a:srgbClr val="202020"/>
                </a:solidFill>
              </a:rPr>
              <a:t>• No analysis</a:t>
            </a:r>
          </a:p>
          <a:p>
            <a:pPr>
              <a:spcAft>
                <a:spcPts val="400"/>
              </a:spcAft>
            </a:pPr>
            <a:r>
              <a:rPr sz="1400">
                <a:solidFill>
                  <a:srgbClr val="202020"/>
                </a:solidFill>
              </a:rPr>
              <a:t>• Only describes what others say — cannot show relationship between sources</a:t>
            </a:r>
          </a:p>
          <a:p>
            <a:pPr>
              <a:spcAft>
                <a:spcPts val="400"/>
              </a:spcAft>
            </a:pPr>
          </a:p>
          <a:p>
            <a:pPr>
              <a:spcAft>
                <a:spcPts val="400"/>
              </a:spcAft>
            </a:pPr>
            <a:r>
              <a:rPr sz="1400">
                <a:solidFill>
                  <a:srgbClr val="202020"/>
                </a:solidFill>
              </a:rPr>
              <a:t>You need to show your opinion (rephrasing / comparing-contrasting / analysing).</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任务4（答案）</a:t>
            </a:r>
          </a:p>
          <a:p>
            <a:pPr>
              <a:spcAft>
                <a:spcPts val="500"/>
              </a:spcAft>
            </a:pPr>
            <a:r>
              <a:rPr sz="1400">
                <a:solidFill>
                  <a:srgbClr val="333333"/>
                </a:solidFill>
                <a:latin typeface="Microsoft YaHei"/>
              </a:rPr>
              <a:t>更成功。但缺：</a:t>
            </a:r>
          </a:p>
          <a:p>
            <a:pPr>
              <a:spcAft>
                <a:spcPts val="500"/>
              </a:spcAft>
            </a:pPr>
            <a:r>
              <a:rPr sz="1400">
                <a:solidFill>
                  <a:srgbClr val="333333"/>
                </a:solidFill>
                <a:latin typeface="Microsoft YaHei"/>
              </a:rPr>
              <a:t>• 无主题句</a:t>
            </a:r>
          </a:p>
          <a:p>
            <a:pPr>
              <a:spcAft>
                <a:spcPts val="500"/>
              </a:spcAft>
            </a:pPr>
            <a:r>
              <a:rPr sz="1400">
                <a:solidFill>
                  <a:srgbClr val="333333"/>
                </a:solidFill>
                <a:latin typeface="Microsoft YaHei"/>
              </a:rPr>
              <a:t>• 无评论/分析</a:t>
            </a:r>
          </a:p>
          <a:p>
            <a:pPr>
              <a:spcAft>
                <a:spcPts val="500"/>
              </a:spcAft>
            </a:pPr>
            <a:r>
              <a:rPr sz="1400">
                <a:solidFill>
                  <a:srgbClr val="333333"/>
                </a:solidFill>
                <a:latin typeface="Microsoft YaHei"/>
              </a:rPr>
              <a:t>• 只罗列没展示关系</a:t>
            </a:r>
          </a:p>
          <a:p>
            <a:pPr>
              <a:spcAft>
                <a:spcPts val="500"/>
              </a:spcAft>
            </a:pPr>
            <a:r>
              <a:rPr sz="1400">
                <a:solidFill>
                  <a:srgbClr val="333333"/>
                </a:solidFill>
                <a:latin typeface="Microsoft YaHei"/>
              </a:rPr>
              <a:t>需加自己观点(改述/对比/分析)</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37 · Strategy 5: Add Your Voice</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A voice:</a:t>
            </a:r>
          </a:p>
          <a:p>
            <a:pPr>
              <a:spcAft>
                <a:spcPts val="400"/>
              </a:spcAft>
            </a:pPr>
            <a:r>
              <a:rPr sz="1400">
                <a:solidFill>
                  <a:srgbClr val="202020"/>
                </a:solidFill>
              </a:rPr>
              <a:t>• Communicates the writer's perspective/stance</a:t>
            </a:r>
          </a:p>
          <a:p>
            <a:pPr>
              <a:spcAft>
                <a:spcPts val="400"/>
              </a:spcAft>
            </a:pPr>
            <a:r>
              <a:rPr sz="1400">
                <a:solidFill>
                  <a:srgbClr val="202020"/>
                </a:solidFill>
              </a:rPr>
              <a:t>• Guides the reader through signposting words</a:t>
            </a:r>
          </a:p>
          <a:p>
            <a:pPr>
              <a:spcAft>
                <a:spcPts val="400"/>
              </a:spcAft>
            </a:pPr>
            <a:r>
              <a:rPr sz="1400">
                <a:solidFill>
                  <a:srgbClr val="202020"/>
                </a:solidFill>
              </a:rPr>
              <a:t>• Conveys personality through tone and style</a:t>
            </a:r>
          </a:p>
          <a:p>
            <a:pPr>
              <a:spcAft>
                <a:spcPts val="400"/>
              </a:spcAft>
            </a:pPr>
            <a:r>
              <a:rPr sz="1400">
                <a:solidFill>
                  <a:srgbClr val="202020"/>
                </a:solidFill>
              </a:rPr>
              <a:t>• Establishes credibility (expertise/authority)</a:t>
            </a:r>
          </a:p>
          <a:p>
            <a:pPr>
              <a:spcAft>
                <a:spcPts val="400"/>
              </a:spcAft>
            </a:pPr>
            <a:r>
              <a:rPr sz="1400">
                <a:solidFill>
                  <a:srgbClr val="202020"/>
                </a:solidFill>
              </a:rPr>
              <a:t>• Creates cohesiveness (relationship between ideas)</a:t>
            </a:r>
          </a:p>
          <a:p>
            <a:pPr>
              <a:spcAft>
                <a:spcPts val="400"/>
              </a:spcAft>
            </a:pPr>
            <a:r>
              <a:rPr sz="1400">
                <a:solidFill>
                  <a:srgbClr val="202020"/>
                </a:solidFill>
              </a:rPr>
              <a:t>• Shows criticality (nuanced/analytical perspective)</a:t>
            </a:r>
          </a:p>
          <a:p>
            <a:pPr>
              <a:spcAft>
                <a:spcPts val="400"/>
              </a:spcAft>
            </a:pPr>
            <a:r>
              <a:rPr sz="1400">
                <a:solidFill>
                  <a:srgbClr val="202020"/>
                </a:solidFill>
              </a:rPr>
              <a:t>Helms-Park and Stapleton (2003)</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策略5：加入你的声音</a:t>
            </a:r>
          </a:p>
          <a:p>
            <a:pPr>
              <a:spcAft>
                <a:spcPts val="500"/>
              </a:spcAft>
            </a:pPr>
            <a:r>
              <a:rPr sz="1400">
                <a:solidFill>
                  <a:srgbClr val="333333"/>
                </a:solidFill>
                <a:latin typeface="Microsoft YaHei"/>
              </a:rPr>
              <a:t>voice=</a:t>
            </a:r>
          </a:p>
          <a:p>
            <a:pPr>
              <a:spcAft>
                <a:spcPts val="500"/>
              </a:spcAft>
            </a:pPr>
            <a:r>
              <a:rPr sz="1400">
                <a:solidFill>
                  <a:srgbClr val="333333"/>
                </a:solidFill>
                <a:latin typeface="Microsoft YaHei"/>
              </a:rPr>
              <a:t>• 传达立场</a:t>
            </a:r>
          </a:p>
          <a:p>
            <a:pPr>
              <a:spcAft>
                <a:spcPts val="500"/>
              </a:spcAft>
            </a:pPr>
            <a:r>
              <a:rPr sz="1400">
                <a:solidFill>
                  <a:srgbClr val="333333"/>
                </a:solidFill>
                <a:latin typeface="Microsoft YaHei"/>
              </a:rPr>
              <a:t>• 路标词引导读者</a:t>
            </a:r>
          </a:p>
          <a:p>
            <a:pPr>
              <a:spcAft>
                <a:spcPts val="500"/>
              </a:spcAft>
            </a:pPr>
            <a:r>
              <a:rPr sz="1400">
                <a:solidFill>
                  <a:srgbClr val="333333"/>
                </a:solidFill>
                <a:latin typeface="Microsoft YaHei"/>
              </a:rPr>
              <a:t>• 语气个性</a:t>
            </a:r>
          </a:p>
          <a:p>
            <a:pPr>
              <a:spcAft>
                <a:spcPts val="500"/>
              </a:spcAft>
            </a:pPr>
            <a:r>
              <a:rPr sz="1400">
                <a:solidFill>
                  <a:srgbClr val="333333"/>
                </a:solidFill>
                <a:latin typeface="Microsoft YaHei"/>
              </a:rPr>
              <a:t>• 建立可信度</a:t>
            </a:r>
          </a:p>
          <a:p>
            <a:pPr>
              <a:spcAft>
                <a:spcPts val="500"/>
              </a:spcAft>
            </a:pPr>
            <a:r>
              <a:rPr sz="1400">
                <a:solidFill>
                  <a:srgbClr val="333333"/>
                </a:solidFill>
                <a:latin typeface="Microsoft YaHei"/>
              </a:rPr>
              <a:t>• 连贯性</a:t>
            </a:r>
          </a:p>
          <a:p>
            <a:pPr>
              <a:spcAft>
                <a:spcPts val="500"/>
              </a:spcAft>
            </a:pPr>
            <a:r>
              <a:rPr sz="1400">
                <a:solidFill>
                  <a:srgbClr val="333333"/>
                </a:solidFill>
                <a:latin typeface="Microsoft YaHei"/>
              </a:rPr>
              <a:t>• 批判性</a:t>
            </a:r>
          </a:p>
          <a:p>
            <a:pPr>
              <a:spcAft>
                <a:spcPts val="500"/>
              </a:spcAft>
            </a:pPr>
            <a:r>
              <a:rPr sz="1400">
                <a:solidFill>
                  <a:srgbClr val="333333"/>
                </a:solidFill>
                <a:latin typeface="Microsoft YaHei"/>
              </a:rPr>
              <a:t>(Helms-Park &amp; Stapleton 2003)</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38 · Paragraph Structure and Your Voice</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P – point: your key point/claim is your voice</a:t>
            </a:r>
          </a:p>
          <a:p>
            <a:pPr>
              <a:spcAft>
                <a:spcPts val="400"/>
              </a:spcAft>
            </a:pPr>
            <a:r>
              <a:rPr sz="1400">
                <a:solidFill>
                  <a:srgbClr val="202020"/>
                </a:solidFill>
              </a:rPr>
              <a:t>E – evidence: your synthesis (comparison/cause-effect/addition/exemplification) is your voice</a:t>
            </a:r>
          </a:p>
          <a:p>
            <a:pPr>
              <a:spcAft>
                <a:spcPts val="400"/>
              </a:spcAft>
            </a:pPr>
            <a:r>
              <a:rPr sz="1400">
                <a:solidFill>
                  <a:srgbClr val="202020"/>
                </a:solidFill>
              </a:rPr>
              <a:t>E – evaluation: your comment is your voice</a:t>
            </a:r>
          </a:p>
          <a:p>
            <a:pPr>
              <a:spcAft>
                <a:spcPts val="400"/>
              </a:spcAft>
            </a:pPr>
            <a:r>
              <a:rPr sz="1400">
                <a:solidFill>
                  <a:srgbClr val="202020"/>
                </a:solidFill>
              </a:rPr>
              <a:t>L – link: to your argument is your voice</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段落结构与你的声音</a:t>
            </a:r>
          </a:p>
          <a:p>
            <a:pPr>
              <a:spcAft>
                <a:spcPts val="500"/>
              </a:spcAft>
            </a:pPr>
            <a:r>
              <a:rPr sz="1400">
                <a:solidFill>
                  <a:srgbClr val="333333"/>
                </a:solidFill>
                <a:latin typeface="Microsoft YaHei"/>
              </a:rPr>
              <a:t>P 观点=你的声音</a:t>
            </a:r>
          </a:p>
          <a:p>
            <a:pPr>
              <a:spcAft>
                <a:spcPts val="500"/>
              </a:spcAft>
            </a:pPr>
            <a:r>
              <a:rPr sz="1400">
                <a:solidFill>
                  <a:srgbClr val="333333"/>
                </a:solidFill>
                <a:latin typeface="Microsoft YaHei"/>
              </a:rPr>
              <a:t>E 证据综合=你的声音</a:t>
            </a:r>
          </a:p>
          <a:p>
            <a:pPr>
              <a:spcAft>
                <a:spcPts val="500"/>
              </a:spcAft>
            </a:pPr>
            <a:r>
              <a:rPr sz="1400">
                <a:solidFill>
                  <a:srgbClr val="333333"/>
                </a:solidFill>
                <a:latin typeface="Microsoft YaHei"/>
              </a:rPr>
              <a:t>E 评价=你的声音</a:t>
            </a:r>
          </a:p>
          <a:p>
            <a:pPr>
              <a:spcAft>
                <a:spcPts val="500"/>
              </a:spcAft>
            </a:pPr>
            <a:r>
              <a:rPr sz="1400">
                <a:solidFill>
                  <a:srgbClr val="333333"/>
                </a:solidFill>
                <a:latin typeface="Microsoft YaHei"/>
              </a:rPr>
              <a:t>L 回扣=你的声音</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39 · Ways to Show Your Voice in Evaluation</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 Frame problems, not just gap-spotting</a:t>
            </a:r>
          </a:p>
          <a:p>
            <a:pPr>
              <a:spcAft>
                <a:spcPts val="400"/>
              </a:spcAft>
            </a:pPr>
            <a:r>
              <a:rPr sz="1400">
                <a:solidFill>
                  <a:srgbClr val="202020"/>
                </a:solidFill>
              </a:rPr>
              <a:t>• Question dominant assumptions or approaches</a:t>
            </a:r>
          </a:p>
          <a:p>
            <a:pPr>
              <a:spcAft>
                <a:spcPts val="400"/>
              </a:spcAft>
            </a:pPr>
            <a:r>
              <a:rPr sz="1400">
                <a:solidFill>
                  <a:srgbClr val="202020"/>
                </a:solidFill>
              </a:rPr>
              <a:t>• Make evaluative judgments</a:t>
            </a:r>
          </a:p>
          <a:p>
            <a:pPr>
              <a:spcAft>
                <a:spcPts val="400"/>
              </a:spcAft>
            </a:pPr>
            <a:r>
              <a:rPr sz="1400">
                <a:solidFill>
                  <a:srgbClr val="202020"/>
                </a:solidFill>
              </a:rPr>
              <a:t>• Question and challenge the gaps</a:t>
            </a:r>
          </a:p>
          <a:p>
            <a:pPr>
              <a:spcAft>
                <a:spcPts val="400"/>
              </a:spcAft>
            </a:pPr>
            <a:r>
              <a:rPr sz="1400">
                <a:solidFill>
                  <a:srgbClr val="202020"/>
                </a:solidFill>
              </a:rPr>
              <a:t>• Establish links between literature and your research</a:t>
            </a:r>
          </a:p>
          <a:p>
            <a:pPr>
              <a:spcAft>
                <a:spcPts val="400"/>
              </a:spcAft>
            </a:pPr>
            <a:r>
              <a:rPr sz="1400">
                <a:solidFill>
                  <a:srgbClr val="202020"/>
                </a:solidFill>
              </a:rPr>
              <a:t>• Think about the implications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评价中展示声音</a:t>
            </a:r>
          </a:p>
          <a:p>
            <a:pPr>
              <a:spcAft>
                <a:spcPts val="500"/>
              </a:spcAft>
            </a:pPr>
            <a:r>
              <a:rPr sz="1400">
                <a:solidFill>
                  <a:srgbClr val="333333"/>
                </a:solidFill>
                <a:latin typeface="Microsoft YaHei"/>
              </a:rPr>
              <a:t>• 框定问题非只找空白</a:t>
            </a:r>
          </a:p>
          <a:p>
            <a:pPr>
              <a:spcAft>
                <a:spcPts val="500"/>
              </a:spcAft>
            </a:pPr>
            <a:r>
              <a:rPr sz="1400">
                <a:solidFill>
                  <a:srgbClr val="333333"/>
                </a:solidFill>
                <a:latin typeface="Microsoft YaHei"/>
              </a:rPr>
              <a:t>• 质疑主流假设</a:t>
            </a:r>
          </a:p>
          <a:p>
            <a:pPr>
              <a:spcAft>
                <a:spcPts val="500"/>
              </a:spcAft>
            </a:pPr>
            <a:r>
              <a:rPr sz="1400">
                <a:solidFill>
                  <a:srgbClr val="333333"/>
                </a:solidFill>
                <a:latin typeface="Microsoft YaHei"/>
              </a:rPr>
              <a:t>• 评判性判断</a:t>
            </a:r>
          </a:p>
          <a:p>
            <a:pPr>
              <a:spcAft>
                <a:spcPts val="500"/>
              </a:spcAft>
            </a:pPr>
            <a:r>
              <a:rPr sz="1400">
                <a:solidFill>
                  <a:srgbClr val="333333"/>
                </a:solidFill>
                <a:latin typeface="Microsoft YaHei"/>
              </a:rPr>
              <a:t>• 挑战空白</a:t>
            </a:r>
          </a:p>
          <a:p>
            <a:pPr>
              <a:spcAft>
                <a:spcPts val="500"/>
              </a:spcAft>
            </a:pPr>
            <a:r>
              <a:rPr sz="1400">
                <a:solidFill>
                  <a:srgbClr val="333333"/>
                </a:solidFill>
                <a:latin typeface="Microsoft YaHei"/>
              </a:rPr>
              <a:t>• 建立文献关联</a:t>
            </a:r>
          </a:p>
          <a:p>
            <a:pPr>
              <a:spcAft>
                <a:spcPts val="500"/>
              </a:spcAft>
            </a:pPr>
            <a:r>
              <a:rPr sz="1400">
                <a:solidFill>
                  <a:srgbClr val="333333"/>
                </a:solidFill>
                <a:latin typeface="Microsoft YaHei"/>
              </a:rPr>
              <a:t>• 想影响</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40 · Task 5</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Can you see any examples of the author's voice (opinion)?</a:t>
            </a:r>
          </a:p>
          <a:p>
            <a:pPr>
              <a:spcAft>
                <a:spcPts val="400"/>
              </a:spcAft>
            </a:pPr>
          </a:p>
          <a:p>
            <a:pPr>
              <a:spcAft>
                <a:spcPts val="400"/>
              </a:spcAft>
            </a:pPr>
            <a:r>
              <a:rPr sz="1400">
                <a:solidFill>
                  <a:srgbClr val="202020"/>
                </a:solidFill>
              </a:rPr>
              <a:t>“Organisational culture is a key factor in sports organisations but is difficult to define. Skinner and Stewart (2017) offer the most comprehensive depiction ... Hofstede (2001) agrees ... Although these groups might be undefined ... To summarise this concept holistically, Deal &amp; Kennedy (1982) ... ‘the way we do things round here’.”</a:t>
            </a:r>
          </a:p>
          <a:p>
            <a:pPr>
              <a:spcAft>
                <a:spcPts val="400"/>
              </a:spcAft>
            </a:pPr>
            <a:r>
              <a:rPr sz="1400">
                <a:solidFill>
                  <a:srgbClr val="202020"/>
                </a:solidFill>
              </a:rPr>
              <a:t>Previous student's work – DO NOT COPY!</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任务5</a:t>
            </a:r>
          </a:p>
          <a:p>
            <a:pPr>
              <a:spcAft>
                <a:spcPts val="500"/>
              </a:spcAft>
            </a:pPr>
            <a:r>
              <a:rPr sz="1400">
                <a:solidFill>
                  <a:srgbClr val="333333"/>
                </a:solidFill>
                <a:latin typeface="Microsoft YaHei"/>
              </a:rPr>
              <a:t>找段落中作者的声音(观点)</a:t>
            </a:r>
          </a:p>
          <a:p>
            <a:pPr>
              <a:spcAft>
                <a:spcPts val="500"/>
              </a:spcAft>
            </a:pPr>
            <a:r>
              <a:rPr sz="1400">
                <a:solidFill>
                  <a:srgbClr val="333333"/>
                </a:solidFill>
                <a:latin typeface="Microsoft YaHei"/>
              </a:rPr>
              <a:t>（更完善的段落，含作者评判）</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41 · Task 5 (Answers)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Examples of voice:</a:t>
            </a:r>
          </a:p>
          <a:p>
            <a:pPr>
              <a:spcAft>
                <a:spcPts val="400"/>
              </a:spcAft>
            </a:pPr>
            <a:r>
              <a:rPr sz="1400">
                <a:solidFill>
                  <a:srgbClr val="202020"/>
                </a:solidFill>
              </a:rPr>
              <a:t>• “…but is difficult to define”</a:t>
            </a:r>
          </a:p>
          <a:p>
            <a:pPr>
              <a:spcAft>
                <a:spcPts val="400"/>
              </a:spcAft>
            </a:pPr>
            <a:r>
              <a:rPr sz="1400">
                <a:solidFill>
                  <a:srgbClr val="202020"/>
                </a:solidFill>
              </a:rPr>
              <a:t>• “offer the most comprehensive depiction”</a:t>
            </a:r>
          </a:p>
          <a:p>
            <a:pPr>
              <a:spcAft>
                <a:spcPts val="400"/>
              </a:spcAft>
            </a:pPr>
            <a:r>
              <a:rPr sz="1400">
                <a:solidFill>
                  <a:srgbClr val="202020"/>
                </a:solidFill>
              </a:rPr>
              <a:t>• “Although these groups might be undefined…”</a:t>
            </a:r>
          </a:p>
          <a:p>
            <a:pPr>
              <a:spcAft>
                <a:spcPts val="400"/>
              </a:spcAft>
            </a:pPr>
            <a:r>
              <a:rPr sz="1400">
                <a:solidFill>
                  <a:srgbClr val="202020"/>
                </a:solidFill>
              </a:rPr>
              <a:t>• “To summarise this concept holistically…”</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任务5（答案）</a:t>
            </a:r>
          </a:p>
          <a:p>
            <a:pPr>
              <a:spcAft>
                <a:spcPts val="500"/>
              </a:spcAft>
            </a:pPr>
            <a:r>
              <a:rPr sz="1400">
                <a:solidFill>
                  <a:srgbClr val="333333"/>
                </a:solidFill>
                <a:latin typeface="Microsoft YaHei"/>
              </a:rPr>
              <a:t>• 「but is difficult to define」</a:t>
            </a:r>
          </a:p>
          <a:p>
            <a:pPr>
              <a:spcAft>
                <a:spcPts val="500"/>
              </a:spcAft>
            </a:pPr>
            <a:r>
              <a:rPr sz="1400">
                <a:solidFill>
                  <a:srgbClr val="333333"/>
                </a:solidFill>
                <a:latin typeface="Microsoft YaHei"/>
              </a:rPr>
              <a:t>• 「the most comprehensive」</a:t>
            </a:r>
          </a:p>
          <a:p>
            <a:pPr>
              <a:spcAft>
                <a:spcPts val="500"/>
              </a:spcAft>
            </a:pPr>
            <a:r>
              <a:rPr sz="1400">
                <a:solidFill>
                  <a:srgbClr val="333333"/>
                </a:solidFill>
                <a:latin typeface="Microsoft YaHei"/>
              </a:rPr>
              <a:t>• 「Although these groups…」</a:t>
            </a:r>
          </a:p>
          <a:p>
            <a:pPr>
              <a:spcAft>
                <a:spcPts val="500"/>
              </a:spcAft>
            </a:pPr>
            <a:r>
              <a:rPr sz="1400">
                <a:solidFill>
                  <a:srgbClr val="333333"/>
                </a:solidFill>
                <a:latin typeface="Microsoft YaHei"/>
              </a:rPr>
              <a:t>• 「To summarise holistically」</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42 · Strategy 5: reporting verbs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You can show your voice by using a variety of reporting verbs. The choice can subtly or strongly convey stance, confidence, and evaluation.</a:t>
            </a:r>
          </a:p>
          <a:p>
            <a:pPr>
              <a:spcAft>
                <a:spcPts val="400"/>
              </a:spcAft>
            </a:pPr>
            <a:r>
              <a:rPr sz="1400">
                <a:solidFill>
                  <a:srgbClr val="202020"/>
                </a:solidFill>
              </a:rPr>
              <a:t>Sort the reporting verbs on the next slide into the correct categories.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策略5：报告动词</a:t>
            </a:r>
          </a:p>
          <a:p>
            <a:pPr>
              <a:spcAft>
                <a:spcPts val="500"/>
              </a:spcAft>
            </a:pPr>
            <a:r>
              <a:rPr sz="1400">
                <a:solidFill>
                  <a:srgbClr val="333333"/>
                </a:solidFill>
                <a:latin typeface="Microsoft YaHei"/>
              </a:rPr>
              <a:t>用多样 reporting verbs 展示立场，动词传达态度/信心/评价。</a:t>
            </a:r>
          </a:p>
          <a:p>
            <a:pPr>
              <a:spcAft>
                <a:spcPts val="500"/>
              </a:spcAft>
            </a:pPr>
            <a:r>
              <a:rPr sz="1400">
                <a:solidFill>
                  <a:srgbClr val="333333"/>
                </a:solidFill>
                <a:latin typeface="Microsoft YaHei"/>
              </a:rPr>
              <a:t>把下一页动词分类。</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nvGrpSpPr>
        <p:cNvPr id="1" name=""/>
        <p:cNvGrpSpPr/>
        <p:nvPr/>
      </p:nvGrpSpPr>
      <p:grpSpPr>
        <a:xfrm>
          <a:off x="0" y="0"/>
          <a:ext cx="0" cy="0"/>
          <a:chOff x="0" y="0"/>
          <a:chExt cx="0" cy="0"/>
        </a:xfrm>
      </p:grpSpPr>
      <p:sp>
        <p:nvSpPr>
          <p:cNvPr id="2" name="Title 1"/>
          <p:cNvSpPr>
            <a:spLocks noGrp="1"/>
          </p:cNvSpPr>
          <p:nvPr>
            <p:ph type="title"/>
          </p:nvPr>
        </p:nvSpPr>
        <p:spPr>
          <a:xfrm>
            <a:off x="609600" y="396794"/>
            <a:ext cx="10972800" cy="1143000"/>
          </a:xfrm>
        </p:spPr>
        <p:txBody>
          <a:bodyPr/>
          <a:lstStyle/>
          <a:p>
            <a:r>
              <a:rPr lang="en-GB" dirty="0"/>
              <a:t>Task 6</a:t>
            </a:r>
            <a:endParaRPr lang="en-GB" dirty="0"/>
          </a:p>
        </p:txBody>
      </p:sp>
      <p:graphicFrame>
        <p:nvGraphicFramePr>
          <p:cNvPr id="6" name="Content Placeholder 5"/>
          <p:cNvGraphicFramePr>
            <a:graphicFrameLocks noGrp="1"/>
          </p:cNvGraphicFramePr>
          <p:nvPr>
            <p:ph idx="1"/>
          </p:nvPr>
        </p:nvGraphicFramePr>
        <p:xfrm>
          <a:off x="609600" y="1600200"/>
          <a:ext cx="10972800" cy="1188720"/>
        </p:xfrm>
        <a:graphic>
          <a:graphicData uri="http://schemas.openxmlformats.org/drawingml/2006/table">
            <a:tbl>
              <a:tblPr firstRow="1" bandRow="1">
                <a:tableStyleId>{69CF1AB2-1976-4502-BF36-3FF5EA218861}</a:tableStyleId>
              </a:tblPr>
              <a:tblGrid>
                <a:gridCol w="1828800"/>
                <a:gridCol w="1828800"/>
                <a:gridCol w="1828800"/>
                <a:gridCol w="1828800"/>
                <a:gridCol w="1828800"/>
                <a:gridCol w="1828800"/>
              </a:tblGrid>
              <a:tr h="370840">
                <a:tc>
                  <a:txBody>
                    <a:bodyPr/>
                    <a:lstStyle/>
                    <a:p>
                      <a:r>
                        <a:rPr lang="en-GB" sz="2000" b="0">
                          <a:solidFill>
                            <a:schemeClr val="bg2"/>
                          </a:solidFill>
                        </a:rPr>
                        <a:t>demonstrates</a:t>
                      </a:r>
                      <a:endParaRPr lang="en-GB" sz="2000" b="0">
                        <a:solidFill>
                          <a:schemeClr val="bg2"/>
                        </a:solidFill>
                      </a:endParaRPr>
                    </a:p>
                  </a:txBody>
                  <a:tcPr/>
                </a:tc>
                <a:tc>
                  <a:txBody>
                    <a:bodyPr/>
                    <a:lstStyle/>
                    <a:p>
                      <a:r>
                        <a:rPr lang="en-GB" sz="2000" b="0">
                          <a:solidFill>
                            <a:schemeClr val="bg2"/>
                          </a:solidFill>
                        </a:rPr>
                        <a:t>posits</a:t>
                      </a:r>
                      <a:endParaRPr lang="en-GB" sz="2000" b="0">
                        <a:solidFill>
                          <a:schemeClr val="bg2"/>
                        </a:solidFill>
                      </a:endParaRPr>
                    </a:p>
                  </a:txBody>
                  <a:tcPr/>
                </a:tc>
                <a:tc>
                  <a:txBody>
                    <a:bodyPr/>
                    <a:lstStyle/>
                    <a:p>
                      <a:r>
                        <a:rPr lang="en-GB" sz="2000" b="0">
                          <a:solidFill>
                            <a:schemeClr val="bg2"/>
                          </a:solidFill>
                        </a:rPr>
                        <a:t>suggests</a:t>
                      </a:r>
                      <a:endParaRPr lang="en-GB" sz="2000" b="0">
                        <a:solidFill>
                          <a:schemeClr val="bg2"/>
                        </a:solidFill>
                      </a:endParaRPr>
                    </a:p>
                  </a:txBody>
                  <a:tcPr/>
                </a:tc>
                <a:tc>
                  <a:txBody>
                    <a:bodyPr/>
                    <a:lstStyle/>
                    <a:p>
                      <a:r>
                        <a:rPr lang="en-GB" sz="2000" b="0">
                          <a:solidFill>
                            <a:schemeClr val="bg2"/>
                          </a:solidFill>
                        </a:rPr>
                        <a:t>considers</a:t>
                      </a:r>
                      <a:endParaRPr lang="en-GB" sz="2000" b="0">
                        <a:solidFill>
                          <a:schemeClr val="bg2"/>
                        </a:solidFill>
                      </a:endParaRPr>
                    </a:p>
                  </a:txBody>
                  <a:tcPr/>
                </a:tc>
                <a:tc>
                  <a:txBody>
                    <a:bodyPr/>
                    <a:lstStyle/>
                    <a:p>
                      <a:r>
                        <a:rPr lang="en-GB" sz="2000" b="0">
                          <a:solidFill>
                            <a:schemeClr val="bg2"/>
                          </a:solidFill>
                        </a:rPr>
                        <a:t>reveals</a:t>
                      </a:r>
                      <a:endParaRPr lang="en-GB" sz="2000" b="0">
                        <a:solidFill>
                          <a:schemeClr val="bg2"/>
                        </a:solidFill>
                      </a:endParaRPr>
                    </a:p>
                  </a:txBody>
                  <a:tcPr/>
                </a:tc>
                <a:tc>
                  <a:txBody>
                    <a:bodyPr/>
                    <a:lstStyle/>
                    <a:p>
                      <a:r>
                        <a:rPr lang="en-GB" sz="2000" b="0">
                          <a:solidFill>
                            <a:schemeClr val="bg2"/>
                          </a:solidFill>
                        </a:rPr>
                        <a:t>describes</a:t>
                      </a:r>
                      <a:endParaRPr lang="en-GB" sz="2000" b="0">
                        <a:solidFill>
                          <a:schemeClr val="bg2"/>
                        </a:solidFill>
                      </a:endParaRPr>
                    </a:p>
                  </a:txBody>
                  <a:tcPr/>
                </a:tc>
              </a:tr>
              <a:tr h="370840">
                <a:tc>
                  <a:txBody>
                    <a:bodyPr/>
                    <a:lstStyle/>
                    <a:p>
                      <a:r>
                        <a:rPr lang="en-GB" sz="2000" b="0">
                          <a:solidFill>
                            <a:schemeClr val="bg2"/>
                          </a:solidFill>
                        </a:rPr>
                        <a:t>claims</a:t>
                      </a:r>
                      <a:endParaRPr lang="en-GB" sz="2000" b="0">
                        <a:solidFill>
                          <a:schemeClr val="bg2"/>
                        </a:solidFill>
                      </a:endParaRPr>
                    </a:p>
                  </a:txBody>
                  <a:tcPr/>
                </a:tc>
                <a:tc>
                  <a:txBody>
                    <a:bodyPr/>
                    <a:lstStyle/>
                    <a:p>
                      <a:r>
                        <a:rPr lang="en-GB" sz="2000" b="0">
                          <a:solidFill>
                            <a:schemeClr val="bg2"/>
                          </a:solidFill>
                        </a:rPr>
                        <a:t>indicates</a:t>
                      </a:r>
                      <a:endParaRPr lang="en-GB" sz="2000" b="0">
                        <a:solidFill>
                          <a:schemeClr val="bg2"/>
                        </a:solidFill>
                      </a:endParaRPr>
                    </a:p>
                  </a:txBody>
                  <a:tcPr/>
                </a:tc>
                <a:tc>
                  <a:txBody>
                    <a:bodyPr/>
                    <a:lstStyle/>
                    <a:p>
                      <a:r>
                        <a:rPr lang="en-GB" sz="2000" b="0">
                          <a:solidFill>
                            <a:schemeClr val="bg2"/>
                          </a:solidFill>
                        </a:rPr>
                        <a:t>proves</a:t>
                      </a:r>
                      <a:endParaRPr lang="en-GB" sz="2000" b="0">
                        <a:solidFill>
                          <a:schemeClr val="bg2"/>
                        </a:solidFill>
                      </a:endParaRPr>
                    </a:p>
                  </a:txBody>
                  <a:tcPr/>
                </a:tc>
                <a:tc>
                  <a:txBody>
                    <a:bodyPr/>
                    <a:lstStyle/>
                    <a:p>
                      <a:r>
                        <a:rPr lang="en-GB" sz="2000" b="0">
                          <a:solidFill>
                            <a:schemeClr val="bg2"/>
                          </a:solidFill>
                        </a:rPr>
                        <a:t>illustrates</a:t>
                      </a:r>
                      <a:endParaRPr lang="en-GB" sz="2000" b="0">
                        <a:solidFill>
                          <a:schemeClr val="bg2"/>
                        </a:solidFill>
                      </a:endParaRPr>
                    </a:p>
                  </a:txBody>
                  <a:tcPr/>
                </a:tc>
                <a:tc>
                  <a:txBody>
                    <a:bodyPr/>
                    <a:lstStyle/>
                    <a:p>
                      <a:r>
                        <a:rPr lang="en-GB" sz="2000" b="0">
                          <a:solidFill>
                            <a:schemeClr val="bg2"/>
                          </a:solidFill>
                        </a:rPr>
                        <a:t>states</a:t>
                      </a:r>
                      <a:endParaRPr lang="en-GB" sz="2000" b="0">
                        <a:solidFill>
                          <a:schemeClr val="bg2"/>
                        </a:solidFill>
                      </a:endParaRPr>
                    </a:p>
                  </a:txBody>
                  <a:tcPr/>
                </a:tc>
                <a:tc>
                  <a:txBody>
                    <a:bodyPr/>
                    <a:lstStyle/>
                    <a:p>
                      <a:r>
                        <a:rPr lang="en-GB" sz="2000" b="0">
                          <a:solidFill>
                            <a:schemeClr val="bg2"/>
                          </a:solidFill>
                        </a:rPr>
                        <a:t>notes</a:t>
                      </a:r>
                      <a:endParaRPr lang="en-GB" sz="2000" b="0">
                        <a:solidFill>
                          <a:schemeClr val="bg2"/>
                        </a:solidFill>
                      </a:endParaRPr>
                    </a:p>
                  </a:txBody>
                  <a:tcPr/>
                </a:tc>
              </a:tr>
              <a:tr h="370840">
                <a:tc>
                  <a:txBody>
                    <a:bodyPr/>
                    <a:lstStyle/>
                    <a:p>
                      <a:r>
                        <a:rPr lang="en-GB" sz="2000" b="0">
                          <a:solidFill>
                            <a:schemeClr val="bg2"/>
                          </a:solidFill>
                        </a:rPr>
                        <a:t>argues</a:t>
                      </a:r>
                      <a:endParaRPr lang="en-GB" sz="2000" b="0">
                        <a:solidFill>
                          <a:schemeClr val="bg2"/>
                        </a:solidFill>
                      </a:endParaRPr>
                    </a:p>
                  </a:txBody>
                  <a:tcPr/>
                </a:tc>
                <a:tc>
                  <a:txBody>
                    <a:bodyPr/>
                    <a:lstStyle/>
                    <a:p>
                      <a:r>
                        <a:rPr lang="en-GB" sz="2000" b="0">
                          <a:solidFill>
                            <a:schemeClr val="bg2"/>
                          </a:solidFill>
                        </a:rPr>
                        <a:t>believes</a:t>
                      </a:r>
                      <a:endParaRPr lang="en-GB" sz="2000" b="0">
                        <a:solidFill>
                          <a:schemeClr val="bg2"/>
                        </a:solidFill>
                      </a:endParaRPr>
                    </a:p>
                  </a:txBody>
                  <a:tcPr/>
                </a:tc>
                <a:tc>
                  <a:txBody>
                    <a:bodyPr/>
                    <a:lstStyle/>
                    <a:p>
                      <a:r>
                        <a:rPr lang="en-GB" sz="2000" b="0">
                          <a:solidFill>
                            <a:schemeClr val="bg2"/>
                          </a:solidFill>
                        </a:rPr>
                        <a:t>highlights</a:t>
                      </a:r>
                      <a:endParaRPr lang="en-GB" sz="2000" b="0">
                        <a:solidFill>
                          <a:schemeClr val="bg2"/>
                        </a:solidFill>
                      </a:endParaRPr>
                    </a:p>
                  </a:txBody>
                  <a:tcPr/>
                </a:tc>
                <a:tc>
                  <a:txBody>
                    <a:bodyPr/>
                    <a:lstStyle/>
                    <a:p>
                      <a:r>
                        <a:rPr lang="en-GB" sz="2000" b="0">
                          <a:solidFill>
                            <a:schemeClr val="bg2"/>
                          </a:solidFill>
                        </a:rPr>
                        <a:t>discusses</a:t>
                      </a:r>
                      <a:endParaRPr lang="en-GB" sz="2000" b="0">
                        <a:solidFill>
                          <a:schemeClr val="bg2"/>
                        </a:solidFill>
                      </a:endParaRPr>
                    </a:p>
                  </a:txBody>
                  <a:tcPr/>
                </a:tc>
                <a:tc>
                  <a:txBody>
                    <a:bodyPr/>
                    <a:lstStyle/>
                    <a:p>
                      <a:r>
                        <a:rPr lang="en-GB" sz="2000" b="0">
                          <a:solidFill>
                            <a:schemeClr val="bg2"/>
                          </a:solidFill>
                        </a:rPr>
                        <a:t>shows</a:t>
                      </a:r>
                      <a:endParaRPr lang="en-GB" sz="2000" b="0">
                        <a:solidFill>
                          <a:schemeClr val="bg2"/>
                        </a:solidFill>
                      </a:endParaRPr>
                    </a:p>
                  </a:txBody>
                  <a:tcPr/>
                </a:tc>
                <a:tc>
                  <a:txBody>
                    <a:bodyPr/>
                    <a:lstStyle/>
                    <a:p>
                      <a:endParaRPr lang="en-GB" sz="2000" b="0">
                        <a:solidFill>
                          <a:schemeClr val="bg2"/>
                        </a:solidFill>
                      </a:endParaRPr>
                    </a:p>
                  </a:txBody>
                  <a:tcPr/>
                </a:tc>
              </a:tr>
            </a:tbl>
          </a:graphicData>
        </a:graphic>
      </p:graphicFrame>
      <p:graphicFrame>
        <p:nvGraphicFramePr>
          <p:cNvPr id="4" name="Table 3"/>
          <p:cNvGraphicFramePr>
            <a:graphicFrameLocks noGrp="1"/>
          </p:cNvGraphicFramePr>
          <p:nvPr/>
        </p:nvGraphicFramePr>
        <p:xfrm>
          <a:off x="609599" y="3108961"/>
          <a:ext cx="10972800" cy="1071880"/>
        </p:xfrm>
        <a:graphic>
          <a:graphicData uri="http://schemas.openxmlformats.org/drawingml/2006/table">
            <a:tbl>
              <a:tblPr firstRow="1" bandRow="1">
                <a:tableStyleId>{5C22544A-7EE6-4342-B048-85BDC9FD1C3A}</a:tableStyleId>
              </a:tblPr>
              <a:tblGrid>
                <a:gridCol w="1461055"/>
                <a:gridCol w="1967947"/>
                <a:gridCol w="1693627"/>
                <a:gridCol w="2192571"/>
                <a:gridCol w="1828800"/>
                <a:gridCol w="1828800"/>
              </a:tblGrid>
              <a:tr h="370840">
                <a:tc>
                  <a:txBody>
                    <a:bodyPr/>
                    <a:lstStyle/>
                    <a:p>
                      <a:r>
                        <a:rPr lang="en-GB" sz="2000">
                          <a:solidFill>
                            <a:schemeClr val="tx1"/>
                          </a:solidFill>
                        </a:rPr>
                        <a:t>Neutral</a:t>
                      </a:r>
                      <a:endParaRPr lang="en-GB" sz="2000">
                        <a:solidFill>
                          <a:schemeClr val="tx1"/>
                        </a:solidFill>
                      </a:endParaRPr>
                    </a:p>
                  </a:txBody>
                  <a:tcPr/>
                </a:tc>
                <a:tc>
                  <a:txBody>
                    <a:bodyPr/>
                    <a:lstStyle/>
                    <a:p>
                      <a:r>
                        <a:rPr lang="en-GB" sz="2000">
                          <a:solidFill>
                            <a:schemeClr val="tx1"/>
                          </a:solidFill>
                        </a:rPr>
                        <a:t>Fact after analysis</a:t>
                      </a:r>
                      <a:endParaRPr lang="en-GB" sz="2000">
                        <a:solidFill>
                          <a:schemeClr val="tx1"/>
                        </a:solidFill>
                      </a:endParaRPr>
                    </a:p>
                  </a:txBody>
                  <a:tcPr/>
                </a:tc>
                <a:tc>
                  <a:txBody>
                    <a:bodyPr/>
                    <a:lstStyle/>
                    <a:p>
                      <a:r>
                        <a:rPr lang="en-GB" sz="2000">
                          <a:solidFill>
                            <a:schemeClr val="tx1"/>
                          </a:solidFill>
                        </a:rPr>
                        <a:t>Agreement</a:t>
                      </a:r>
                      <a:endParaRPr lang="en-GB" sz="2000">
                        <a:solidFill>
                          <a:schemeClr val="tx1"/>
                        </a:solidFill>
                      </a:endParaRPr>
                    </a:p>
                  </a:txBody>
                  <a:tcPr/>
                </a:tc>
                <a:tc>
                  <a:txBody>
                    <a:bodyPr/>
                    <a:lstStyle/>
                    <a:p>
                      <a:r>
                        <a:rPr lang="en-GB" sz="2000">
                          <a:solidFill>
                            <a:schemeClr val="tx1"/>
                          </a:solidFill>
                        </a:rPr>
                        <a:t>Disagreement</a:t>
                      </a:r>
                      <a:endParaRPr lang="en-GB" sz="2000">
                        <a:solidFill>
                          <a:schemeClr val="tx1"/>
                        </a:solidFill>
                      </a:endParaRPr>
                    </a:p>
                  </a:txBody>
                  <a:tcPr/>
                </a:tc>
                <a:tc>
                  <a:txBody>
                    <a:bodyPr/>
                    <a:lstStyle/>
                    <a:p>
                      <a:r>
                        <a:rPr lang="en-GB" sz="2000">
                          <a:solidFill>
                            <a:schemeClr val="tx1"/>
                          </a:solidFill>
                        </a:rPr>
                        <a:t>One possibility</a:t>
                      </a:r>
                      <a:endParaRPr lang="en-GB" sz="2000">
                        <a:solidFill>
                          <a:schemeClr val="tx1"/>
                        </a:solidFill>
                      </a:endParaRPr>
                    </a:p>
                  </a:txBody>
                  <a:tcPr/>
                </a:tc>
                <a:tc>
                  <a:txBody>
                    <a:bodyPr/>
                    <a:lstStyle/>
                    <a:p>
                      <a:r>
                        <a:rPr lang="en-GB" sz="2000">
                          <a:solidFill>
                            <a:schemeClr val="tx1"/>
                          </a:solidFill>
                        </a:rPr>
                        <a:t>Probably true</a:t>
                      </a:r>
                      <a:endParaRPr lang="en-GB" sz="2000">
                        <a:solidFill>
                          <a:schemeClr val="tx1"/>
                        </a:solidFill>
                      </a:endParaRPr>
                    </a:p>
                  </a:txBody>
                  <a:tcPr/>
                </a:tc>
              </a:tr>
              <a:tr h="370840">
                <a:tc>
                  <a:txBody>
                    <a:bodyPr/>
                    <a:lstStyle/>
                    <a:p>
                      <a:endParaRPr lang="en-GB" sz="1600">
                        <a:solidFill>
                          <a:schemeClr val="bg2"/>
                        </a:solidFill>
                      </a:endParaRPr>
                    </a:p>
                  </a:txBody>
                  <a:tcPr/>
                </a:tc>
                <a:tc>
                  <a:txBody>
                    <a:bodyPr/>
                    <a:lstStyle/>
                    <a:p>
                      <a:endParaRPr lang="en-GB" sz="1600">
                        <a:solidFill>
                          <a:schemeClr val="bg2"/>
                        </a:solidFill>
                      </a:endParaRPr>
                    </a:p>
                  </a:txBody>
                  <a:tcPr/>
                </a:tc>
                <a:tc>
                  <a:txBody>
                    <a:bodyPr/>
                    <a:lstStyle/>
                    <a:p>
                      <a:endParaRPr lang="en-GB" sz="1600">
                        <a:solidFill>
                          <a:schemeClr val="bg2"/>
                        </a:solidFill>
                      </a:endParaRPr>
                    </a:p>
                  </a:txBody>
                  <a:tcPr/>
                </a:tc>
                <a:tc>
                  <a:txBody>
                    <a:bodyPr/>
                    <a:lstStyle/>
                    <a:p>
                      <a:endParaRPr lang="en-GB" sz="1600">
                        <a:solidFill>
                          <a:schemeClr val="bg2"/>
                        </a:solidFill>
                      </a:endParaRPr>
                    </a:p>
                  </a:txBody>
                  <a:tcPr/>
                </a:tc>
                <a:tc>
                  <a:txBody>
                    <a:bodyPr/>
                    <a:lstStyle/>
                    <a:p>
                      <a:endParaRPr lang="en-GB" sz="1600">
                        <a:solidFill>
                          <a:schemeClr val="bg2"/>
                        </a:solidFill>
                      </a:endParaRPr>
                    </a:p>
                  </a:txBody>
                  <a:tcPr/>
                </a:tc>
                <a:tc>
                  <a:txBody>
                    <a:bodyPr/>
                    <a:lstStyle/>
                    <a:p>
                      <a:endParaRPr lang="en-GB" sz="1600">
                        <a:solidFill>
                          <a:schemeClr val="bg2"/>
                        </a:solidFill>
                      </a:endParaRPr>
                    </a:p>
                  </a:txBody>
                  <a:tcPr/>
                </a:tc>
              </a:tr>
            </a:tbl>
          </a:graphicData>
        </a:graphic>
      </p:graphicFrame>
      <p:sp>
        <p:nvSpPr>
          <p:cNvPr id="7" name="TextBox 6"/>
          <p:cNvSpPr txBox="1"/>
          <p:nvPr/>
        </p:nvSpPr>
        <p:spPr>
          <a:xfrm>
            <a:off x="365760" y="6263640"/>
            <a:ext cx="11430000" cy="548640"/>
          </a:xfrm>
          <a:prstGeom prst="rect">
            <a:avLst/>
          </a:prstGeom>
          <a:solidFill>
            <a:srgbClr val="FFF6E0"/>
          </a:solidFill>
        </p:spPr>
        <p:txBody>
          <a:bodyPr wrap="square">
            <a:spAutoFit/>
          </a:bodyPr>
          <a:lstStyle/>
          <a:p>
            <a:r>
              <a:rPr sz="1200">
                <a:solidFill>
                  <a:srgbClr val="805000"/>
                </a:solidFill>
                <a:latin typeface="Microsoft YaHei"/>
              </a:rPr>
              <a:t>中译：任务6：把动词分类到 中性/分析后事实/同意/不同意/一种可能/可能为真。</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 6 (Answers)</a:t>
            </a:r>
            <a:endParaRPr lang="en-GB" dirty="0"/>
          </a:p>
        </p:txBody>
      </p:sp>
      <p:graphicFrame>
        <p:nvGraphicFramePr>
          <p:cNvPr id="4" name="Content Placeholder 3"/>
          <p:cNvGraphicFramePr>
            <a:graphicFrameLocks noGrp="1"/>
          </p:cNvGraphicFramePr>
          <p:nvPr>
            <p:ph idx="1"/>
          </p:nvPr>
        </p:nvGraphicFramePr>
        <p:xfrm>
          <a:off x="609600" y="1600200"/>
          <a:ext cx="10972800" cy="1889760"/>
        </p:xfrm>
        <a:graphic>
          <a:graphicData uri="http://schemas.openxmlformats.org/drawingml/2006/table">
            <a:tbl>
              <a:tblPr firstRow="1" bandRow="1">
                <a:tableStyleId>{5C22544A-7EE6-4342-B048-85BDC9FD1C3A}</a:tableStyleId>
              </a:tblPr>
              <a:tblGrid>
                <a:gridCol w="1603513"/>
                <a:gridCol w="2120348"/>
                <a:gridCol w="1563756"/>
                <a:gridCol w="2027583"/>
                <a:gridCol w="1828800"/>
                <a:gridCol w="1828800"/>
              </a:tblGrid>
              <a:tr h="370840">
                <a:tc>
                  <a:txBody>
                    <a:bodyPr/>
                    <a:lstStyle/>
                    <a:p>
                      <a:r>
                        <a:rPr lang="en-GB" sz="2000">
                          <a:solidFill>
                            <a:schemeClr val="tx1"/>
                          </a:solidFill>
                        </a:rPr>
                        <a:t>Neutral</a:t>
                      </a:r>
                      <a:endParaRPr lang="en-GB" sz="2000">
                        <a:solidFill>
                          <a:schemeClr val="tx1"/>
                        </a:solidFill>
                      </a:endParaRPr>
                    </a:p>
                  </a:txBody>
                  <a:tcPr/>
                </a:tc>
                <a:tc>
                  <a:txBody>
                    <a:bodyPr/>
                    <a:lstStyle/>
                    <a:p>
                      <a:r>
                        <a:rPr lang="en-GB" sz="2000">
                          <a:solidFill>
                            <a:schemeClr val="tx1"/>
                          </a:solidFill>
                        </a:rPr>
                        <a:t>Fact after analysis</a:t>
                      </a:r>
                      <a:endParaRPr lang="en-GB" sz="2000">
                        <a:solidFill>
                          <a:schemeClr val="tx1"/>
                        </a:solidFill>
                      </a:endParaRPr>
                    </a:p>
                  </a:txBody>
                  <a:tcPr/>
                </a:tc>
                <a:tc>
                  <a:txBody>
                    <a:bodyPr/>
                    <a:lstStyle/>
                    <a:p>
                      <a:r>
                        <a:rPr lang="en-GB" sz="2000">
                          <a:solidFill>
                            <a:schemeClr val="tx1"/>
                          </a:solidFill>
                        </a:rPr>
                        <a:t>Agreement</a:t>
                      </a:r>
                      <a:endParaRPr lang="en-GB" sz="2000">
                        <a:solidFill>
                          <a:schemeClr val="tx1"/>
                        </a:solidFill>
                      </a:endParaRPr>
                    </a:p>
                  </a:txBody>
                  <a:tcPr/>
                </a:tc>
                <a:tc>
                  <a:txBody>
                    <a:bodyPr/>
                    <a:lstStyle/>
                    <a:p>
                      <a:r>
                        <a:rPr lang="en-GB" sz="2000">
                          <a:solidFill>
                            <a:schemeClr val="tx1"/>
                          </a:solidFill>
                        </a:rPr>
                        <a:t>Disagreement</a:t>
                      </a:r>
                      <a:endParaRPr lang="en-GB" sz="2000">
                        <a:solidFill>
                          <a:schemeClr val="tx1"/>
                        </a:solidFill>
                      </a:endParaRPr>
                    </a:p>
                  </a:txBody>
                  <a:tcPr/>
                </a:tc>
                <a:tc>
                  <a:txBody>
                    <a:bodyPr/>
                    <a:lstStyle/>
                    <a:p>
                      <a:r>
                        <a:rPr lang="en-GB" sz="2000">
                          <a:solidFill>
                            <a:schemeClr val="tx1"/>
                          </a:solidFill>
                        </a:rPr>
                        <a:t>One possibility</a:t>
                      </a:r>
                      <a:endParaRPr lang="en-GB" sz="2000">
                        <a:solidFill>
                          <a:schemeClr val="tx1"/>
                        </a:solidFill>
                      </a:endParaRPr>
                    </a:p>
                  </a:txBody>
                  <a:tcPr/>
                </a:tc>
                <a:tc>
                  <a:txBody>
                    <a:bodyPr/>
                    <a:lstStyle/>
                    <a:p>
                      <a:r>
                        <a:rPr lang="en-GB" sz="2000">
                          <a:solidFill>
                            <a:schemeClr val="tx1"/>
                          </a:solidFill>
                        </a:rPr>
                        <a:t>Probably true</a:t>
                      </a:r>
                      <a:endParaRPr lang="en-GB" sz="2000">
                        <a:solidFill>
                          <a:schemeClr val="tx1"/>
                        </a:solidFill>
                      </a:endParaRPr>
                    </a:p>
                  </a:txBody>
                  <a:tcPr/>
                </a:tc>
              </a:tr>
              <a:tr h="370840">
                <a:tc>
                  <a:txBody>
                    <a:bodyPr/>
                    <a:lstStyle/>
                    <a:p>
                      <a:r>
                        <a:rPr lang="en-GB">
                          <a:solidFill>
                            <a:schemeClr val="bg2"/>
                          </a:solidFill>
                        </a:rPr>
                        <a:t>States</a:t>
                      </a:r>
                      <a:endParaRPr lang="en-GB">
                        <a:solidFill>
                          <a:schemeClr val="bg2"/>
                        </a:solidFill>
                      </a:endParaRPr>
                    </a:p>
                    <a:p>
                      <a:r>
                        <a:rPr lang="en-GB">
                          <a:solidFill>
                            <a:schemeClr val="bg2"/>
                          </a:solidFill>
                        </a:rPr>
                        <a:t>Describes</a:t>
                      </a:r>
                      <a:endParaRPr lang="en-GB">
                        <a:solidFill>
                          <a:schemeClr val="bg2"/>
                        </a:solidFill>
                      </a:endParaRPr>
                    </a:p>
                    <a:p>
                      <a:r>
                        <a:rPr lang="en-GB">
                          <a:solidFill>
                            <a:schemeClr val="bg2"/>
                          </a:solidFill>
                        </a:rPr>
                        <a:t>Discusses</a:t>
                      </a:r>
                      <a:endParaRPr lang="en-GB">
                        <a:solidFill>
                          <a:schemeClr val="bg2"/>
                        </a:solidFill>
                      </a:endParaRPr>
                    </a:p>
                  </a:txBody>
                  <a:tcPr/>
                </a:tc>
                <a:tc>
                  <a:txBody>
                    <a:bodyPr/>
                    <a:lstStyle/>
                    <a:p>
                      <a:r>
                        <a:rPr lang="en-GB">
                          <a:solidFill>
                            <a:schemeClr val="bg2"/>
                          </a:solidFill>
                        </a:rPr>
                        <a:t>Demonstrates</a:t>
                      </a:r>
                      <a:endParaRPr lang="en-GB">
                        <a:solidFill>
                          <a:schemeClr val="bg2"/>
                        </a:solidFill>
                      </a:endParaRPr>
                    </a:p>
                    <a:p>
                      <a:r>
                        <a:rPr lang="en-GB">
                          <a:solidFill>
                            <a:schemeClr val="bg2"/>
                          </a:solidFill>
                        </a:rPr>
                        <a:t>Highlights</a:t>
                      </a:r>
                      <a:endParaRPr lang="en-GB">
                        <a:solidFill>
                          <a:schemeClr val="bg2"/>
                        </a:solidFill>
                      </a:endParaRPr>
                    </a:p>
                    <a:p>
                      <a:r>
                        <a:rPr lang="en-GB">
                          <a:solidFill>
                            <a:schemeClr val="bg2"/>
                          </a:solidFill>
                        </a:rPr>
                        <a:t>Reveals</a:t>
                      </a:r>
                      <a:endParaRPr lang="en-GB">
                        <a:solidFill>
                          <a:schemeClr val="bg2"/>
                        </a:solidFill>
                      </a:endParaRPr>
                    </a:p>
                  </a:txBody>
                  <a:tcPr/>
                </a:tc>
                <a:tc>
                  <a:txBody>
                    <a:bodyPr/>
                    <a:lstStyle/>
                    <a:p>
                      <a:r>
                        <a:rPr lang="en-GB">
                          <a:solidFill>
                            <a:schemeClr val="bg2"/>
                          </a:solidFill>
                        </a:rPr>
                        <a:t>Shows</a:t>
                      </a:r>
                      <a:endParaRPr lang="en-GB">
                        <a:solidFill>
                          <a:schemeClr val="bg2"/>
                        </a:solidFill>
                      </a:endParaRPr>
                    </a:p>
                    <a:p>
                      <a:r>
                        <a:rPr lang="en-GB">
                          <a:solidFill>
                            <a:schemeClr val="bg2"/>
                          </a:solidFill>
                        </a:rPr>
                        <a:t>Proves</a:t>
                      </a:r>
                      <a:endParaRPr lang="en-GB">
                        <a:solidFill>
                          <a:schemeClr val="bg2"/>
                        </a:solidFill>
                      </a:endParaRPr>
                    </a:p>
                    <a:p>
                      <a:r>
                        <a:rPr lang="en-GB">
                          <a:solidFill>
                            <a:schemeClr val="bg2"/>
                          </a:solidFill>
                        </a:rPr>
                        <a:t>Illustrates</a:t>
                      </a:r>
                      <a:endParaRPr lang="en-GB">
                        <a:solidFill>
                          <a:schemeClr val="bg2"/>
                        </a:solidFill>
                      </a:endParaRPr>
                    </a:p>
                  </a:txBody>
                  <a:tcPr/>
                </a:tc>
                <a:tc>
                  <a:txBody>
                    <a:bodyPr/>
                    <a:lstStyle/>
                    <a:p>
                      <a:r>
                        <a:rPr lang="en-GB">
                          <a:solidFill>
                            <a:schemeClr val="bg2"/>
                          </a:solidFill>
                        </a:rPr>
                        <a:t>Claims</a:t>
                      </a:r>
                      <a:endParaRPr lang="en-GB">
                        <a:solidFill>
                          <a:schemeClr val="bg2"/>
                        </a:solidFill>
                      </a:endParaRPr>
                    </a:p>
                    <a:p>
                      <a:r>
                        <a:rPr lang="en-GB">
                          <a:solidFill>
                            <a:schemeClr val="bg2"/>
                          </a:solidFill>
                        </a:rPr>
                        <a:t>Believes</a:t>
                      </a:r>
                      <a:endParaRPr lang="en-GB">
                        <a:solidFill>
                          <a:schemeClr val="bg2"/>
                        </a:solidFill>
                      </a:endParaRPr>
                    </a:p>
                  </a:txBody>
                  <a:tcPr/>
                </a:tc>
                <a:tc>
                  <a:txBody>
                    <a:bodyPr/>
                    <a:lstStyle/>
                    <a:p>
                      <a:r>
                        <a:rPr lang="en-GB">
                          <a:solidFill>
                            <a:schemeClr val="bg2"/>
                          </a:solidFill>
                        </a:rPr>
                        <a:t>Posits</a:t>
                      </a:r>
                      <a:endParaRPr lang="en-GB">
                        <a:solidFill>
                          <a:schemeClr val="bg2"/>
                        </a:solidFill>
                      </a:endParaRPr>
                    </a:p>
                    <a:p>
                      <a:r>
                        <a:rPr lang="en-GB">
                          <a:solidFill>
                            <a:schemeClr val="bg2"/>
                          </a:solidFill>
                        </a:rPr>
                        <a:t>Argues</a:t>
                      </a:r>
                      <a:endParaRPr lang="en-GB">
                        <a:solidFill>
                          <a:schemeClr val="bg2"/>
                        </a:solidFill>
                      </a:endParaRPr>
                    </a:p>
                    <a:p>
                      <a:r>
                        <a:rPr lang="en-GB">
                          <a:solidFill>
                            <a:schemeClr val="bg2"/>
                          </a:solidFill>
                        </a:rPr>
                        <a:t>Considers</a:t>
                      </a:r>
                      <a:endParaRPr lang="en-GB">
                        <a:solidFill>
                          <a:schemeClr val="bg2"/>
                        </a:solidFill>
                      </a:endParaRPr>
                    </a:p>
                  </a:txBody>
                  <a:tcPr/>
                </a:tc>
                <a:tc>
                  <a:txBody>
                    <a:bodyPr/>
                    <a:lstStyle/>
                    <a:p>
                      <a:r>
                        <a:rPr lang="en-GB">
                          <a:solidFill>
                            <a:schemeClr val="bg2"/>
                          </a:solidFill>
                        </a:rPr>
                        <a:t>Suggests</a:t>
                      </a:r>
                      <a:endParaRPr lang="en-GB">
                        <a:solidFill>
                          <a:schemeClr val="bg2"/>
                        </a:solidFill>
                      </a:endParaRPr>
                    </a:p>
                    <a:p>
                      <a:r>
                        <a:rPr lang="en-GB">
                          <a:solidFill>
                            <a:schemeClr val="bg2"/>
                          </a:solidFill>
                        </a:rPr>
                        <a:t>Indicates</a:t>
                      </a:r>
                      <a:endParaRPr lang="en-GB">
                        <a:solidFill>
                          <a:schemeClr val="bg2"/>
                        </a:solidFill>
                      </a:endParaRPr>
                    </a:p>
                    <a:p>
                      <a:r>
                        <a:rPr lang="en-GB">
                          <a:solidFill>
                            <a:schemeClr val="bg2"/>
                          </a:solidFill>
                        </a:rPr>
                        <a:t>Notes</a:t>
                      </a:r>
                      <a:endParaRPr lang="en-GB">
                        <a:solidFill>
                          <a:schemeClr val="bg2"/>
                        </a:solidFill>
                      </a:endParaRPr>
                    </a:p>
                  </a:txBody>
                  <a:tcPr/>
                </a:tc>
              </a:tr>
            </a:tbl>
          </a:graphicData>
        </a:graphic>
      </p:graphicFrame>
      <p:sp>
        <p:nvSpPr>
          <p:cNvPr id="5" name="TextBox 4"/>
          <p:cNvSpPr txBox="1"/>
          <p:nvPr/>
        </p:nvSpPr>
        <p:spPr>
          <a:xfrm>
            <a:off x="5798098" y="5257800"/>
            <a:ext cx="5784302" cy="307777"/>
          </a:xfrm>
          <a:prstGeom prst="rect">
            <a:avLst/>
          </a:prstGeom>
          <a:noFill/>
        </p:spPr>
        <p:txBody>
          <a:bodyPr wrap="square">
            <a:spAutoFit/>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0" lang="en-GB" sz="1400" b="0" i="0" u="none" strike="noStrike" kern="1200" cap="none" spc="0" normalizeH="0" baseline="0" noProof="0">
                <a:ln>
                  <a:noFill/>
                </a:ln>
                <a:solidFill>
                  <a:srgbClr val="330066"/>
                </a:solidFill>
                <a:effectLst/>
                <a:uLnTx/>
                <a:uFillTx/>
                <a:latin typeface="Arial" panose="020B0604020202020204"/>
                <a:ea typeface="+mn-ea"/>
                <a:cs typeface="+mn-cs"/>
                <a:hlinkClick r:id="rId1"/>
              </a:rPr>
              <a:t>Reporting Verbs - Academic Skills Kit - Newcastle University (ncl.ac.uk)</a:t>
            </a:r>
            <a:endParaRPr kumimoji="0" lang="en-GB" sz="1400" b="0" i="0" u="none" strike="noStrike" kern="1200" cap="none" spc="0" normalizeH="0" baseline="0" noProof="0">
              <a:ln>
                <a:noFill/>
              </a:ln>
              <a:solidFill>
                <a:srgbClr val="330066"/>
              </a:solidFill>
              <a:effectLst/>
              <a:uLnTx/>
              <a:uFillTx/>
              <a:latin typeface="Arial" panose="020B0604020202020204"/>
              <a:ea typeface="+mn-ea"/>
              <a:cs typeface="+mn-cs"/>
            </a:endParaRPr>
          </a:p>
        </p:txBody>
      </p:sp>
      <p:sp>
        <p:nvSpPr>
          <p:cNvPr id="6" name="TextBox 5"/>
          <p:cNvSpPr txBox="1"/>
          <p:nvPr/>
        </p:nvSpPr>
        <p:spPr>
          <a:xfrm>
            <a:off x="365760" y="6263640"/>
            <a:ext cx="11430000" cy="548640"/>
          </a:xfrm>
          <a:prstGeom prst="rect">
            <a:avLst/>
          </a:prstGeom>
          <a:solidFill>
            <a:srgbClr val="FFF6E0"/>
          </a:solidFill>
        </p:spPr>
        <p:txBody>
          <a:bodyPr wrap="square">
            <a:spAutoFit/>
          </a:bodyPr>
          <a:lstStyle/>
          <a:p>
            <a:r>
              <a:rPr sz="1200">
                <a:solidFill>
                  <a:srgbClr val="805000"/>
                </a:solidFill>
                <a:latin typeface="Microsoft YaHei"/>
              </a:rPr>
              <a:t>中译：任务6答案：中性=States等 / 分析后事实=Demonstrates等 / 同意=Shows等 / 不同意=Claims等 / 一种可能=Posits等 / 可能为真=Suggests等。</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45 · Useful Language – Showing Criticality</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You can find critical language from the Manchester Phrasebank.</a:t>
            </a:r>
          </a:p>
          <a:p>
            <a:pPr>
              <a:spcAft>
                <a:spcPts val="400"/>
              </a:spcAft>
            </a:pPr>
            <a:r>
              <a:rPr sz="1400">
                <a:solidFill>
                  <a:srgbClr val="202020"/>
                </a:solidFill>
              </a:rPr>
              <a:t>https://www.phrasebank.manchester.ac.uk/being-critical/</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批判性表达语言</a:t>
            </a:r>
          </a:p>
          <a:p>
            <a:pPr>
              <a:spcAft>
                <a:spcPts val="500"/>
              </a:spcAft>
            </a:pPr>
            <a:r>
              <a:rPr sz="1400">
                <a:solidFill>
                  <a:srgbClr val="333333"/>
                </a:solidFill>
                <a:latin typeface="Microsoft YaHei"/>
              </a:rPr>
              <a:t>Manchester Phrasebank:</a:t>
            </a:r>
          </a:p>
          <a:p>
            <a:pPr>
              <a:spcAft>
                <a:spcPts val="500"/>
              </a:spcAft>
            </a:pPr>
            <a:r>
              <a:rPr sz="1400">
                <a:solidFill>
                  <a:srgbClr val="333333"/>
                </a:solidFill>
                <a:latin typeface="Microsoft YaHei"/>
              </a:rPr>
              <a:t>phrasebank.manchester.ac.uk/being-critical/</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Being Critical </a:t>
            </a:r>
            <a:endParaRPr lang="en-GB"/>
          </a:p>
        </p:txBody>
      </p:sp>
      <p:sp>
        <p:nvSpPr>
          <p:cNvPr id="11" name="Oval 10"/>
          <p:cNvSpPr/>
          <p:nvPr/>
        </p:nvSpPr>
        <p:spPr>
          <a:xfrm>
            <a:off x="2451573" y="3040103"/>
            <a:ext cx="1538219" cy="415116"/>
          </a:xfrm>
          <a:prstGeom prst="ellipse">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cxnSp>
        <p:nvCxnSpPr>
          <p:cNvPr id="13" name="Straight Arrow Connector 12"/>
          <p:cNvCxnSpPr>
            <a:stCxn id="11" idx="6"/>
          </p:cNvCxnSpPr>
          <p:nvPr/>
        </p:nvCxnSpPr>
        <p:spPr>
          <a:xfrm flipV="1">
            <a:off x="3989792" y="2160649"/>
            <a:ext cx="1171233" cy="1087013"/>
          </a:xfrm>
          <a:prstGeom prst="straightConnector1">
            <a:avLst/>
          </a:prstGeom>
          <a:ln>
            <a:solidFill>
              <a:srgbClr val="C00000"/>
            </a:solidFill>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flipV="1">
            <a:off x="4020478" y="2704155"/>
            <a:ext cx="1032263" cy="543507"/>
          </a:xfrm>
          <a:prstGeom prst="straightConnector1">
            <a:avLst/>
          </a:prstGeom>
          <a:ln>
            <a:solidFill>
              <a:srgbClr val="C00000"/>
            </a:solidFill>
            <a:tailEnd type="triangle"/>
          </a:ln>
        </p:spPr>
        <p:style>
          <a:lnRef idx="3">
            <a:schemeClr val="accent2"/>
          </a:lnRef>
          <a:fillRef idx="0">
            <a:schemeClr val="accent2"/>
          </a:fillRef>
          <a:effectRef idx="2">
            <a:schemeClr val="accent2"/>
          </a:effectRef>
          <a:fontRef idx="minor">
            <a:schemeClr val="tx1"/>
          </a:fontRef>
        </p:style>
      </p:cxnSp>
      <p:pic>
        <p:nvPicPr>
          <p:cNvPr id="15" name="Picture 14" descr="s46_1.png"/>
          <p:cNvPicPr>
            <a:picLocks noChangeAspect="1"/>
          </p:cNvPicPr>
          <p:nvPr/>
        </p:nvPicPr>
        <p:blipFill>
          <a:blip r:embed="rId2"/>
          <a:stretch>
            <a:fillRect/>
          </a:stretch>
        </p:blipFill>
        <p:spPr>
          <a:xfrm>
            <a:off x="2487168" y="1399032"/>
            <a:ext cx="2176272" cy="4315968"/>
          </a:xfrm>
          <a:prstGeom prst="rect">
            <a:avLst/>
          </a:prstGeom>
        </p:spPr>
      </p:pic>
      <p:pic>
        <p:nvPicPr>
          <p:cNvPr id="16" name="Picture 15" descr="s46_3.png"/>
          <p:cNvPicPr>
            <a:picLocks noChangeAspect="1"/>
          </p:cNvPicPr>
          <p:nvPr/>
        </p:nvPicPr>
        <p:blipFill>
          <a:blip r:embed="rId3"/>
          <a:stretch>
            <a:fillRect/>
          </a:stretch>
        </p:blipFill>
        <p:spPr>
          <a:xfrm>
            <a:off x="4956048" y="1490472"/>
            <a:ext cx="4919472" cy="3922776"/>
          </a:xfrm>
          <a:prstGeom prst="rect">
            <a:avLst/>
          </a:prstGeom>
        </p:spPr>
      </p:pic>
      <p:sp>
        <p:nvSpPr>
          <p:cNvPr id="17" name="TextBox 16"/>
          <p:cNvSpPr txBox="1"/>
          <p:nvPr/>
        </p:nvSpPr>
        <p:spPr>
          <a:xfrm>
            <a:off x="365760" y="6263640"/>
            <a:ext cx="11430000" cy="548640"/>
          </a:xfrm>
          <a:prstGeom prst="rect">
            <a:avLst/>
          </a:prstGeom>
          <a:solidFill>
            <a:srgbClr val="FFF6E0"/>
          </a:solidFill>
        </p:spPr>
        <p:txBody>
          <a:bodyPr wrap="square">
            <a:spAutoFit/>
          </a:bodyPr>
          <a:lstStyle/>
          <a:p>
            <a:r>
              <a:rPr sz="1200">
                <a:solidFill>
                  <a:srgbClr val="805000"/>
                </a:solidFill>
                <a:latin typeface="Microsoft YaHei"/>
              </a:rPr>
              <a:t>中译：保持批判性：本页提示可参考 Manchester Phrasebank 的批判性语言（见下一页链接）。</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47 · Step 6: Follow the Instructions!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 Make sure you read all instructions thoroughly and understand them</a:t>
            </a:r>
          </a:p>
          <a:p>
            <a:pPr>
              <a:spcAft>
                <a:spcPts val="400"/>
              </a:spcAft>
            </a:pPr>
            <a:r>
              <a:rPr sz="1400">
                <a:solidFill>
                  <a:srgbClr val="202020"/>
                </a:solidFill>
              </a:rPr>
              <a:t>• If anything is unclear, don't hesitate to ask</a:t>
            </a:r>
          </a:p>
          <a:p>
            <a:pPr>
              <a:spcAft>
                <a:spcPts val="400"/>
              </a:spcAft>
            </a:pPr>
            <a:r>
              <a:rPr sz="1400">
                <a:solidFill>
                  <a:srgbClr val="202020"/>
                </a:solidFill>
              </a:rPr>
              <a:t>• Final reminder: you may choose any AI-based technology, but must follow the structure in your assessment guidelines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策略6：严格照说明做</a:t>
            </a:r>
          </a:p>
          <a:p>
            <a:pPr>
              <a:spcAft>
                <a:spcPts val="500"/>
              </a:spcAft>
            </a:pPr>
            <a:r>
              <a:rPr sz="1400">
                <a:solidFill>
                  <a:srgbClr val="333333"/>
                </a:solidFill>
                <a:latin typeface="Microsoft YaHei"/>
              </a:rPr>
              <a:t>• 通读并理解说明</a:t>
            </a:r>
          </a:p>
          <a:p>
            <a:pPr>
              <a:spcAft>
                <a:spcPts val="500"/>
              </a:spcAft>
            </a:pPr>
            <a:r>
              <a:rPr sz="1400">
                <a:solidFill>
                  <a:srgbClr val="333333"/>
                </a:solidFill>
                <a:latin typeface="Microsoft YaHei"/>
              </a:rPr>
              <a:t>• 不清楚主动问</a:t>
            </a:r>
          </a:p>
          <a:p>
            <a:pPr>
              <a:spcAft>
                <a:spcPts val="500"/>
              </a:spcAft>
            </a:pPr>
            <a:r>
              <a:rPr sz="1400">
                <a:solidFill>
                  <a:srgbClr val="333333"/>
                </a:solidFill>
                <a:latin typeface="Microsoft YaHei"/>
              </a:rPr>
              <a:t>• 可自由选 AI 技术，但必须遵循评估指引结构</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48 · Your Feedback, Please!</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Please fill in a short survey by scanning this QR code.</a:t>
            </a:r>
          </a:p>
          <a:p>
            <a:pPr>
              <a:spcAft>
                <a:spcPts val="400"/>
              </a:spcAft>
            </a:pPr>
            <a:r>
              <a:rPr sz="1400">
                <a:solidFill>
                  <a:srgbClr val="202020"/>
                </a:solidFill>
              </a:rPr>
              <a:t>Your feedback helps improve our support for students.</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请填反馈</a:t>
            </a:r>
          </a:p>
          <a:p>
            <a:pPr>
              <a:spcAft>
                <a:spcPts val="500"/>
              </a:spcAft>
            </a:pPr>
            <a:r>
              <a:rPr sz="1400">
                <a:solidFill>
                  <a:srgbClr val="333333"/>
                </a:solidFill>
                <a:latin typeface="Microsoft YaHei"/>
              </a:rPr>
              <a:t>扫二维码填简短调查，帮助改进学生支持</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49 · References</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Deal &amp; Kennedy (1982) Corporate cultures. Addison-Wesley.</a:t>
            </a:r>
          </a:p>
          <a:p>
            <a:pPr>
              <a:spcAft>
                <a:spcPts val="400"/>
              </a:spcAft>
            </a:pPr>
            <a:r>
              <a:rPr sz="1400">
                <a:solidFill>
                  <a:srgbClr val="202020"/>
                </a:solidFill>
              </a:rPr>
              <a:t>Díaz et al. (2018) Why data culture matters. McKinsey Quarterly.</a:t>
            </a:r>
          </a:p>
          <a:p>
            <a:pPr>
              <a:spcAft>
                <a:spcPts val="400"/>
              </a:spcAft>
            </a:pPr>
            <a:r>
              <a:rPr sz="1400">
                <a:solidFill>
                  <a:srgbClr val="202020"/>
                </a:solidFill>
              </a:rPr>
              <a:t>Hofstede (2001) Cultures and organizations. Sage.</a:t>
            </a:r>
          </a:p>
          <a:p>
            <a:pPr>
              <a:spcAft>
                <a:spcPts val="400"/>
              </a:spcAft>
            </a:pPr>
            <a:r>
              <a:rPr sz="1400">
                <a:solidFill>
                  <a:srgbClr val="202020"/>
                </a:solidFill>
              </a:rPr>
              <a:t>Shields (2017) Integrating Analytics in Your Organization. MIT SMR.</a:t>
            </a:r>
          </a:p>
          <a:p>
            <a:pPr>
              <a:spcAft>
                <a:spcPts val="400"/>
              </a:spcAft>
            </a:pPr>
            <a:r>
              <a:rPr sz="1400">
                <a:solidFill>
                  <a:srgbClr val="202020"/>
                </a:solidFill>
              </a:rPr>
              <a:t>Skinner &amp; Stewart (2017) Organizational Behaviour in Sport. Routledge.</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参考文献</a:t>
            </a:r>
          </a:p>
          <a:p>
            <a:pPr>
              <a:spcAft>
                <a:spcPts val="500"/>
              </a:spcAft>
            </a:pPr>
            <a:r>
              <a:rPr sz="1400">
                <a:solidFill>
                  <a:srgbClr val="333333"/>
                </a:solidFill>
                <a:latin typeface="Microsoft YaHei"/>
              </a:rPr>
              <a:t>Deal&amp;Kennedy 1982 / Díaz等 2018 McKinsey / Hofstede 2001 / Shields 2017 MIT SMR / Skinner&amp;Stewart 2017 Routledge</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sz="2100" b="1">
                <a:solidFill>
                  <a:srgbClr val="1F3B6E"/>
                </a:solidFill>
              </a:rPr>
              <a:t>50 · Thank you</a:t>
            </a:r>
          </a:p>
        </p:txBody>
      </p:sp>
      <p:sp>
        <p:nvSpPr>
          <p:cNvPr id="3" name="TextBox 2"/>
          <p:cNvSpPr txBox="1"/>
          <p:nvPr/>
        </p:nvSpPr>
        <p:spPr>
          <a:xfrm>
            <a:off x="365760" y="914400"/>
            <a:ext cx="5897880" cy="5760720"/>
          </a:xfrm>
          <a:prstGeom prst="rect">
            <a:avLst/>
          </a:prstGeom>
          <a:noFill/>
        </p:spPr>
        <p:txBody>
          <a:bodyPr wrap="square">
            <a:spAutoFit/>
          </a:bodyPr>
          <a:lstStyle/>
          <a:p>
            <a:pPr>
              <a:spcAft>
                <a:spcPts val="400"/>
              </a:spcAft>
            </a:pPr>
            <a:r>
              <a:rPr sz="1400">
                <a:solidFill>
                  <a:srgbClr val="202020"/>
                </a:solidFill>
              </a:rPr>
              <a:t>Inspiring Winners Since 1909</a:t>
            </a:r>
          </a:p>
          <a:p>
            <a:pPr>
              <a:spcAft>
                <a:spcPts val="400"/>
              </a:spcAft>
            </a:pPr>
            <a:r>
              <a:rPr sz="1400">
                <a:solidFill>
                  <a:srgbClr val="202020"/>
                </a:solidFill>
              </a:rPr>
              <a:t>Thank you!</a:t>
            </a:r>
          </a:p>
        </p:txBody>
      </p:sp>
      <p:sp>
        <p:nvSpPr>
          <p:cNvPr id="4" name="TextBox 3"/>
          <p:cNvSpPr txBox="1"/>
          <p:nvPr/>
        </p:nvSpPr>
        <p:spPr>
          <a:xfrm>
            <a:off x="6400800" y="914400"/>
            <a:ext cx="5394960" cy="5760720"/>
          </a:xfrm>
          <a:prstGeom prst="rect">
            <a:avLst/>
          </a:prstGeom>
          <a:solidFill>
            <a:srgbClr val="F4F6FB"/>
          </a:solidFill>
        </p:spPr>
        <p:txBody>
          <a:bodyPr wrap="square" lIns="137160" rIns="137160" tIns="91440" bIns="91440">
            <a:spAutoFit/>
          </a:bodyPr>
          <a:lstStyle/>
          <a:p>
            <a:pPr>
              <a:spcAft>
                <a:spcPts val="500"/>
              </a:spcAft>
            </a:pPr>
            <a:r>
              <a:rPr sz="1400">
                <a:solidFill>
                  <a:srgbClr val="333333"/>
                </a:solidFill>
                <a:latin typeface="Microsoft YaHei"/>
              </a:rPr>
              <a:t>自1909年激励冠军</a:t>
            </a:r>
          </a:p>
          <a:p>
            <a:pPr>
              <a:spcAft>
                <a:spcPts val="500"/>
              </a:spcAft>
            </a:pPr>
            <a:r>
              <a:rPr sz="1400">
                <a:solidFill>
                  <a:srgbClr val="333333"/>
                </a:solidFill>
                <a:latin typeface="Microsoft YaHei"/>
              </a:rPr>
              <a:t>谢谢！</a:t>
            </a:r>
          </a:p>
        </p:txBody>
      </p:sp>
      <p:sp>
        <p:nvSpPr>
          <p:cNvPr id="5" name="TextBox 4"/>
          <p:cNvSpPr txBox="1"/>
          <p:nvPr/>
        </p:nvSpPr>
        <p:spPr>
          <a:xfrm>
            <a:off x="365760" y="713232"/>
            <a:ext cx="1828800" cy="237744"/>
          </a:xfrm>
          <a:prstGeom prst="rect">
            <a:avLst/>
          </a:prstGeom>
          <a:noFill/>
        </p:spPr>
        <p:txBody>
          <a:bodyPr wrap="none">
            <a:spAutoFit/>
          </a:bodyPr>
          <a:lstStyle/>
          <a:p>
            <a:r>
              <a:rPr sz="1000" b="1">
                <a:solidFill>
                  <a:srgbClr val="404040"/>
                </a:solidFill>
              </a:rPr>
              <a:t>EN ▶</a:t>
            </a:r>
          </a:p>
        </p:txBody>
      </p:sp>
      <p:sp>
        <p:nvSpPr>
          <p:cNvPr id="6" name="TextBox 5"/>
          <p:cNvSpPr txBox="1"/>
          <p:nvPr/>
        </p:nvSpPr>
        <p:spPr>
          <a:xfrm>
            <a:off x="6400800" y="713232"/>
            <a:ext cx="1828800" cy="237744"/>
          </a:xfrm>
          <a:prstGeom prst="rect">
            <a:avLst/>
          </a:prstGeom>
          <a:noFill/>
        </p:spPr>
        <p:txBody>
          <a:bodyPr wrap="none">
            <a:spAutoFit/>
          </a:bodyPr>
          <a:lstStyle/>
          <a:p>
            <a:r>
              <a:rPr sz="1000" b="1">
                <a:solidFill>
                  <a:srgbClr val="404040"/>
                </a:solidFill>
              </a:rPr>
              <a:t>中文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