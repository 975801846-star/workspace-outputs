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1 — 标题页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LLP307 体育分析导论 An Introduction to Sport Analytics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Bess Chan（学术英语辅导老师 EAP Tutor）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p.chan@lboro.ac.uk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2 — 学习目标 Intended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本课结束时你应更好理解：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① A report you need to write for your assessment | 你要为评估写的一份报告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② Planning your writing | 规划写作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③ Writing critically | 批判性写作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3 — 评估总览（引导提问）Assessment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What do you know already? 你目前已知什么？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占多少分 How much is it worth?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截止日期 When is submission?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字数 Word count?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任务 What is the task?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4 — 评估总览（答案）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Weighting 权重: 100% of module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Submission 截止: Friday 24 Oct 2025 3pm（⚠️旧版）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Length 字数: 1500 words (±10% = 1350–1650)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Task: 根据导师场景写一份研究报告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5 — 题目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前提「culture shapes and dictates organisational practices」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作为新员工 new hire，说服直线经理与高层：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采纳新型 AI 技术 adopt this new AI-based technology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建立分析文化 institute a culture of analytics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创造竞争优势 create competitive advantage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6 — 要求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① 引用组织文化定义（Buchanan &amp; Huczynski 2017 / Deal &amp; Kennedy 1982 / Lundy &amp; Cowling 1996 / Schneider et al. 1996 / Skinner &amp; Stewart 2017）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② 用 Alamar (2013) 体育分析框架 + 领导力要素（变革/交易/委托/参与）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③ 关键：文献多自上而下，你要思考【自下而上 bottom-up】如何说服领导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8 — 引用要求 Referencing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APA 格式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≥5 学术来源（期刊/书/论文）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≥5 非学术来源（行业报告/新闻/网站）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全部来源需 in-text citation + References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9 — 评分标准 Assessment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Research 研究 40 分（深度/时效/多样）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Analysis 分析 50 分（综合/立场/关联）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Presentation 呈现 10 分（结构/语法/引用）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10 — 拿高分 6 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① 选新型 AI 技术  ② 规划写作  ③ 研究矩阵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④ 组织段落  ⑤ 加你的声音  ⑥ 严格照说明做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11 — 策略1（任务）选 AI 技术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和旁边的人讨论：选 AI 技术要问自己什么？至少想 5 个问题。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12 — 策略1（参考问题）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组织具体需求？哪个领域需改进？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哪找可靠的 AI 技术信息？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用什么标准评估比较？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每种技术独特价值在哪？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用在哪个行业、如何运作、带来什么改进？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13 — 策略2 规划写作（三要素）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Content 内容   · Structure 结构   · Evidence 证据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14 — 策略2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Do you recall what you are required to do? 你记得要做什么吗？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15 — 策略2 报告结构 Report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① Title Page 标题页  ② Executive Summary 执行摘要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③ Introduction 引言  ④ Literature/frameworks 文献框架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⑤ Recommendations/Discussion 建议讨论  ⑥ References 文献  ⑦ Appendices 附录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16 — 策略2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报告/论文都要 cite evidence 强化论点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资料去哪找？收集后下一步？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17–18 — 你需要的来源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（图表占位页）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19 —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重读评估指引：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哪些部分需 cite evidence？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哪些关键词帮你找文献？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20 — Task 1 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需引用：Introduction / Literature / Discussion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关键词：运动行业背景、AI技术名、组织文化、组织障碍、领导力类型、建议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21 — 策略3 研究矩阵（引入）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What is a research matrix? 什么是研究矩阵？为什么引入？值得吗？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22 — 研究矩阵模板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横轴=来源(Source A/B/C/D)，纵轴=主题(Topic 1/2/3)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格内写：证据 + 页码；同主题用颜色标注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23 — 研究矩阵示例（空）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来源：Skinner&amp;Stewart 2017 / Díaz 2018 / Hofstede 2001 / Deal&amp;Kennedy 1982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主题：AI技术名 / 组织文化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24 — 研究矩阵示例（填好）· 组织文化定义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Skinner&amp;Stewart(2017)：3特征=共同知识/不变一致/接受度越高影响越大；显性+隐性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Díaz(2018)：让数据服务运营（深度业务参与、员工拉力、目标感）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Hofstede(2001)：区分群体的集体心理编程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Deal&amp;Kennedy(1982)：「我们这里的做事方式」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26 — 矩阵常见问题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① 没写所选 AI 技术（需更多来源）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② 引文过多，要 paraphrase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③ 引文没页码（APA 要求，如 Chan,2025,p.78）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④ 没有你的 voice，要加评论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27 — 策略4 PEEL 段落结构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P–Point 观点/主题句（每段只一个点）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E–Evidence 证据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E–Evaluation 评价（你的解释+评论）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L–Link 结尾句（可省略）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28 — Task 2（任务）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判断前学生段落是否成功？（段落内容见 Word 工作纸）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29 — Task 2 结构标注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该段只有 Topic sentence + Evidence（无引用）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30 — Task 2 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NO。理由：①无引用 ②单一来源 ③只描述不分析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31 — Task 3 判断是否引用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① Tranmere Rovers 提高10%签约率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② AI 在体育行业越来越普及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③ Peter Robinson 说降成本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④ 引入AI可能不可行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32 — Task 3 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① 要引用   ② 不用(常识)   ③ 要引用   ④ 不用(你的论点)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33 — 何时引用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非你原创都要引用：文字/媒体/数据；公认事实不用（水100℃沸腾）。资源：citethemrightonline.com / apa.org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34 — Task 4（任务）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判断改进段落是否更成功？有问题吗？（见 Word 工作纸）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35 — Task 4 结构标注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该段只有 Evidence（有引用）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36 — Task 4 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更成功。但缺：①无主题句 ②无评论/分析 ③只罗列没展示关系。需加自己观点（改述/对比/分析）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37 — 策略5 加入你的声音 Add Your 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voice=传达立场、路标词引导、语气个性、可信度、连贯性、批判性（Helms-Park &amp; Stapleton 2003）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38 — 段落结构与 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P 观点=你的声音  E 证据综合=你的声音  E 评价=你的声音  L 回扣=你的声音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39 — 评价中展示 voice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框定问题非只找空白 / 质疑主流假设 / 评判性判断 / 质疑挑战空白 / 建立文献关联 / 想 implications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40 — Task 5（任务）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找段落中的作者 voice（见 Word 工作纸）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41 — Task 5 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「but is difficult to define」「the most comprehensive」「Although these groups…」「To summarise holistically」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42 — 策略5 报告动词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用多样 reporting verbs 展示立场，动词传达态度/信心/评价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43 — Task 6 动词分类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demonstrates/posits/suggests/considers/reveals/describes/claims/indicates/proves/illustrates/states/notes/argues/believes/highlights/discusses/shows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44 — Task 6 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Neutral: States/Describes/Discusses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Fact after analysis: Demonstrates/Highlights/Reveals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Agreement: Shows/Proves/Illustrates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Disagreement: Claims/Believes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One possibility: Posits/Argues/Considers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Probably true: Suggests/Indicates/Notes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45 — 批判性表达语言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Manchester Phrasebank: phrasebank.manchester.ac.uk/being-critical/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46 — Being Critical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（占位页）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47 — 策略6 照说明做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通读并理解所有说明；不清楚主动问；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· 可自由选 AI 技术，但必须遵循评估指引的结构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48 — 反馈调查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扫二维码填简短调查，帮助改进学生支持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49 — 参考文献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Deal &amp; Kennedy 1982 / Díaz et al. 2018 McKinsey / Hofstede 2001 / Shields 2017 MIT SMR / Skinner &amp; Stewart 2017 Routledge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B6E"/>
                </a:solidFill>
              </a:rPr>
              <a:t>Slide 50 — 结束页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02020"/>
                </a:solidFill>
              </a:rPr>
              <a:t>Inspiring Winners Since 1909  谢谢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